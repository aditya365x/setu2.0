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thesis line. India detects and broadcasts warnings well - Fani 2019 proved that. The deaths that remain come from what happens after the alert: coordination and allocation. That gap is what SETU occupies.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key analytical move of the whole project. Most teams try to build another alerting app - that competes with IMD and NDMA and loses. We identified that detection and dissemination are already national capabilities, and the failure is downstream in coordination and allocation.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row is a real failure, its root cause, and the specific mechanism in our system. This is the slide that shows we studied the domain rather than the problem statement.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loop first, then show that all four required deliverables from the problem statement map onto it. Nothing is bolted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left to right. Four ingest channels, one API, one intelligence layer, one shared state. The red box is where the marks are - explain that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the professor asks where the AI is: answer honestly. This is operations research plus spatial clustering. For life-safety that is a strength - explainable and auditable. ML is on the roadmap for demand forecasting and photo-based damage triage.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single most important slide. Rehearse the two-boat example verbatim - it makes an abstract algorithm concrete in fifteen seconds. The demo has a live Greedy/Optimized toggle that produces these numbers on stage.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Novelty is the parameter most teams lose. Pre-positioning is the claim that separates us: it is genuinely predictive, technically real, and nothing in the incumbent stack does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Feasibility is won by showing the rejected alternatives and by having real numbers rather than adjectives. The offline requirement is not a nicety - venue wifi fails, and so do cell towers in a real cyclone.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explicit about the SMS limitation. Claiming a production shortcode we do not have would cost more credibility than the feature is worth.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strongest number here is our own delta, because it comes from the running system rather than from a slide. Lead with the national scale, then land on the measured improvement.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sustainability question is the one that kills most student projects. The answer is peacetime value: the platform is useful as an asset registry and drill tool even when nothing is happening.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Naming what we deliberately excluded is as important as what we built. It demonstrates judgement rather than omission.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same line you opened with. Then invite questions - the prepared answers are in section 16 of the design document.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822960" y="1371600"/>
            <a:ext cx="1371600" cy="54864"/>
          </a:xfrm>
          <a:prstGeom prst="rect">
            <a:avLst/>
          </a:prstGeom>
          <a:solidFill>
            <a:srgbClr val="DC2626"/>
          </a:solidFill>
          <a:ln/>
        </p:spPr>
      </p:sp>
      <p:sp>
        <p:nvSpPr>
          <p:cNvPr id="3" name="Text 1"/>
          <p:cNvSpPr/>
          <p:nvPr/>
        </p:nvSpPr>
        <p:spPr>
          <a:xfrm>
            <a:off x="777240" y="1600200"/>
            <a:ext cx="7315200" cy="1234440"/>
          </a:xfrm>
          <a:prstGeom prst="rect">
            <a:avLst/>
          </a:prstGeom>
          <a:noFill/>
          <a:ln/>
        </p:spPr>
        <p:txBody>
          <a:bodyPr wrap="square" lIns="0" tIns="0" rIns="0" bIns="0" rtlCol="0" anchor="ctr"/>
          <a:lstStyle/>
          <a:p>
            <a:pPr indent="0" marL="0">
              <a:buNone/>
            </a:pPr>
            <a:r>
              <a:rPr lang="en-US" sz="7600" b="1" spc="200" kern="0" dirty="0">
                <a:solidFill>
                  <a:srgbClr val="FFFFFF"/>
                </a:solidFill>
                <a:latin typeface="Arial" pitchFamily="34" charset="0"/>
                <a:ea typeface="Arial" pitchFamily="34" charset="-122"/>
                <a:cs typeface="Arial" pitchFamily="34" charset="-120"/>
              </a:rPr>
              <a:t>SETU</a:t>
            </a:r>
            <a:endParaRPr lang="en-US" sz="7600" dirty="0"/>
          </a:p>
        </p:txBody>
      </p:sp>
      <p:sp>
        <p:nvSpPr>
          <p:cNvPr id="4" name="Text 2"/>
          <p:cNvSpPr/>
          <p:nvPr/>
        </p:nvSpPr>
        <p:spPr>
          <a:xfrm>
            <a:off x="804672" y="2788920"/>
            <a:ext cx="7498080" cy="914400"/>
          </a:xfrm>
          <a:prstGeom prst="rect">
            <a:avLst/>
          </a:prstGeom>
          <a:noFill/>
          <a:ln/>
        </p:spPr>
        <p:txBody>
          <a:bodyPr wrap="square" lIns="0" tIns="0" rIns="0" bIns="0" rtlCol="0" anchor="ctr"/>
          <a:lstStyle/>
          <a:p>
            <a:pPr indent="0" marL="0">
              <a:lnSpc>
                <a:spcPts val="2800"/>
              </a:lnSpc>
              <a:buNone/>
            </a:pPr>
            <a:r>
              <a:rPr lang="en-US" sz="2100" dirty="0">
                <a:solidFill>
                  <a:srgbClr val="94A3B8"/>
                </a:solidFill>
                <a:latin typeface="Calibri" pitchFamily="34" charset="0"/>
                <a:ea typeface="Calibri" pitchFamily="34" charset="-122"/>
                <a:cs typeface="Calibri" pitchFamily="34" charset="-120"/>
              </a:rPr>
              <a:t>Real-Time Disaster Early-Warning &amp;</a:t>
            </a:r>
            <a:endParaRPr lang="en-US" sz="2100" dirty="0"/>
          </a:p>
          <a:p>
            <a:pPr indent="0" marL="0">
              <a:lnSpc>
                <a:spcPts val="2800"/>
              </a:lnSpc>
              <a:buNone/>
            </a:pPr>
            <a:r>
              <a:rPr lang="en-US" sz="2100" dirty="0">
                <a:solidFill>
                  <a:srgbClr val="94A3B8"/>
                </a:solidFill>
                <a:latin typeface="Calibri" pitchFamily="34" charset="0"/>
                <a:ea typeface="Calibri" pitchFamily="34" charset="-122"/>
                <a:cs typeface="Calibri" pitchFamily="34" charset="-120"/>
              </a:rPr>
              <a:t>Resource Coordination Platform</a:t>
            </a:r>
            <a:endParaRPr lang="en-US" sz="2100" dirty="0"/>
          </a:p>
        </p:txBody>
      </p:sp>
      <p:sp>
        <p:nvSpPr>
          <p:cNvPr id="5" name="Shape 3"/>
          <p:cNvSpPr/>
          <p:nvPr/>
        </p:nvSpPr>
        <p:spPr>
          <a:xfrm>
            <a:off x="804672" y="3977640"/>
            <a:ext cx="45720" cy="914400"/>
          </a:xfrm>
          <a:prstGeom prst="rect">
            <a:avLst/>
          </a:prstGeom>
          <a:solidFill>
            <a:srgbClr val="DC2626"/>
          </a:solidFill>
          <a:ln/>
        </p:spPr>
      </p:sp>
      <p:sp>
        <p:nvSpPr>
          <p:cNvPr id="6" name="Text 4"/>
          <p:cNvSpPr/>
          <p:nvPr/>
        </p:nvSpPr>
        <p:spPr>
          <a:xfrm>
            <a:off x="1051560" y="3977640"/>
            <a:ext cx="7772400" cy="914400"/>
          </a:xfrm>
          <a:prstGeom prst="rect">
            <a:avLst/>
          </a:prstGeom>
          <a:noFill/>
          <a:ln/>
        </p:spPr>
        <p:txBody>
          <a:bodyPr wrap="square" lIns="0" tIns="0" rIns="0" bIns="0" rtlCol="0" anchor="ctr"/>
          <a:lstStyle/>
          <a:p>
            <a:pPr indent="0" marL="0">
              <a:lnSpc>
                <a:spcPts val="2600"/>
              </a:lnSpc>
              <a:buNone/>
            </a:pPr>
            <a:r>
              <a:rPr lang="en-US" sz="1800" i="1" dirty="0">
                <a:solidFill>
                  <a:srgbClr val="E2E8F0"/>
                </a:solidFill>
                <a:latin typeface="Calibri" pitchFamily="34" charset="0"/>
                <a:ea typeface="Calibri" pitchFamily="34" charset="-122"/>
                <a:cs typeface="Calibri" pitchFamily="34" charset="-120"/>
              </a:rPr>
              <a:t>“India’s warning system already works.</a:t>
            </a:r>
            <a:endParaRPr lang="en-US" sz="1800" dirty="0"/>
          </a:p>
          <a:p>
            <a:pPr indent="0" marL="0">
              <a:lnSpc>
                <a:spcPts val="2600"/>
              </a:lnSpc>
              <a:buNone/>
            </a:pPr>
            <a:r>
              <a:rPr lang="en-US" sz="1800" i="1" dirty="0">
                <a:solidFill>
                  <a:srgbClr val="E2E8F0"/>
                </a:solidFill>
                <a:latin typeface="Calibri" pitchFamily="34" charset="0"/>
                <a:ea typeface="Calibri" pitchFamily="34" charset="-122"/>
                <a:cs typeface="Calibri" pitchFamily="34" charset="-120"/>
              </a:rPr>
              <a:t>What breaks is the six hours after the warning.”</a:t>
            </a:r>
            <a:endParaRPr lang="en-US" sz="1800" dirty="0"/>
          </a:p>
        </p:txBody>
      </p:sp>
      <p:sp>
        <p:nvSpPr>
          <p:cNvPr id="7" name="Text 5"/>
          <p:cNvSpPr/>
          <p:nvPr/>
        </p:nvSpPr>
        <p:spPr>
          <a:xfrm>
            <a:off x="804672" y="5760720"/>
            <a:ext cx="7315200" cy="320040"/>
          </a:xfrm>
          <a:prstGeom prst="rect">
            <a:avLst/>
          </a:prstGeom>
          <a:noFill/>
          <a:ln/>
        </p:spPr>
        <p:txBody>
          <a:bodyPr wrap="square" lIns="0" tIns="0" rIns="0" bIns="0" rtlCol="0" anchor="ctr"/>
          <a:lstStyle/>
          <a:p>
            <a:pPr indent="0" marL="0">
              <a:buNone/>
            </a:pPr>
            <a:r>
              <a:rPr lang="en-US" sz="1300" dirty="0">
                <a:solidFill>
                  <a:srgbClr val="64748B"/>
                </a:solidFill>
                <a:latin typeface="Calibri" pitchFamily="34" charset="0"/>
                <a:ea typeface="Calibri" pitchFamily="34" charset="-122"/>
                <a:cs typeface="Calibri" pitchFamily="34" charset="-120"/>
              </a:rPr>
              <a:t>Category: Software    ·    Theme: Disaster Management</a:t>
            </a:r>
            <a:endParaRPr lang="en-US" sz="1300" dirty="0"/>
          </a:p>
        </p:txBody>
      </p:sp>
      <p:sp>
        <p:nvSpPr>
          <p:cNvPr id="8" name="Shape 6"/>
          <p:cNvSpPr/>
          <p:nvPr/>
        </p:nvSpPr>
        <p:spPr>
          <a:xfrm>
            <a:off x="8915400" y="1600200"/>
            <a:ext cx="2697480" cy="1188720"/>
          </a:xfrm>
          <a:prstGeom prst="roundRect">
            <a:avLst>
              <a:gd name="adj" fmla="val 4615"/>
            </a:avLst>
          </a:prstGeom>
          <a:solidFill>
            <a:srgbClr val="1E293B"/>
          </a:solidFill>
          <a:ln w="12700">
            <a:solidFill>
              <a:srgbClr val="334155"/>
            </a:solidFill>
            <a:prstDash val="solid"/>
          </a:ln>
        </p:spPr>
      </p:sp>
      <p:sp>
        <p:nvSpPr>
          <p:cNvPr id="9" name="Text 7"/>
          <p:cNvSpPr/>
          <p:nvPr/>
        </p:nvSpPr>
        <p:spPr>
          <a:xfrm>
            <a:off x="9098280" y="1746504"/>
            <a:ext cx="2377440" cy="457200"/>
          </a:xfrm>
          <a:prstGeom prst="rect">
            <a:avLst/>
          </a:prstGeom>
          <a:noFill/>
          <a:ln/>
        </p:spPr>
        <p:txBody>
          <a:bodyPr wrap="square" lIns="0" tIns="0" rIns="0" bIns="0" rtlCol="0" anchor="ctr"/>
          <a:lstStyle/>
          <a:p>
            <a:pPr indent="0" marL="0">
              <a:buNone/>
            </a:pPr>
            <a:r>
              <a:rPr lang="en-US" sz="2400" b="1" dirty="0">
                <a:solidFill>
                  <a:srgbClr val="F87171"/>
                </a:solidFill>
                <a:latin typeface="Arial" pitchFamily="34" charset="0"/>
                <a:ea typeface="Arial" pitchFamily="34" charset="-122"/>
                <a:cs typeface="Arial" pitchFamily="34" charset="-120"/>
              </a:rPr>
              <a:t>1,600</a:t>
            </a:r>
            <a:endParaRPr lang="en-US" sz="2400" dirty="0"/>
          </a:p>
        </p:txBody>
      </p:sp>
      <p:sp>
        <p:nvSpPr>
          <p:cNvPr id="10" name="Text 8"/>
          <p:cNvSpPr/>
          <p:nvPr/>
        </p:nvSpPr>
        <p:spPr>
          <a:xfrm>
            <a:off x="9098280" y="2221992"/>
            <a:ext cx="2377440" cy="502920"/>
          </a:xfrm>
          <a:prstGeom prst="rect">
            <a:avLst/>
          </a:prstGeom>
          <a:noFill/>
          <a:ln/>
        </p:spPr>
        <p:txBody>
          <a:bodyPr wrap="square" lIns="0" tIns="0" rIns="0" bIns="0" rtlCol="0" anchor="ctr"/>
          <a:lstStyle/>
          <a:p>
            <a:pPr indent="0" marL="0">
              <a:lnSpc>
                <a:spcPts val="1300"/>
              </a:lnSpc>
              <a:buNone/>
            </a:pPr>
            <a:r>
              <a:rPr lang="en-US" sz="1050" dirty="0">
                <a:solidFill>
                  <a:srgbClr val="94A3B8"/>
                </a:solidFill>
                <a:latin typeface="Calibri" pitchFamily="34" charset="0"/>
                <a:ea typeface="Calibri" pitchFamily="34" charset="-122"/>
                <a:cs typeface="Calibri" pitchFamily="34" charset="-120"/>
              </a:rPr>
              <a:t>lives lost to floods</a:t>
            </a:r>
            <a:endParaRPr lang="en-US" sz="1050" dirty="0"/>
          </a:p>
          <a:p>
            <a:pPr indent="0" marL="0">
              <a:lnSpc>
                <a:spcPts val="1300"/>
              </a:lnSpc>
              <a:buNone/>
            </a:pPr>
            <a:r>
              <a:rPr lang="en-US" sz="1050" dirty="0">
                <a:solidFill>
                  <a:srgbClr val="94A3B8"/>
                </a:solidFill>
                <a:latin typeface="Calibri" pitchFamily="34" charset="0"/>
                <a:ea typeface="Calibri" pitchFamily="34" charset="-122"/>
                <a:cs typeface="Calibri" pitchFamily="34" charset="-120"/>
              </a:rPr>
              <a:t>every year (NDMA)</a:t>
            </a:r>
            <a:endParaRPr lang="en-US" sz="1050" dirty="0"/>
          </a:p>
        </p:txBody>
      </p:sp>
      <p:sp>
        <p:nvSpPr>
          <p:cNvPr id="11" name="Shape 9"/>
          <p:cNvSpPr/>
          <p:nvPr/>
        </p:nvSpPr>
        <p:spPr>
          <a:xfrm>
            <a:off x="8915400" y="3017520"/>
            <a:ext cx="2697480" cy="1188720"/>
          </a:xfrm>
          <a:prstGeom prst="roundRect">
            <a:avLst>
              <a:gd name="adj" fmla="val 4615"/>
            </a:avLst>
          </a:prstGeom>
          <a:solidFill>
            <a:srgbClr val="1E293B"/>
          </a:solidFill>
          <a:ln w="12700">
            <a:solidFill>
              <a:srgbClr val="334155"/>
            </a:solidFill>
            <a:prstDash val="solid"/>
          </a:ln>
        </p:spPr>
      </p:sp>
      <p:sp>
        <p:nvSpPr>
          <p:cNvPr id="12" name="Text 10"/>
          <p:cNvSpPr/>
          <p:nvPr/>
        </p:nvSpPr>
        <p:spPr>
          <a:xfrm>
            <a:off x="9098280" y="3163824"/>
            <a:ext cx="2377440" cy="457200"/>
          </a:xfrm>
          <a:prstGeom prst="rect">
            <a:avLst/>
          </a:prstGeom>
          <a:noFill/>
          <a:ln/>
        </p:spPr>
        <p:txBody>
          <a:bodyPr wrap="square" lIns="0" tIns="0" rIns="0" bIns="0" rtlCol="0" anchor="ctr"/>
          <a:lstStyle/>
          <a:p>
            <a:pPr indent="0" marL="0">
              <a:buNone/>
            </a:pPr>
            <a:r>
              <a:rPr lang="en-US" sz="2400" b="1" dirty="0">
                <a:solidFill>
                  <a:srgbClr val="F87171"/>
                </a:solidFill>
                <a:latin typeface="Arial" pitchFamily="34" charset="0"/>
                <a:ea typeface="Arial" pitchFamily="34" charset="-122"/>
                <a:cs typeface="Arial" pitchFamily="34" charset="-120"/>
              </a:rPr>
              <a:t>USD 9.8bn</a:t>
            </a:r>
            <a:endParaRPr lang="en-US" sz="2400" dirty="0"/>
          </a:p>
        </p:txBody>
      </p:sp>
      <p:sp>
        <p:nvSpPr>
          <p:cNvPr id="13" name="Text 11"/>
          <p:cNvSpPr/>
          <p:nvPr/>
        </p:nvSpPr>
        <p:spPr>
          <a:xfrm>
            <a:off x="9098280" y="3639312"/>
            <a:ext cx="2377440" cy="502920"/>
          </a:xfrm>
          <a:prstGeom prst="rect">
            <a:avLst/>
          </a:prstGeom>
          <a:noFill/>
          <a:ln/>
        </p:spPr>
        <p:txBody>
          <a:bodyPr wrap="square" lIns="0" tIns="0" rIns="0" bIns="0" rtlCol="0" anchor="ctr"/>
          <a:lstStyle/>
          <a:p>
            <a:pPr indent="0" marL="0">
              <a:lnSpc>
                <a:spcPts val="1300"/>
              </a:lnSpc>
              <a:buNone/>
            </a:pPr>
            <a:r>
              <a:rPr lang="en-US" sz="1050" dirty="0">
                <a:solidFill>
                  <a:srgbClr val="94A3B8"/>
                </a:solidFill>
                <a:latin typeface="Calibri" pitchFamily="34" charset="0"/>
                <a:ea typeface="Calibri" pitchFamily="34" charset="-122"/>
                <a:cs typeface="Calibri" pitchFamily="34" charset="-120"/>
              </a:rPr>
              <a:t>average annual</a:t>
            </a:r>
            <a:endParaRPr lang="en-US" sz="1050" dirty="0"/>
          </a:p>
          <a:p>
            <a:pPr indent="0" marL="0">
              <a:lnSpc>
                <a:spcPts val="1300"/>
              </a:lnSpc>
              <a:buNone/>
            </a:pPr>
            <a:r>
              <a:rPr lang="en-US" sz="1050" dirty="0">
                <a:solidFill>
                  <a:srgbClr val="94A3B8"/>
                </a:solidFill>
                <a:latin typeface="Calibri" pitchFamily="34" charset="0"/>
                <a:ea typeface="Calibri" pitchFamily="34" charset="-122"/>
                <a:cs typeface="Calibri" pitchFamily="34" charset="-120"/>
              </a:rPr>
              <a:t>disaster loss (UNISDR)</a:t>
            </a:r>
            <a:endParaRPr lang="en-US" sz="1050" dirty="0"/>
          </a:p>
        </p:txBody>
      </p:sp>
      <p:sp>
        <p:nvSpPr>
          <p:cNvPr id="14" name="Shape 12"/>
          <p:cNvSpPr/>
          <p:nvPr/>
        </p:nvSpPr>
        <p:spPr>
          <a:xfrm>
            <a:off x="8915400" y="4434840"/>
            <a:ext cx="2697480" cy="1188720"/>
          </a:xfrm>
          <a:prstGeom prst="roundRect">
            <a:avLst>
              <a:gd name="adj" fmla="val 4615"/>
            </a:avLst>
          </a:prstGeom>
          <a:solidFill>
            <a:srgbClr val="1E293B"/>
          </a:solidFill>
          <a:ln w="12700">
            <a:solidFill>
              <a:srgbClr val="334155"/>
            </a:solidFill>
            <a:prstDash val="solid"/>
          </a:ln>
        </p:spPr>
      </p:sp>
      <p:sp>
        <p:nvSpPr>
          <p:cNvPr id="15" name="Text 13"/>
          <p:cNvSpPr/>
          <p:nvPr/>
        </p:nvSpPr>
        <p:spPr>
          <a:xfrm>
            <a:off x="9098280" y="4581144"/>
            <a:ext cx="2377440" cy="457200"/>
          </a:xfrm>
          <a:prstGeom prst="rect">
            <a:avLst/>
          </a:prstGeom>
          <a:noFill/>
          <a:ln/>
        </p:spPr>
        <p:txBody>
          <a:bodyPr wrap="square" lIns="0" tIns="0" rIns="0" bIns="0" rtlCol="0" anchor="ctr"/>
          <a:lstStyle/>
          <a:p>
            <a:pPr indent="0" marL="0">
              <a:buNone/>
            </a:pPr>
            <a:r>
              <a:rPr lang="en-US" sz="2400" b="1" dirty="0">
                <a:solidFill>
                  <a:srgbClr val="4ADE80"/>
                </a:solidFill>
                <a:latin typeface="Arial" pitchFamily="34" charset="0"/>
                <a:ea typeface="Arial" pitchFamily="34" charset="-122"/>
                <a:cs typeface="Arial" pitchFamily="34" charset="-120"/>
              </a:rPr>
              <a:t>34 → 21 min</a:t>
            </a:r>
            <a:endParaRPr lang="en-US" sz="2400" dirty="0"/>
          </a:p>
        </p:txBody>
      </p:sp>
      <p:sp>
        <p:nvSpPr>
          <p:cNvPr id="16" name="Text 14"/>
          <p:cNvSpPr/>
          <p:nvPr/>
        </p:nvSpPr>
        <p:spPr>
          <a:xfrm>
            <a:off x="9098280" y="5056632"/>
            <a:ext cx="2377440" cy="502920"/>
          </a:xfrm>
          <a:prstGeom prst="rect">
            <a:avLst/>
          </a:prstGeom>
          <a:noFill/>
          <a:ln/>
        </p:spPr>
        <p:txBody>
          <a:bodyPr wrap="square" lIns="0" tIns="0" rIns="0" bIns="0" rtlCol="0" anchor="ctr"/>
          <a:lstStyle/>
          <a:p>
            <a:pPr indent="0" marL="0">
              <a:lnSpc>
                <a:spcPts val="1300"/>
              </a:lnSpc>
              <a:buNone/>
            </a:pPr>
            <a:r>
              <a:rPr lang="en-US" sz="1050" dirty="0">
                <a:solidFill>
                  <a:srgbClr val="94A3B8"/>
                </a:solidFill>
                <a:latin typeface="Calibri" pitchFamily="34" charset="0"/>
                <a:ea typeface="Calibri" pitchFamily="34" charset="-122"/>
                <a:cs typeface="Calibri" pitchFamily="34" charset="-120"/>
              </a:rPr>
              <a:t>mean response time</a:t>
            </a:r>
            <a:endParaRPr lang="en-US" sz="1050" dirty="0"/>
          </a:p>
          <a:p>
            <a:pPr indent="0" marL="0">
              <a:lnSpc>
                <a:spcPts val="1300"/>
              </a:lnSpc>
              <a:buNone/>
            </a:pPr>
            <a:r>
              <a:rPr lang="en-US" sz="1050" dirty="0">
                <a:solidFill>
                  <a:srgbClr val="94A3B8"/>
                </a:solidFill>
                <a:latin typeface="Calibri" pitchFamily="34" charset="0"/>
                <a:ea typeface="Calibri" pitchFamily="34" charset="-122"/>
                <a:cs typeface="Calibri" pitchFamily="34" charset="-120"/>
              </a:rPr>
              <a:t>in our simulation</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02920" y="310896"/>
            <a:ext cx="640080" cy="457200"/>
          </a:xfrm>
          <a:prstGeom prst="rect">
            <a:avLst/>
          </a:prstGeom>
          <a:noFill/>
          <a:ln/>
        </p:spPr>
        <p:txBody>
          <a:bodyPr wrap="square" lIns="0" tIns="0" rIns="0" bIns="0" rtlCol="0" anchor="ctr"/>
          <a:lstStyle/>
          <a:p>
            <a:pPr algn="l" indent="0" marL="0">
              <a:buNone/>
            </a:pPr>
            <a:r>
              <a:rPr lang="en-US" sz="2600" b="1" dirty="0">
                <a:solidFill>
                  <a:srgbClr val="DC2626"/>
                </a:solidFill>
                <a:latin typeface="Arial" pitchFamily="34" charset="0"/>
                <a:ea typeface="Arial" pitchFamily="34" charset="-122"/>
                <a:cs typeface="Arial" pitchFamily="34" charset="-120"/>
              </a:rPr>
              <a:t>01</a:t>
            </a:r>
            <a:endParaRPr lang="en-US" sz="2600" dirty="0"/>
          </a:p>
        </p:txBody>
      </p:sp>
      <p:sp>
        <p:nvSpPr>
          <p:cNvPr id="3" name="Text 1"/>
          <p:cNvSpPr/>
          <p:nvPr/>
        </p:nvSpPr>
        <p:spPr>
          <a:xfrm>
            <a:off x="1143000" y="274320"/>
            <a:ext cx="8778240" cy="530352"/>
          </a:xfrm>
          <a:prstGeom prst="rect">
            <a:avLst/>
          </a:prstGeom>
          <a:noFill/>
          <a:ln/>
        </p:spPr>
        <p:txBody>
          <a:bodyPr wrap="square" lIns="0" tIns="0" rIns="0" bIns="0" rtlCol="0" anchor="ctr"/>
          <a:lstStyle/>
          <a:p>
            <a:pPr indent="0" marL="0">
              <a:buNone/>
            </a:pPr>
            <a:r>
              <a:rPr lang="en-US" sz="2800" b="1" dirty="0">
                <a:solidFill>
                  <a:srgbClr val="0F172A"/>
                </a:solidFill>
                <a:latin typeface="Arial" pitchFamily="34" charset="0"/>
                <a:ea typeface="Arial" pitchFamily="34" charset="-122"/>
                <a:cs typeface="Arial" pitchFamily="34" charset="-120"/>
              </a:rPr>
              <a:t>Where the real gap is</a:t>
            </a:r>
            <a:endParaRPr lang="en-US" sz="2800" dirty="0"/>
          </a:p>
        </p:txBody>
      </p:sp>
      <p:sp>
        <p:nvSpPr>
          <p:cNvPr id="4" name="Text 2"/>
          <p:cNvSpPr/>
          <p:nvPr/>
        </p:nvSpPr>
        <p:spPr>
          <a:xfrm>
            <a:off x="1161288" y="795528"/>
            <a:ext cx="10424160" cy="310896"/>
          </a:xfrm>
          <a:prstGeom prst="rect">
            <a:avLst/>
          </a:prstGeom>
          <a:noFill/>
          <a:ln/>
        </p:spPr>
        <p:txBody>
          <a:bodyPr wrap="square" lIns="0" tIns="0" rIns="0" bIns="0" rtlCol="0" anchor="t"/>
          <a:lstStyle/>
          <a:p>
            <a:pPr indent="0" marL="0">
              <a:buNone/>
            </a:pPr>
            <a:r>
              <a:rPr lang="en-US" sz="1300" i="1" dirty="0">
                <a:solidFill>
                  <a:srgbClr val="64748B"/>
                </a:solidFill>
                <a:latin typeface="Calibri" pitchFamily="34" charset="0"/>
                <a:ea typeface="Calibri" pitchFamily="34" charset="-122"/>
                <a:cs typeface="Calibri" pitchFamily="34" charset="-120"/>
              </a:rPr>
              <a:t>Four phases of disaster response. Two are solved nationally. Two are not.</a:t>
            </a:r>
            <a:endParaRPr lang="en-US" sz="1300" dirty="0"/>
          </a:p>
        </p:txBody>
      </p:sp>
      <p:sp>
        <p:nvSpPr>
          <p:cNvPr id="5" name="Shape 3"/>
          <p:cNvSpPr/>
          <p:nvPr/>
        </p:nvSpPr>
        <p:spPr>
          <a:xfrm>
            <a:off x="502920" y="1298448"/>
            <a:ext cx="8321040" cy="841248"/>
          </a:xfrm>
          <a:prstGeom prst="roundRect">
            <a:avLst>
              <a:gd name="adj" fmla="val 6522"/>
            </a:avLst>
          </a:prstGeom>
          <a:solidFill>
            <a:srgbClr val="ECFDF5"/>
          </a:solidFill>
          <a:ln w="12700">
            <a:solidFill>
              <a:srgbClr val="059669"/>
            </a:solidFill>
            <a:prstDash val="solid"/>
          </a:ln>
        </p:spPr>
      </p:sp>
      <p:sp>
        <p:nvSpPr>
          <p:cNvPr id="6" name="Text 4"/>
          <p:cNvSpPr/>
          <p:nvPr/>
        </p:nvSpPr>
        <p:spPr>
          <a:xfrm>
            <a:off x="713232" y="1417320"/>
            <a:ext cx="2194560" cy="274320"/>
          </a:xfrm>
          <a:prstGeom prst="rect">
            <a:avLst/>
          </a:prstGeom>
          <a:noFill/>
          <a:ln/>
        </p:spPr>
        <p:txBody>
          <a:bodyPr wrap="square" lIns="0" tIns="0" rIns="0" bIns="0" rtlCol="0" anchor="ctr"/>
          <a:lstStyle/>
          <a:p>
            <a:pPr indent="0" marL="0">
              <a:buNone/>
            </a:pPr>
            <a:r>
              <a:rPr lang="en-US" sz="1400" b="1" dirty="0">
                <a:solidFill>
                  <a:srgbClr val="0F172A"/>
                </a:solidFill>
                <a:latin typeface="Arial" pitchFamily="34" charset="0"/>
                <a:ea typeface="Arial" pitchFamily="34" charset="-122"/>
                <a:cs typeface="Arial" pitchFamily="34" charset="-120"/>
              </a:rPr>
              <a:t>DETECTION</a:t>
            </a:r>
            <a:endParaRPr lang="en-US" sz="1400" dirty="0"/>
          </a:p>
        </p:txBody>
      </p:sp>
      <p:sp>
        <p:nvSpPr>
          <p:cNvPr id="7" name="Text 5"/>
          <p:cNvSpPr/>
          <p:nvPr/>
        </p:nvSpPr>
        <p:spPr>
          <a:xfrm>
            <a:off x="713232" y="1709928"/>
            <a:ext cx="6492240" cy="365760"/>
          </a:xfrm>
          <a:prstGeom prst="rect">
            <a:avLst/>
          </a:prstGeom>
          <a:noFill/>
          <a:ln/>
        </p:spPr>
        <p:txBody>
          <a:bodyPr wrap="square" lIns="0" tIns="0" rIns="0" bIns="0" rtlCol="0" anchor="ctr"/>
          <a:lstStyle/>
          <a:p>
            <a:pPr indent="0" marL="0">
              <a:buNone/>
            </a:pPr>
            <a:r>
              <a:rPr lang="en-US" sz="1150" dirty="0">
                <a:solidFill>
                  <a:srgbClr val="1E293B"/>
                </a:solidFill>
                <a:latin typeface="Calibri" pitchFamily="34" charset="0"/>
                <a:ea typeface="Calibri" pitchFamily="34" charset="-122"/>
                <a:cs typeface="Calibri" pitchFamily="34" charset="-120"/>
              </a:rPr>
              <a:t>IMD, CWC, INCOIS, GSI — mature, scientific, well funded</a:t>
            </a:r>
            <a:endParaRPr lang="en-US" sz="1150" dirty="0"/>
          </a:p>
        </p:txBody>
      </p:sp>
      <p:sp>
        <p:nvSpPr>
          <p:cNvPr id="8" name="Text 6"/>
          <p:cNvSpPr/>
          <p:nvPr/>
        </p:nvSpPr>
        <p:spPr>
          <a:xfrm>
            <a:off x="7360920" y="1572768"/>
            <a:ext cx="1280160" cy="320040"/>
          </a:xfrm>
          <a:prstGeom prst="rect">
            <a:avLst/>
          </a:prstGeom>
          <a:noFill/>
          <a:ln/>
        </p:spPr>
        <p:txBody>
          <a:bodyPr wrap="square" lIns="0" tIns="0" rIns="0" bIns="0" rtlCol="0" anchor="ctr"/>
          <a:lstStyle/>
          <a:p>
            <a:pPr algn="r" indent="0" marL="0">
              <a:buNone/>
            </a:pPr>
            <a:r>
              <a:rPr lang="en-US" sz="1300" b="1" dirty="0">
                <a:solidFill>
                  <a:srgbClr val="059669"/>
                </a:solidFill>
                <a:latin typeface="Arial" pitchFamily="34" charset="0"/>
                <a:ea typeface="Arial" pitchFamily="34" charset="-122"/>
                <a:cs typeface="Arial" pitchFamily="34" charset="-120"/>
              </a:rPr>
              <a:t>SOLVED</a:t>
            </a:r>
            <a:endParaRPr lang="en-US" sz="1300" dirty="0"/>
          </a:p>
        </p:txBody>
      </p:sp>
      <p:sp>
        <p:nvSpPr>
          <p:cNvPr id="9" name="Shape 7"/>
          <p:cNvSpPr/>
          <p:nvPr/>
        </p:nvSpPr>
        <p:spPr>
          <a:xfrm>
            <a:off x="502920" y="2258568"/>
            <a:ext cx="8321040" cy="841248"/>
          </a:xfrm>
          <a:prstGeom prst="roundRect">
            <a:avLst>
              <a:gd name="adj" fmla="val 6522"/>
            </a:avLst>
          </a:prstGeom>
          <a:solidFill>
            <a:srgbClr val="ECFDF5"/>
          </a:solidFill>
          <a:ln w="12700">
            <a:solidFill>
              <a:srgbClr val="059669"/>
            </a:solidFill>
            <a:prstDash val="solid"/>
          </a:ln>
        </p:spPr>
      </p:sp>
      <p:sp>
        <p:nvSpPr>
          <p:cNvPr id="10" name="Text 8"/>
          <p:cNvSpPr/>
          <p:nvPr/>
        </p:nvSpPr>
        <p:spPr>
          <a:xfrm>
            <a:off x="713232" y="2377440"/>
            <a:ext cx="2194560" cy="274320"/>
          </a:xfrm>
          <a:prstGeom prst="rect">
            <a:avLst/>
          </a:prstGeom>
          <a:noFill/>
          <a:ln/>
        </p:spPr>
        <p:txBody>
          <a:bodyPr wrap="square" lIns="0" tIns="0" rIns="0" bIns="0" rtlCol="0" anchor="ctr"/>
          <a:lstStyle/>
          <a:p>
            <a:pPr indent="0" marL="0">
              <a:buNone/>
            </a:pPr>
            <a:r>
              <a:rPr lang="en-US" sz="1400" b="1" dirty="0">
                <a:solidFill>
                  <a:srgbClr val="0F172A"/>
                </a:solidFill>
                <a:latin typeface="Arial" pitchFamily="34" charset="0"/>
                <a:ea typeface="Arial" pitchFamily="34" charset="-122"/>
                <a:cs typeface="Arial" pitchFamily="34" charset="-120"/>
              </a:rPr>
              <a:t>DISSEMINATION</a:t>
            </a:r>
            <a:endParaRPr lang="en-US" sz="1400" dirty="0"/>
          </a:p>
        </p:txBody>
      </p:sp>
      <p:sp>
        <p:nvSpPr>
          <p:cNvPr id="11" name="Text 9"/>
          <p:cNvSpPr/>
          <p:nvPr/>
        </p:nvSpPr>
        <p:spPr>
          <a:xfrm>
            <a:off x="713232" y="2670048"/>
            <a:ext cx="6492240" cy="365760"/>
          </a:xfrm>
          <a:prstGeom prst="rect">
            <a:avLst/>
          </a:prstGeom>
          <a:noFill/>
          <a:ln/>
        </p:spPr>
        <p:txBody>
          <a:bodyPr wrap="square" lIns="0" tIns="0" rIns="0" bIns="0" rtlCol="0" anchor="ctr"/>
          <a:lstStyle/>
          <a:p>
            <a:pPr indent="0" marL="0">
              <a:buNone/>
            </a:pPr>
            <a:r>
              <a:rPr lang="en-US" sz="1150" dirty="0">
                <a:solidFill>
                  <a:srgbClr val="1E293B"/>
                </a:solidFill>
                <a:latin typeface="Calibri" pitchFamily="34" charset="0"/>
                <a:ea typeface="Calibri" pitchFamily="34" charset="-122"/>
                <a:cs typeface="Calibri" pitchFamily="34" charset="-120"/>
              </a:rPr>
              <a:t>NDMA SACHET — CAP-based, geo-targeted, 12 languages, SMS + app + RSS</a:t>
            </a:r>
            <a:endParaRPr lang="en-US" sz="1150" dirty="0"/>
          </a:p>
        </p:txBody>
      </p:sp>
      <p:sp>
        <p:nvSpPr>
          <p:cNvPr id="12" name="Text 10"/>
          <p:cNvSpPr/>
          <p:nvPr/>
        </p:nvSpPr>
        <p:spPr>
          <a:xfrm>
            <a:off x="7360920" y="2532888"/>
            <a:ext cx="1280160" cy="320040"/>
          </a:xfrm>
          <a:prstGeom prst="rect">
            <a:avLst/>
          </a:prstGeom>
          <a:noFill/>
          <a:ln/>
        </p:spPr>
        <p:txBody>
          <a:bodyPr wrap="square" lIns="0" tIns="0" rIns="0" bIns="0" rtlCol="0" anchor="ctr"/>
          <a:lstStyle/>
          <a:p>
            <a:pPr algn="r" indent="0" marL="0">
              <a:buNone/>
            </a:pPr>
            <a:r>
              <a:rPr lang="en-US" sz="1300" b="1" dirty="0">
                <a:solidFill>
                  <a:srgbClr val="059669"/>
                </a:solidFill>
                <a:latin typeface="Arial" pitchFamily="34" charset="0"/>
                <a:ea typeface="Arial" pitchFamily="34" charset="-122"/>
                <a:cs typeface="Arial" pitchFamily="34" charset="-120"/>
              </a:rPr>
              <a:t>SOLVED</a:t>
            </a:r>
            <a:endParaRPr lang="en-US" sz="1300" dirty="0"/>
          </a:p>
        </p:txBody>
      </p:sp>
      <p:sp>
        <p:nvSpPr>
          <p:cNvPr id="13" name="Shape 11"/>
          <p:cNvSpPr/>
          <p:nvPr/>
        </p:nvSpPr>
        <p:spPr>
          <a:xfrm>
            <a:off x="502920" y="3218688"/>
            <a:ext cx="8321040" cy="841248"/>
          </a:xfrm>
          <a:prstGeom prst="roundRect">
            <a:avLst>
              <a:gd name="adj" fmla="val 6522"/>
            </a:avLst>
          </a:prstGeom>
          <a:solidFill>
            <a:srgbClr val="FEF2F2"/>
          </a:solidFill>
          <a:ln w="19050">
            <a:solidFill>
              <a:srgbClr val="DC2626"/>
            </a:solidFill>
            <a:prstDash val="solid"/>
          </a:ln>
        </p:spPr>
      </p:sp>
      <p:sp>
        <p:nvSpPr>
          <p:cNvPr id="14" name="Text 12"/>
          <p:cNvSpPr/>
          <p:nvPr/>
        </p:nvSpPr>
        <p:spPr>
          <a:xfrm>
            <a:off x="713232" y="3337560"/>
            <a:ext cx="2194560" cy="274320"/>
          </a:xfrm>
          <a:prstGeom prst="rect">
            <a:avLst/>
          </a:prstGeom>
          <a:noFill/>
          <a:ln/>
        </p:spPr>
        <p:txBody>
          <a:bodyPr wrap="square" lIns="0" tIns="0" rIns="0" bIns="0" rtlCol="0" anchor="ctr"/>
          <a:lstStyle/>
          <a:p>
            <a:pPr indent="0" marL="0">
              <a:buNone/>
            </a:pPr>
            <a:r>
              <a:rPr lang="en-US" sz="1400" b="1" dirty="0">
                <a:solidFill>
                  <a:srgbClr val="0F172A"/>
                </a:solidFill>
                <a:latin typeface="Arial" pitchFamily="34" charset="0"/>
                <a:ea typeface="Arial" pitchFamily="34" charset="-122"/>
                <a:cs typeface="Arial" pitchFamily="34" charset="-120"/>
              </a:rPr>
              <a:t>COORDINATION</a:t>
            </a:r>
            <a:endParaRPr lang="en-US" sz="1400" dirty="0"/>
          </a:p>
        </p:txBody>
      </p:sp>
      <p:sp>
        <p:nvSpPr>
          <p:cNvPr id="15" name="Text 13"/>
          <p:cNvSpPr/>
          <p:nvPr/>
        </p:nvSpPr>
        <p:spPr>
          <a:xfrm>
            <a:off x="713232" y="3630168"/>
            <a:ext cx="6492240" cy="365760"/>
          </a:xfrm>
          <a:prstGeom prst="rect">
            <a:avLst/>
          </a:prstGeom>
          <a:noFill/>
          <a:ln/>
        </p:spPr>
        <p:txBody>
          <a:bodyPr wrap="square" lIns="0" tIns="0" rIns="0" bIns="0" rtlCol="0" anchor="ctr"/>
          <a:lstStyle/>
          <a:p>
            <a:pPr indent="0" marL="0">
              <a:buNone/>
            </a:pPr>
            <a:r>
              <a:rPr lang="en-US" sz="1150" dirty="0">
                <a:solidFill>
                  <a:srgbClr val="1E293B"/>
                </a:solidFill>
                <a:latin typeface="Calibri" pitchFamily="34" charset="0"/>
                <a:ea typeface="Calibri" pitchFamily="34" charset="-122"/>
                <a:cs typeface="Calibri" pitchFamily="34" charset="-120"/>
              </a:rPr>
              <a:t>WhatsApp groups, phone calls, paper registers. No shared state, no audit trail</a:t>
            </a:r>
            <a:endParaRPr lang="en-US" sz="1150" dirty="0"/>
          </a:p>
        </p:txBody>
      </p:sp>
      <p:sp>
        <p:nvSpPr>
          <p:cNvPr id="16" name="Text 14"/>
          <p:cNvSpPr/>
          <p:nvPr/>
        </p:nvSpPr>
        <p:spPr>
          <a:xfrm>
            <a:off x="7360920" y="3493008"/>
            <a:ext cx="1280160" cy="320040"/>
          </a:xfrm>
          <a:prstGeom prst="rect">
            <a:avLst/>
          </a:prstGeom>
          <a:noFill/>
          <a:ln/>
        </p:spPr>
        <p:txBody>
          <a:bodyPr wrap="square" lIns="0" tIns="0" rIns="0" bIns="0" rtlCol="0" anchor="ctr"/>
          <a:lstStyle/>
          <a:p>
            <a:pPr algn="r" indent="0" marL="0">
              <a:buNone/>
            </a:pPr>
            <a:r>
              <a:rPr lang="en-US" sz="1300" b="1" dirty="0">
                <a:solidFill>
                  <a:srgbClr val="DC2626"/>
                </a:solidFill>
                <a:latin typeface="Arial" pitchFamily="34" charset="0"/>
                <a:ea typeface="Arial" pitchFamily="34" charset="-122"/>
                <a:cs typeface="Arial" pitchFamily="34" charset="-120"/>
              </a:rPr>
              <a:t>BROKEN</a:t>
            </a:r>
            <a:endParaRPr lang="en-US" sz="1300" dirty="0"/>
          </a:p>
        </p:txBody>
      </p:sp>
      <p:sp>
        <p:nvSpPr>
          <p:cNvPr id="17" name="Shape 15"/>
          <p:cNvSpPr/>
          <p:nvPr/>
        </p:nvSpPr>
        <p:spPr>
          <a:xfrm>
            <a:off x="502920" y="4178808"/>
            <a:ext cx="8321040" cy="841248"/>
          </a:xfrm>
          <a:prstGeom prst="roundRect">
            <a:avLst>
              <a:gd name="adj" fmla="val 6522"/>
            </a:avLst>
          </a:prstGeom>
          <a:solidFill>
            <a:srgbClr val="FEF2F2"/>
          </a:solidFill>
          <a:ln w="19050">
            <a:solidFill>
              <a:srgbClr val="DC2626"/>
            </a:solidFill>
            <a:prstDash val="solid"/>
          </a:ln>
        </p:spPr>
      </p:sp>
      <p:sp>
        <p:nvSpPr>
          <p:cNvPr id="18" name="Text 16"/>
          <p:cNvSpPr/>
          <p:nvPr/>
        </p:nvSpPr>
        <p:spPr>
          <a:xfrm>
            <a:off x="713232" y="4297680"/>
            <a:ext cx="2194560" cy="274320"/>
          </a:xfrm>
          <a:prstGeom prst="rect">
            <a:avLst/>
          </a:prstGeom>
          <a:noFill/>
          <a:ln/>
        </p:spPr>
        <p:txBody>
          <a:bodyPr wrap="square" lIns="0" tIns="0" rIns="0" bIns="0" rtlCol="0" anchor="ctr"/>
          <a:lstStyle/>
          <a:p>
            <a:pPr indent="0" marL="0">
              <a:buNone/>
            </a:pPr>
            <a:r>
              <a:rPr lang="en-US" sz="1400" b="1" dirty="0">
                <a:solidFill>
                  <a:srgbClr val="0F172A"/>
                </a:solidFill>
                <a:latin typeface="Arial" pitchFamily="34" charset="0"/>
                <a:ea typeface="Arial" pitchFamily="34" charset="-122"/>
                <a:cs typeface="Arial" pitchFamily="34" charset="-120"/>
              </a:rPr>
              <a:t>ALLOCATION</a:t>
            </a:r>
            <a:endParaRPr lang="en-US" sz="1400" dirty="0"/>
          </a:p>
        </p:txBody>
      </p:sp>
      <p:sp>
        <p:nvSpPr>
          <p:cNvPr id="19" name="Text 17"/>
          <p:cNvSpPr/>
          <p:nvPr/>
        </p:nvSpPr>
        <p:spPr>
          <a:xfrm>
            <a:off x="713232" y="4590288"/>
            <a:ext cx="6492240" cy="365760"/>
          </a:xfrm>
          <a:prstGeom prst="rect">
            <a:avLst/>
          </a:prstGeom>
          <a:noFill/>
          <a:ln/>
        </p:spPr>
        <p:txBody>
          <a:bodyPr wrap="square" lIns="0" tIns="0" rIns="0" bIns="0" rtlCol="0" anchor="ctr"/>
          <a:lstStyle/>
          <a:p>
            <a:pPr indent="0" marL="0">
              <a:buNone/>
            </a:pPr>
            <a:r>
              <a:rPr lang="en-US" sz="1150" dirty="0">
                <a:solidFill>
                  <a:srgbClr val="1E293B"/>
                </a:solidFill>
                <a:latin typeface="Calibri" pitchFamily="34" charset="0"/>
                <a:ea typeface="Calibri" pitchFamily="34" charset="-122"/>
                <a:cs typeface="Calibri" pitchFamily="34" charset="-120"/>
              </a:rPr>
              <a:t>Human intuition under extreme load. No optimisation, no live capacity view</a:t>
            </a:r>
            <a:endParaRPr lang="en-US" sz="1150" dirty="0"/>
          </a:p>
        </p:txBody>
      </p:sp>
      <p:sp>
        <p:nvSpPr>
          <p:cNvPr id="20" name="Text 18"/>
          <p:cNvSpPr/>
          <p:nvPr/>
        </p:nvSpPr>
        <p:spPr>
          <a:xfrm>
            <a:off x="7360920" y="4453128"/>
            <a:ext cx="1280160" cy="320040"/>
          </a:xfrm>
          <a:prstGeom prst="rect">
            <a:avLst/>
          </a:prstGeom>
          <a:noFill/>
          <a:ln/>
        </p:spPr>
        <p:txBody>
          <a:bodyPr wrap="square" lIns="0" tIns="0" rIns="0" bIns="0" rtlCol="0" anchor="ctr"/>
          <a:lstStyle/>
          <a:p>
            <a:pPr algn="r" indent="0" marL="0">
              <a:buNone/>
            </a:pPr>
            <a:r>
              <a:rPr lang="en-US" sz="1300" b="1" dirty="0">
                <a:solidFill>
                  <a:srgbClr val="DC2626"/>
                </a:solidFill>
                <a:latin typeface="Arial" pitchFamily="34" charset="0"/>
                <a:ea typeface="Arial" pitchFamily="34" charset="-122"/>
                <a:cs typeface="Arial" pitchFamily="34" charset="-120"/>
              </a:rPr>
              <a:t>BROKEN</a:t>
            </a:r>
            <a:endParaRPr lang="en-US" sz="1300" dirty="0"/>
          </a:p>
        </p:txBody>
      </p:sp>
      <p:sp>
        <p:nvSpPr>
          <p:cNvPr id="21" name="Shape 19"/>
          <p:cNvSpPr/>
          <p:nvPr/>
        </p:nvSpPr>
        <p:spPr>
          <a:xfrm>
            <a:off x="9098280" y="1298448"/>
            <a:ext cx="2560320" cy="3794760"/>
          </a:xfrm>
          <a:prstGeom prst="roundRect">
            <a:avLst>
              <a:gd name="adj" fmla="val 2143"/>
            </a:avLst>
          </a:prstGeom>
          <a:solidFill>
            <a:srgbClr val="0F172A"/>
          </a:solidFill>
          <a:ln w="12700">
            <a:solidFill>
              <a:srgbClr val="0F172A"/>
            </a:solidFill>
            <a:prstDash val="solid"/>
          </a:ln>
        </p:spPr>
      </p:sp>
      <p:sp>
        <p:nvSpPr>
          <p:cNvPr id="22" name="Text 20"/>
          <p:cNvSpPr/>
          <p:nvPr/>
        </p:nvSpPr>
        <p:spPr>
          <a:xfrm>
            <a:off x="9326880" y="1481328"/>
            <a:ext cx="2194560" cy="274320"/>
          </a:xfrm>
          <a:prstGeom prst="rect">
            <a:avLst/>
          </a:prstGeom>
          <a:noFill/>
          <a:ln/>
        </p:spPr>
        <p:txBody>
          <a:bodyPr wrap="square" lIns="0" tIns="0" rIns="0" bIns="0" rtlCol="0" anchor="ctr"/>
          <a:lstStyle/>
          <a:p>
            <a:pPr indent="0" marL="0">
              <a:buNone/>
            </a:pPr>
            <a:r>
              <a:rPr lang="en-US" sz="1100" b="1" spc="100" kern="0" dirty="0">
                <a:solidFill>
                  <a:srgbClr val="F87171"/>
                </a:solidFill>
                <a:latin typeface="Arial" pitchFamily="34" charset="0"/>
                <a:ea typeface="Arial" pitchFamily="34" charset="-122"/>
                <a:cs typeface="Arial" pitchFamily="34" charset="-120"/>
              </a:rPr>
              <a:t>THE EVIDENCE</a:t>
            </a:r>
            <a:endParaRPr lang="en-US" sz="1100" dirty="0"/>
          </a:p>
        </p:txBody>
      </p:sp>
      <p:sp>
        <p:nvSpPr>
          <p:cNvPr id="23" name="Text 21"/>
          <p:cNvSpPr/>
          <p:nvPr/>
        </p:nvSpPr>
        <p:spPr>
          <a:xfrm>
            <a:off x="9326880" y="1874520"/>
            <a:ext cx="2194560" cy="365760"/>
          </a:xfrm>
          <a:prstGeom prst="rect">
            <a:avLst/>
          </a:prstGeom>
          <a:noFill/>
          <a:ln/>
        </p:spPr>
        <p:txBody>
          <a:bodyPr wrap="square" lIns="0" tIns="0" rIns="0" bIns="0" rtlCol="0" anchor="ctr"/>
          <a:lstStyle/>
          <a:p>
            <a:pPr indent="0" marL="0">
              <a:buNone/>
            </a:pPr>
            <a:r>
              <a:rPr lang="en-US" sz="2200" b="1" dirty="0">
                <a:solidFill>
                  <a:srgbClr val="FFFFFF"/>
                </a:solidFill>
                <a:latin typeface="Arial" pitchFamily="34" charset="0"/>
                <a:ea typeface="Arial" pitchFamily="34" charset="-122"/>
                <a:cs typeface="Arial" pitchFamily="34" charset="-120"/>
              </a:rPr>
              <a:t>1999</a:t>
            </a:r>
            <a:endParaRPr lang="en-US" sz="2200" dirty="0"/>
          </a:p>
        </p:txBody>
      </p:sp>
      <p:sp>
        <p:nvSpPr>
          <p:cNvPr id="24" name="Text 22"/>
          <p:cNvSpPr/>
          <p:nvPr/>
        </p:nvSpPr>
        <p:spPr>
          <a:xfrm>
            <a:off x="9326880" y="2240280"/>
            <a:ext cx="2194560" cy="502920"/>
          </a:xfrm>
          <a:prstGeom prst="rect">
            <a:avLst/>
          </a:prstGeom>
          <a:noFill/>
          <a:ln/>
        </p:spPr>
        <p:txBody>
          <a:bodyPr wrap="square" lIns="0" tIns="0" rIns="0" bIns="0" rtlCol="0" anchor="ctr"/>
          <a:lstStyle/>
          <a:p>
            <a:pPr indent="0" marL="0">
              <a:lnSpc>
                <a:spcPts val="1400"/>
              </a:lnSpc>
              <a:buNone/>
            </a:pPr>
            <a:r>
              <a:rPr lang="en-US" sz="1100" dirty="0">
                <a:solidFill>
                  <a:srgbClr val="94A3B8"/>
                </a:solidFill>
                <a:latin typeface="Calibri" pitchFamily="34" charset="0"/>
                <a:ea typeface="Calibri" pitchFamily="34" charset="-122"/>
                <a:cs typeface="Calibri" pitchFamily="34" charset="-120"/>
              </a:rPr>
              <a:t>Odisha super cyclone</a:t>
            </a:r>
            <a:endParaRPr lang="en-US" sz="1100" dirty="0"/>
          </a:p>
          <a:p>
            <a:pPr indent="0" marL="0">
              <a:lnSpc>
                <a:spcPts val="1400"/>
              </a:lnSpc>
              <a:buNone/>
            </a:pPr>
            <a:r>
              <a:rPr lang="en-US" sz="1100" dirty="0">
                <a:solidFill>
                  <a:srgbClr val="94A3B8"/>
                </a:solidFill>
                <a:latin typeface="Calibri" pitchFamily="34" charset="0"/>
                <a:ea typeface="Calibri" pitchFamily="34" charset="-122"/>
                <a:cs typeface="Calibri" pitchFamily="34" charset="-120"/>
              </a:rPr>
              <a:t>~10,000 deaths</a:t>
            </a:r>
            <a:endParaRPr lang="en-US" sz="1100" dirty="0"/>
          </a:p>
        </p:txBody>
      </p:sp>
      <p:sp>
        <p:nvSpPr>
          <p:cNvPr id="25" name="Text 23"/>
          <p:cNvSpPr/>
          <p:nvPr/>
        </p:nvSpPr>
        <p:spPr>
          <a:xfrm>
            <a:off x="9326880" y="2926080"/>
            <a:ext cx="2194560" cy="365760"/>
          </a:xfrm>
          <a:prstGeom prst="rect">
            <a:avLst/>
          </a:prstGeom>
          <a:noFill/>
          <a:ln/>
        </p:spPr>
        <p:txBody>
          <a:bodyPr wrap="square" lIns="0" tIns="0" rIns="0" bIns="0" rtlCol="0" anchor="ctr"/>
          <a:lstStyle/>
          <a:p>
            <a:pPr indent="0" marL="0">
              <a:buNone/>
            </a:pPr>
            <a:r>
              <a:rPr lang="en-US" sz="2200" b="1" dirty="0">
                <a:solidFill>
                  <a:srgbClr val="FFFFFF"/>
                </a:solidFill>
                <a:latin typeface="Arial" pitchFamily="34" charset="0"/>
                <a:ea typeface="Arial" pitchFamily="34" charset="-122"/>
                <a:cs typeface="Arial" pitchFamily="34" charset="-120"/>
              </a:rPr>
              <a:t>2019</a:t>
            </a:r>
            <a:endParaRPr lang="en-US" sz="2200" dirty="0"/>
          </a:p>
        </p:txBody>
      </p:sp>
      <p:sp>
        <p:nvSpPr>
          <p:cNvPr id="26" name="Text 24"/>
          <p:cNvSpPr/>
          <p:nvPr/>
        </p:nvSpPr>
        <p:spPr>
          <a:xfrm>
            <a:off x="9326880" y="3291840"/>
            <a:ext cx="2194560" cy="731520"/>
          </a:xfrm>
          <a:prstGeom prst="rect">
            <a:avLst/>
          </a:prstGeom>
          <a:noFill/>
          <a:ln/>
        </p:spPr>
        <p:txBody>
          <a:bodyPr wrap="square" lIns="0" tIns="0" rIns="0" bIns="0" rtlCol="0" anchor="ctr"/>
          <a:lstStyle/>
          <a:p>
            <a:pPr indent="0" marL="0">
              <a:lnSpc>
                <a:spcPts val="1400"/>
              </a:lnSpc>
              <a:buNone/>
            </a:pPr>
            <a:r>
              <a:rPr lang="en-US" sz="1100" dirty="0">
                <a:solidFill>
                  <a:srgbClr val="94A3B8"/>
                </a:solidFill>
                <a:latin typeface="Calibri" pitchFamily="34" charset="0"/>
                <a:ea typeface="Calibri" pitchFamily="34" charset="-122"/>
                <a:cs typeface="Calibri" pitchFamily="34" charset="-120"/>
              </a:rPr>
              <a:t>Cyclone Fani, same intensity</a:t>
            </a:r>
            <a:endParaRPr lang="en-US" sz="1100" dirty="0"/>
          </a:p>
          <a:p>
            <a:pPr indent="0" marL="0">
              <a:lnSpc>
                <a:spcPts val="1400"/>
              </a:lnSpc>
              <a:buNone/>
            </a:pPr>
            <a:r>
              <a:rPr lang="en-US" sz="1100" dirty="0">
                <a:solidFill>
                  <a:srgbClr val="94A3B8"/>
                </a:solidFill>
                <a:latin typeface="Calibri" pitchFamily="34" charset="0"/>
                <a:ea typeface="Calibri" pitchFamily="34" charset="-122"/>
                <a:cs typeface="Calibri" pitchFamily="34" charset="-120"/>
              </a:rPr>
              <a:t>1.2 million evacuated in 48h</a:t>
            </a:r>
            <a:endParaRPr lang="en-US" sz="1100" dirty="0"/>
          </a:p>
          <a:p>
            <a:pPr indent="0" marL="0">
              <a:lnSpc>
                <a:spcPts val="1400"/>
              </a:lnSpc>
              <a:buNone/>
            </a:pPr>
            <a:r>
              <a:rPr lang="en-US" sz="1100" dirty="0">
                <a:solidFill>
                  <a:srgbClr val="94A3B8"/>
                </a:solidFill>
                <a:latin typeface="Calibri" pitchFamily="34" charset="0"/>
                <a:ea typeface="Calibri" pitchFamily="34" charset="-122"/>
                <a:cs typeface="Calibri" pitchFamily="34" charset="-120"/>
              </a:rPr>
              <a:t>89 deaths</a:t>
            </a:r>
            <a:endParaRPr lang="en-US" sz="1100" dirty="0"/>
          </a:p>
        </p:txBody>
      </p:sp>
      <p:sp>
        <p:nvSpPr>
          <p:cNvPr id="27" name="Text 25"/>
          <p:cNvSpPr/>
          <p:nvPr/>
        </p:nvSpPr>
        <p:spPr>
          <a:xfrm>
            <a:off x="9326880" y="4206240"/>
            <a:ext cx="2194560" cy="777240"/>
          </a:xfrm>
          <a:prstGeom prst="rect">
            <a:avLst/>
          </a:prstGeom>
          <a:noFill/>
          <a:ln/>
        </p:spPr>
        <p:txBody>
          <a:bodyPr wrap="square" lIns="0" tIns="0" rIns="0" bIns="0" rtlCol="0" anchor="ctr"/>
          <a:lstStyle/>
          <a:p>
            <a:pPr indent="0" marL="0">
              <a:lnSpc>
                <a:spcPts val="1400"/>
              </a:lnSpc>
              <a:buNone/>
            </a:pPr>
            <a:r>
              <a:rPr lang="en-US" sz="1100" b="1" dirty="0">
                <a:solidFill>
                  <a:srgbClr val="FCA5A5"/>
                </a:solidFill>
                <a:latin typeface="Calibri" pitchFamily="34" charset="0"/>
                <a:ea typeface="Calibri" pitchFamily="34" charset="-122"/>
                <a:cs typeface="Calibri" pitchFamily="34" charset="-120"/>
              </a:rPr>
              <a:t>Warning and evacuation are solved.</a:t>
            </a:r>
            <a:endParaRPr lang="en-US" sz="1100" dirty="0"/>
          </a:p>
          <a:p>
            <a:pPr indent="0" marL="0">
              <a:lnSpc>
                <a:spcPts val="1400"/>
              </a:lnSpc>
              <a:buNone/>
            </a:pPr>
            <a:r>
              <a:rPr lang="en-US" sz="1100" b="1" dirty="0">
                <a:solidFill>
                  <a:srgbClr val="FCA5A5"/>
                </a:solidFill>
                <a:latin typeface="Calibri" pitchFamily="34" charset="0"/>
                <a:ea typeface="Calibri" pitchFamily="34" charset="-122"/>
                <a:cs typeface="Calibri" pitchFamily="34" charset="-120"/>
              </a:rPr>
              <a:t>The residual deaths are a coordination failure.</a:t>
            </a:r>
            <a:endParaRPr lang="en-US" sz="1100" dirty="0"/>
          </a:p>
        </p:txBody>
      </p:sp>
      <p:sp>
        <p:nvSpPr>
          <p:cNvPr id="28" name="Text 26"/>
          <p:cNvSpPr/>
          <p:nvPr/>
        </p:nvSpPr>
        <p:spPr>
          <a:xfrm>
            <a:off x="502920" y="5349240"/>
            <a:ext cx="11155680" cy="457200"/>
          </a:xfrm>
          <a:prstGeom prst="rect">
            <a:avLst/>
          </a:prstGeom>
          <a:noFill/>
          <a:ln/>
        </p:spPr>
        <p:txBody>
          <a:bodyPr wrap="square" lIns="0" tIns="0" rIns="0" bIns="0" rtlCol="0" anchor="ctr"/>
          <a:lstStyle/>
          <a:p>
            <a:pPr indent="0" marL="0">
              <a:buNone/>
            </a:pPr>
            <a:r>
              <a:rPr lang="en-US" sz="1300" b="1" dirty="0">
                <a:solidFill>
                  <a:srgbClr val="0F172A"/>
                </a:solidFill>
                <a:latin typeface="Calibri" pitchFamily="34" charset="0"/>
                <a:ea typeface="Calibri" pitchFamily="34" charset="-122"/>
                <a:cs typeface="Calibri" pitchFamily="34" charset="-120"/>
              </a:rPr>
              <a:t>Design consequence: we build nothing in the first two rows. We consume IMD and SACHET, and own the two broken ones.</a:t>
            </a:r>
            <a:endParaRPr lang="en-US" sz="1300" dirty="0"/>
          </a:p>
        </p:txBody>
      </p:sp>
      <p:sp>
        <p:nvSpPr>
          <p:cNvPr id="29" name="Text 27"/>
          <p:cNvSpPr/>
          <p:nvPr/>
        </p:nvSpPr>
        <p:spPr>
          <a:xfrm>
            <a:off x="502920" y="6419088"/>
            <a:ext cx="11155680" cy="274320"/>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Sources: NDMA flood hazard profile; Cyclone Fani (2019) response record</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02920" y="310896"/>
            <a:ext cx="640080" cy="457200"/>
          </a:xfrm>
          <a:prstGeom prst="rect">
            <a:avLst/>
          </a:prstGeom>
          <a:noFill/>
          <a:ln/>
        </p:spPr>
        <p:txBody>
          <a:bodyPr wrap="square" lIns="0" tIns="0" rIns="0" bIns="0" rtlCol="0" anchor="ctr"/>
          <a:lstStyle/>
          <a:p>
            <a:pPr algn="l" indent="0" marL="0">
              <a:buNone/>
            </a:pPr>
            <a:r>
              <a:rPr lang="en-US" sz="2600" b="1" dirty="0">
                <a:solidFill>
                  <a:srgbClr val="DC2626"/>
                </a:solidFill>
                <a:latin typeface="Arial" pitchFamily="34" charset="0"/>
                <a:ea typeface="Arial" pitchFamily="34" charset="-122"/>
                <a:cs typeface="Arial" pitchFamily="34" charset="-120"/>
              </a:rPr>
              <a:t>02</a:t>
            </a:r>
            <a:endParaRPr lang="en-US" sz="2600" dirty="0"/>
          </a:p>
        </p:txBody>
      </p:sp>
      <p:sp>
        <p:nvSpPr>
          <p:cNvPr id="3" name="Text 1"/>
          <p:cNvSpPr/>
          <p:nvPr/>
        </p:nvSpPr>
        <p:spPr>
          <a:xfrm>
            <a:off x="1143000" y="274320"/>
            <a:ext cx="8778240" cy="530352"/>
          </a:xfrm>
          <a:prstGeom prst="rect">
            <a:avLst/>
          </a:prstGeom>
          <a:noFill/>
          <a:ln/>
        </p:spPr>
        <p:txBody>
          <a:bodyPr wrap="square" lIns="0" tIns="0" rIns="0" bIns="0" rtlCol="0" anchor="ctr"/>
          <a:lstStyle/>
          <a:p>
            <a:pPr indent="0" marL="0">
              <a:buNone/>
            </a:pPr>
            <a:r>
              <a:rPr lang="en-US" sz="2800" b="1" dirty="0">
                <a:solidFill>
                  <a:srgbClr val="0F172A"/>
                </a:solidFill>
                <a:latin typeface="Arial" pitchFamily="34" charset="0"/>
                <a:ea typeface="Arial" pitchFamily="34" charset="-122"/>
                <a:cs typeface="Arial" pitchFamily="34" charset="-120"/>
              </a:rPr>
              <a:t>What actually breaks today</a:t>
            </a:r>
            <a:endParaRPr lang="en-US" sz="2800" dirty="0"/>
          </a:p>
        </p:txBody>
      </p:sp>
      <p:sp>
        <p:nvSpPr>
          <p:cNvPr id="4" name="Text 2"/>
          <p:cNvSpPr/>
          <p:nvPr/>
        </p:nvSpPr>
        <p:spPr>
          <a:xfrm>
            <a:off x="1161288" y="795528"/>
            <a:ext cx="10424160" cy="310896"/>
          </a:xfrm>
          <a:prstGeom prst="rect">
            <a:avLst/>
          </a:prstGeom>
          <a:noFill/>
          <a:ln/>
        </p:spPr>
        <p:txBody>
          <a:bodyPr wrap="square" lIns="0" tIns="0" rIns="0" bIns="0" rtlCol="0" anchor="t"/>
          <a:lstStyle/>
          <a:p>
            <a:pPr indent="0" marL="0">
              <a:buNone/>
            </a:pPr>
            <a:r>
              <a:rPr lang="en-US" sz="1300" i="1" dirty="0">
                <a:solidFill>
                  <a:srgbClr val="64748B"/>
                </a:solidFill>
                <a:latin typeface="Calibri" pitchFamily="34" charset="0"/>
                <a:ea typeface="Calibri" pitchFamily="34" charset="-122"/>
                <a:cs typeface="Calibri" pitchFamily="34" charset="-120"/>
              </a:rPr>
              <a:t>Observed operational failures in a District Emergency Operations Centre, and the mechanism that answers each.</a:t>
            </a:r>
            <a:endParaRPr lang="en-US" sz="1300" dirty="0"/>
          </a:p>
        </p:txBody>
      </p:sp>
      <p:sp>
        <p:nvSpPr>
          <p:cNvPr id="5" name="Shape 3"/>
          <p:cNvSpPr/>
          <p:nvPr/>
        </p:nvSpPr>
        <p:spPr>
          <a:xfrm>
            <a:off x="502920" y="1298448"/>
            <a:ext cx="5440680" cy="1371600"/>
          </a:xfrm>
          <a:prstGeom prst="roundRect">
            <a:avLst>
              <a:gd name="adj" fmla="val 4000"/>
            </a:avLst>
          </a:prstGeom>
          <a:solidFill>
            <a:srgbClr val="FFFFFF"/>
          </a:solidFill>
          <a:ln w="12700">
            <a:solidFill>
              <a:srgbClr val="CBD5E1"/>
            </a:solidFill>
            <a:prstDash val="solid"/>
          </a:ln>
        </p:spPr>
      </p:sp>
      <p:sp>
        <p:nvSpPr>
          <p:cNvPr id="6" name="Shape 4"/>
          <p:cNvSpPr/>
          <p:nvPr/>
        </p:nvSpPr>
        <p:spPr>
          <a:xfrm>
            <a:off x="704088" y="1517904"/>
            <a:ext cx="310896" cy="310896"/>
          </a:xfrm>
          <a:prstGeom prst="ellipse">
            <a:avLst/>
          </a:prstGeom>
          <a:solidFill>
            <a:srgbClr val="DC2626"/>
          </a:solidFill>
          <a:ln/>
        </p:spPr>
      </p:sp>
      <p:sp>
        <p:nvSpPr>
          <p:cNvPr id="7" name="Text 5"/>
          <p:cNvSpPr/>
          <p:nvPr/>
        </p:nvSpPr>
        <p:spPr>
          <a:xfrm>
            <a:off x="704088" y="1536192"/>
            <a:ext cx="310896"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1</a:t>
            </a:r>
            <a:endParaRPr lang="en-US" sz="1200" dirty="0"/>
          </a:p>
        </p:txBody>
      </p:sp>
      <p:sp>
        <p:nvSpPr>
          <p:cNvPr id="8" name="Text 6"/>
          <p:cNvSpPr/>
          <p:nvPr/>
        </p:nvSpPr>
        <p:spPr>
          <a:xfrm>
            <a:off x="1124712" y="1481328"/>
            <a:ext cx="4572000" cy="274320"/>
          </a:xfrm>
          <a:prstGeom prst="rect">
            <a:avLst/>
          </a:prstGeom>
          <a:noFill/>
          <a:ln/>
        </p:spPr>
        <p:txBody>
          <a:bodyPr wrap="square" lIns="0" tIns="0" rIns="0" bIns="0" rtlCol="0" anchor="ctr"/>
          <a:lstStyle/>
          <a:p>
            <a:pPr indent="0" marL="0">
              <a:buNone/>
            </a:pPr>
            <a:r>
              <a:rPr lang="en-US" sz="1400" b="1" dirty="0">
                <a:solidFill>
                  <a:srgbClr val="0F172A"/>
                </a:solidFill>
                <a:latin typeface="Arial" pitchFamily="34" charset="0"/>
                <a:ea typeface="Arial" pitchFamily="34" charset="-122"/>
                <a:cs typeface="Arial" pitchFamily="34" charset="-120"/>
              </a:rPr>
              <a:t>200 calls, one bridge</a:t>
            </a:r>
            <a:endParaRPr lang="en-US" sz="1400" dirty="0"/>
          </a:p>
        </p:txBody>
      </p:sp>
      <p:sp>
        <p:nvSpPr>
          <p:cNvPr id="9" name="Text 7"/>
          <p:cNvSpPr/>
          <p:nvPr/>
        </p:nvSpPr>
        <p:spPr>
          <a:xfrm>
            <a:off x="1124712" y="1783080"/>
            <a:ext cx="4572000" cy="292608"/>
          </a:xfrm>
          <a:prstGeom prst="rect">
            <a:avLst/>
          </a:prstGeom>
          <a:noFill/>
          <a:ln/>
        </p:spPr>
        <p:txBody>
          <a:bodyPr wrap="square" lIns="0" tIns="0" rIns="0" bIns="0" rtlCol="0" anchor="ctr"/>
          <a:lstStyle/>
          <a:p>
            <a:pPr indent="0" marL="0">
              <a:buNone/>
            </a:pPr>
            <a:r>
              <a:rPr lang="en-US" sz="1050" dirty="0">
                <a:solidFill>
                  <a:srgbClr val="64748B"/>
                </a:solidFill>
                <a:latin typeface="Calibri" pitchFamily="34" charset="0"/>
                <a:ea typeface="Calibri" pitchFamily="34" charset="-122"/>
                <a:cs typeface="Calibri" pitchFamily="34" charset="-120"/>
              </a:rPr>
              <a:t>No deduplication. The operator triages by whoever calls most.</a:t>
            </a:r>
            <a:endParaRPr lang="en-US" sz="1050" dirty="0"/>
          </a:p>
        </p:txBody>
      </p:sp>
      <p:sp>
        <p:nvSpPr>
          <p:cNvPr id="10" name="Text 8"/>
          <p:cNvSpPr/>
          <p:nvPr/>
        </p:nvSpPr>
        <p:spPr>
          <a:xfrm>
            <a:off x="1124712" y="2121408"/>
            <a:ext cx="4572000" cy="438912"/>
          </a:xfrm>
          <a:prstGeom prst="rect">
            <a:avLst/>
          </a:prstGeom>
          <a:noFill/>
          <a:ln/>
        </p:spPr>
        <p:txBody>
          <a:bodyPr wrap="square" lIns="0" tIns="0" rIns="0" bIns="0" rtlCol="0" anchor="ctr"/>
          <a:lstStyle/>
          <a:p>
            <a:pPr indent="0" marL="0">
              <a:buNone/>
            </a:pPr>
            <a:r>
              <a:rPr lang="en-US" sz="1100" b="1" dirty="0">
                <a:solidFill>
                  <a:srgbClr val="DC2626"/>
                </a:solidFill>
                <a:latin typeface="Calibri" pitchFamily="34" charset="0"/>
                <a:ea typeface="Calibri" pitchFamily="34" charset="-122"/>
                <a:cs typeface="Calibri" pitchFamily="34" charset="-120"/>
              </a:rPr>
              <a:t>Spatio-temporal DBSCAN clustering → 200 reports become 12 incidents</a:t>
            </a:r>
            <a:endParaRPr lang="en-US" sz="1100" dirty="0"/>
          </a:p>
        </p:txBody>
      </p:sp>
      <p:sp>
        <p:nvSpPr>
          <p:cNvPr id="11" name="Shape 9"/>
          <p:cNvSpPr/>
          <p:nvPr/>
        </p:nvSpPr>
        <p:spPr>
          <a:xfrm>
            <a:off x="6217920" y="1298448"/>
            <a:ext cx="5440680" cy="1371600"/>
          </a:xfrm>
          <a:prstGeom prst="roundRect">
            <a:avLst>
              <a:gd name="adj" fmla="val 4000"/>
            </a:avLst>
          </a:prstGeom>
          <a:solidFill>
            <a:srgbClr val="FFFFFF"/>
          </a:solidFill>
          <a:ln w="12700">
            <a:solidFill>
              <a:srgbClr val="CBD5E1"/>
            </a:solidFill>
            <a:prstDash val="solid"/>
          </a:ln>
        </p:spPr>
      </p:sp>
      <p:sp>
        <p:nvSpPr>
          <p:cNvPr id="12" name="Shape 10"/>
          <p:cNvSpPr/>
          <p:nvPr/>
        </p:nvSpPr>
        <p:spPr>
          <a:xfrm>
            <a:off x="6419088" y="1517904"/>
            <a:ext cx="310896" cy="310896"/>
          </a:xfrm>
          <a:prstGeom prst="ellipse">
            <a:avLst/>
          </a:prstGeom>
          <a:solidFill>
            <a:srgbClr val="DC2626"/>
          </a:solidFill>
          <a:ln/>
        </p:spPr>
      </p:sp>
      <p:sp>
        <p:nvSpPr>
          <p:cNvPr id="13" name="Text 11"/>
          <p:cNvSpPr/>
          <p:nvPr/>
        </p:nvSpPr>
        <p:spPr>
          <a:xfrm>
            <a:off x="6419088" y="1536192"/>
            <a:ext cx="310896"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2</a:t>
            </a:r>
            <a:endParaRPr lang="en-US" sz="1200" dirty="0"/>
          </a:p>
        </p:txBody>
      </p:sp>
      <p:sp>
        <p:nvSpPr>
          <p:cNvPr id="14" name="Text 12"/>
          <p:cNvSpPr/>
          <p:nvPr/>
        </p:nvSpPr>
        <p:spPr>
          <a:xfrm>
            <a:off x="6839712" y="1481328"/>
            <a:ext cx="4572000" cy="274320"/>
          </a:xfrm>
          <a:prstGeom prst="rect">
            <a:avLst/>
          </a:prstGeom>
          <a:noFill/>
          <a:ln/>
        </p:spPr>
        <p:txBody>
          <a:bodyPr wrap="square" lIns="0" tIns="0" rIns="0" bIns="0" rtlCol="0" anchor="ctr"/>
          <a:lstStyle/>
          <a:p>
            <a:pPr indent="0" marL="0">
              <a:buNone/>
            </a:pPr>
            <a:r>
              <a:rPr lang="en-US" sz="1400" b="1" dirty="0">
                <a:solidFill>
                  <a:srgbClr val="0F172A"/>
                </a:solidFill>
                <a:latin typeface="Arial" pitchFamily="34" charset="0"/>
                <a:ea typeface="Arial" pitchFamily="34" charset="-122"/>
                <a:cs typeface="Arial" pitchFamily="34" charset="-120"/>
              </a:rPr>
              <a:t>Dispatch by intuition</a:t>
            </a:r>
            <a:endParaRPr lang="en-US" sz="1400" dirty="0"/>
          </a:p>
        </p:txBody>
      </p:sp>
      <p:sp>
        <p:nvSpPr>
          <p:cNvPr id="15" name="Text 13"/>
          <p:cNvSpPr/>
          <p:nvPr/>
        </p:nvSpPr>
        <p:spPr>
          <a:xfrm>
            <a:off x="6839712" y="1783080"/>
            <a:ext cx="4572000" cy="292608"/>
          </a:xfrm>
          <a:prstGeom prst="rect">
            <a:avLst/>
          </a:prstGeom>
          <a:noFill/>
          <a:ln/>
        </p:spPr>
        <p:txBody>
          <a:bodyPr wrap="square" lIns="0" tIns="0" rIns="0" bIns="0" rtlCol="0" anchor="ctr"/>
          <a:lstStyle/>
          <a:p>
            <a:pPr indent="0" marL="0">
              <a:buNone/>
            </a:pPr>
            <a:r>
              <a:rPr lang="en-US" sz="1050" dirty="0">
                <a:solidFill>
                  <a:srgbClr val="64748B"/>
                </a:solidFill>
                <a:latin typeface="Calibri" pitchFamily="34" charset="0"/>
                <a:ea typeface="Calibri" pitchFamily="34" charset="-122"/>
                <a:cs typeface="Calibri" pitchFamily="34" charset="-120"/>
              </a:rPr>
              <a:t>Cognitively impossible past ~15 simultaneous incidents.</a:t>
            </a:r>
            <a:endParaRPr lang="en-US" sz="1050" dirty="0"/>
          </a:p>
        </p:txBody>
      </p:sp>
      <p:sp>
        <p:nvSpPr>
          <p:cNvPr id="16" name="Text 14"/>
          <p:cNvSpPr/>
          <p:nvPr/>
        </p:nvSpPr>
        <p:spPr>
          <a:xfrm>
            <a:off x="6839712" y="2121408"/>
            <a:ext cx="4572000" cy="438912"/>
          </a:xfrm>
          <a:prstGeom prst="rect">
            <a:avLst/>
          </a:prstGeom>
          <a:noFill/>
          <a:ln/>
        </p:spPr>
        <p:txBody>
          <a:bodyPr wrap="square" lIns="0" tIns="0" rIns="0" bIns="0" rtlCol="0" anchor="ctr"/>
          <a:lstStyle/>
          <a:p>
            <a:pPr indent="0" marL="0">
              <a:buNone/>
            </a:pPr>
            <a:r>
              <a:rPr lang="en-US" sz="1100" b="1" dirty="0">
                <a:solidFill>
                  <a:srgbClr val="DC2626"/>
                </a:solidFill>
                <a:latin typeface="Calibri" pitchFamily="34" charset="0"/>
                <a:ea typeface="Calibri" pitchFamily="34" charset="-122"/>
                <a:cs typeface="Calibri" pitchFamily="34" charset="-120"/>
              </a:rPr>
              <a:t>Hungarian optimal assignment over a real road-network cost matrix</a:t>
            </a:r>
            <a:endParaRPr lang="en-US" sz="1100" dirty="0"/>
          </a:p>
        </p:txBody>
      </p:sp>
      <p:sp>
        <p:nvSpPr>
          <p:cNvPr id="17" name="Shape 15"/>
          <p:cNvSpPr/>
          <p:nvPr/>
        </p:nvSpPr>
        <p:spPr>
          <a:xfrm>
            <a:off x="502920" y="2871216"/>
            <a:ext cx="5440680" cy="1371600"/>
          </a:xfrm>
          <a:prstGeom prst="roundRect">
            <a:avLst>
              <a:gd name="adj" fmla="val 4000"/>
            </a:avLst>
          </a:prstGeom>
          <a:solidFill>
            <a:srgbClr val="FFFFFF"/>
          </a:solidFill>
          <a:ln w="12700">
            <a:solidFill>
              <a:srgbClr val="CBD5E1"/>
            </a:solidFill>
            <a:prstDash val="solid"/>
          </a:ln>
        </p:spPr>
      </p:sp>
      <p:sp>
        <p:nvSpPr>
          <p:cNvPr id="18" name="Shape 16"/>
          <p:cNvSpPr/>
          <p:nvPr/>
        </p:nvSpPr>
        <p:spPr>
          <a:xfrm>
            <a:off x="704088" y="3090672"/>
            <a:ext cx="310896" cy="310896"/>
          </a:xfrm>
          <a:prstGeom prst="ellipse">
            <a:avLst/>
          </a:prstGeom>
          <a:solidFill>
            <a:srgbClr val="DC2626"/>
          </a:solidFill>
          <a:ln/>
        </p:spPr>
      </p:sp>
      <p:sp>
        <p:nvSpPr>
          <p:cNvPr id="19" name="Text 17"/>
          <p:cNvSpPr/>
          <p:nvPr/>
        </p:nvSpPr>
        <p:spPr>
          <a:xfrm>
            <a:off x="704088" y="3108960"/>
            <a:ext cx="310896"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3</a:t>
            </a:r>
            <a:endParaRPr lang="en-US" sz="1200" dirty="0"/>
          </a:p>
        </p:txBody>
      </p:sp>
      <p:sp>
        <p:nvSpPr>
          <p:cNvPr id="20" name="Text 18"/>
          <p:cNvSpPr/>
          <p:nvPr/>
        </p:nvSpPr>
        <p:spPr>
          <a:xfrm>
            <a:off x="1124712" y="3054096"/>
            <a:ext cx="4572000" cy="274320"/>
          </a:xfrm>
          <a:prstGeom prst="rect">
            <a:avLst/>
          </a:prstGeom>
          <a:noFill/>
          <a:ln/>
        </p:spPr>
        <p:txBody>
          <a:bodyPr wrap="square" lIns="0" tIns="0" rIns="0" bIns="0" rtlCol="0" anchor="ctr"/>
          <a:lstStyle/>
          <a:p>
            <a:pPr indent="0" marL="0">
              <a:buNone/>
            </a:pPr>
            <a:r>
              <a:rPr lang="en-US" sz="1400" b="1" dirty="0">
                <a:solidFill>
                  <a:srgbClr val="0F172A"/>
                </a:solidFill>
                <a:latin typeface="Arial" pitchFamily="34" charset="0"/>
                <a:ea typeface="Arial" pitchFamily="34" charset="-122"/>
                <a:cs typeface="Arial" pitchFamily="34" charset="-120"/>
              </a:rPr>
              <a:t>Relief follows cameras</a:t>
            </a:r>
            <a:endParaRPr lang="en-US" sz="1400" dirty="0"/>
          </a:p>
        </p:txBody>
      </p:sp>
      <p:sp>
        <p:nvSpPr>
          <p:cNvPr id="21" name="Text 19"/>
          <p:cNvSpPr/>
          <p:nvPr/>
        </p:nvSpPr>
        <p:spPr>
          <a:xfrm>
            <a:off x="1124712" y="3355848"/>
            <a:ext cx="4572000" cy="292608"/>
          </a:xfrm>
          <a:prstGeom prst="rect">
            <a:avLst/>
          </a:prstGeom>
          <a:noFill/>
          <a:ln/>
        </p:spPr>
        <p:txBody>
          <a:bodyPr wrap="square" lIns="0" tIns="0" rIns="0" bIns="0" rtlCol="0" anchor="ctr"/>
          <a:lstStyle/>
          <a:p>
            <a:pPr indent="0" marL="0">
              <a:buNone/>
            </a:pPr>
            <a:r>
              <a:rPr lang="en-US" sz="1050" dirty="0">
                <a:solidFill>
                  <a:srgbClr val="64748B"/>
                </a:solidFill>
                <a:latin typeface="Calibri" pitchFamily="34" charset="0"/>
                <a:ea typeface="Calibri" pitchFamily="34" charset="-122"/>
                <a:cs typeface="Calibri" pitchFamily="34" charset="-120"/>
              </a:rPr>
              <a:t>Call volume tracks phone signal, not need.</a:t>
            </a:r>
            <a:endParaRPr lang="en-US" sz="1050" dirty="0"/>
          </a:p>
        </p:txBody>
      </p:sp>
      <p:sp>
        <p:nvSpPr>
          <p:cNvPr id="22" name="Text 20"/>
          <p:cNvSpPr/>
          <p:nvPr/>
        </p:nvSpPr>
        <p:spPr>
          <a:xfrm>
            <a:off x="1124712" y="3694176"/>
            <a:ext cx="4572000" cy="438912"/>
          </a:xfrm>
          <a:prstGeom prst="rect">
            <a:avLst/>
          </a:prstGeom>
          <a:noFill/>
          <a:ln/>
        </p:spPr>
        <p:txBody>
          <a:bodyPr wrap="square" lIns="0" tIns="0" rIns="0" bIns="0" rtlCol="0" anchor="ctr"/>
          <a:lstStyle/>
          <a:p>
            <a:pPr indent="0" marL="0">
              <a:buNone/>
            </a:pPr>
            <a:r>
              <a:rPr lang="en-US" sz="1100" b="1" dirty="0">
                <a:solidFill>
                  <a:srgbClr val="DC2626"/>
                </a:solidFill>
                <a:latin typeface="Calibri" pitchFamily="34" charset="0"/>
                <a:ea typeface="Calibri" pitchFamily="34" charset="-122"/>
                <a:cs typeface="Calibri" pitchFamily="34" charset="-120"/>
              </a:rPr>
              <a:t>Severity weighted by exposed population, not by report count</a:t>
            </a:r>
            <a:endParaRPr lang="en-US" sz="1100" dirty="0"/>
          </a:p>
        </p:txBody>
      </p:sp>
      <p:sp>
        <p:nvSpPr>
          <p:cNvPr id="23" name="Shape 21"/>
          <p:cNvSpPr/>
          <p:nvPr/>
        </p:nvSpPr>
        <p:spPr>
          <a:xfrm>
            <a:off x="6217920" y="2871216"/>
            <a:ext cx="5440680" cy="1371600"/>
          </a:xfrm>
          <a:prstGeom prst="roundRect">
            <a:avLst>
              <a:gd name="adj" fmla="val 4000"/>
            </a:avLst>
          </a:prstGeom>
          <a:solidFill>
            <a:srgbClr val="FFFFFF"/>
          </a:solidFill>
          <a:ln w="12700">
            <a:solidFill>
              <a:srgbClr val="CBD5E1"/>
            </a:solidFill>
            <a:prstDash val="solid"/>
          </a:ln>
        </p:spPr>
      </p:sp>
      <p:sp>
        <p:nvSpPr>
          <p:cNvPr id="24" name="Shape 22"/>
          <p:cNvSpPr/>
          <p:nvPr/>
        </p:nvSpPr>
        <p:spPr>
          <a:xfrm>
            <a:off x="6419088" y="3090672"/>
            <a:ext cx="310896" cy="310896"/>
          </a:xfrm>
          <a:prstGeom prst="ellipse">
            <a:avLst/>
          </a:prstGeom>
          <a:solidFill>
            <a:srgbClr val="DC2626"/>
          </a:solidFill>
          <a:ln/>
        </p:spPr>
      </p:sp>
      <p:sp>
        <p:nvSpPr>
          <p:cNvPr id="25" name="Text 23"/>
          <p:cNvSpPr/>
          <p:nvPr/>
        </p:nvSpPr>
        <p:spPr>
          <a:xfrm>
            <a:off x="6419088" y="3108960"/>
            <a:ext cx="310896"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4</a:t>
            </a:r>
            <a:endParaRPr lang="en-US" sz="1200" dirty="0"/>
          </a:p>
        </p:txBody>
      </p:sp>
      <p:sp>
        <p:nvSpPr>
          <p:cNvPr id="26" name="Text 24"/>
          <p:cNvSpPr/>
          <p:nvPr/>
        </p:nvSpPr>
        <p:spPr>
          <a:xfrm>
            <a:off x="6839712" y="3054096"/>
            <a:ext cx="4572000" cy="274320"/>
          </a:xfrm>
          <a:prstGeom prst="rect">
            <a:avLst/>
          </a:prstGeom>
          <a:noFill/>
          <a:ln/>
        </p:spPr>
        <p:txBody>
          <a:bodyPr wrap="square" lIns="0" tIns="0" rIns="0" bIns="0" rtlCol="0" anchor="ctr"/>
          <a:lstStyle/>
          <a:p>
            <a:pPr indent="0" marL="0">
              <a:buNone/>
            </a:pPr>
            <a:r>
              <a:rPr lang="en-US" sz="1400" b="1" dirty="0">
                <a:solidFill>
                  <a:srgbClr val="0F172A"/>
                </a:solidFill>
                <a:latin typeface="Arial" pitchFamily="34" charset="0"/>
                <a:ea typeface="Arial" pitchFamily="34" charset="-122"/>
                <a:cs typeface="Arial" pitchFamily="34" charset="-120"/>
              </a:rPr>
              <a:t>Which shelter is full?</a:t>
            </a:r>
            <a:endParaRPr lang="en-US" sz="1400" dirty="0"/>
          </a:p>
        </p:txBody>
      </p:sp>
      <p:sp>
        <p:nvSpPr>
          <p:cNvPr id="27" name="Text 25"/>
          <p:cNvSpPr/>
          <p:nvPr/>
        </p:nvSpPr>
        <p:spPr>
          <a:xfrm>
            <a:off x="6839712" y="3355848"/>
            <a:ext cx="4572000" cy="292608"/>
          </a:xfrm>
          <a:prstGeom prst="rect">
            <a:avLst/>
          </a:prstGeom>
          <a:noFill/>
          <a:ln/>
        </p:spPr>
        <p:txBody>
          <a:bodyPr wrap="square" lIns="0" tIns="0" rIns="0" bIns="0" rtlCol="0" anchor="ctr"/>
          <a:lstStyle/>
          <a:p>
            <a:pPr indent="0" marL="0">
              <a:buNone/>
            </a:pPr>
            <a:r>
              <a:rPr lang="en-US" sz="1050" dirty="0">
                <a:solidFill>
                  <a:srgbClr val="64748B"/>
                </a:solidFill>
                <a:latin typeface="Calibri" pitchFamily="34" charset="0"/>
                <a:ea typeface="Calibri" pitchFamily="34" charset="-122"/>
                <a:cs typeface="Calibri" pitchFamily="34" charset="-120"/>
              </a:rPr>
              <a:t>Occupancy written on paper at end of day.</a:t>
            </a:r>
            <a:endParaRPr lang="en-US" sz="1050" dirty="0"/>
          </a:p>
        </p:txBody>
      </p:sp>
      <p:sp>
        <p:nvSpPr>
          <p:cNvPr id="28" name="Text 26"/>
          <p:cNvSpPr/>
          <p:nvPr/>
        </p:nvSpPr>
        <p:spPr>
          <a:xfrm>
            <a:off x="6839712" y="3694176"/>
            <a:ext cx="4572000" cy="438912"/>
          </a:xfrm>
          <a:prstGeom prst="rect">
            <a:avLst/>
          </a:prstGeom>
          <a:noFill/>
          <a:ln/>
        </p:spPr>
        <p:txBody>
          <a:bodyPr wrap="square" lIns="0" tIns="0" rIns="0" bIns="0" rtlCol="0" anchor="ctr"/>
          <a:lstStyle/>
          <a:p>
            <a:pPr indent="0" marL="0">
              <a:buNone/>
            </a:pPr>
            <a:r>
              <a:rPr lang="en-US" sz="1100" b="1" dirty="0">
                <a:solidFill>
                  <a:srgbClr val="DC2626"/>
                </a:solidFill>
                <a:latin typeface="Calibri" pitchFamily="34" charset="0"/>
                <a:ea typeface="Calibri" pitchFamily="34" charset="-122"/>
                <a:cs typeface="Calibri" pitchFamily="34" charset="-120"/>
              </a:rPr>
              <a:t>Live capacity ledger + min-cost-flow overflow routing</a:t>
            </a:r>
            <a:endParaRPr lang="en-US" sz="1100" dirty="0"/>
          </a:p>
        </p:txBody>
      </p:sp>
      <p:sp>
        <p:nvSpPr>
          <p:cNvPr id="29" name="Shape 27"/>
          <p:cNvSpPr/>
          <p:nvPr/>
        </p:nvSpPr>
        <p:spPr>
          <a:xfrm>
            <a:off x="502920" y="4443984"/>
            <a:ext cx="5440680" cy="1371600"/>
          </a:xfrm>
          <a:prstGeom prst="roundRect">
            <a:avLst>
              <a:gd name="adj" fmla="val 4000"/>
            </a:avLst>
          </a:prstGeom>
          <a:solidFill>
            <a:srgbClr val="FFFFFF"/>
          </a:solidFill>
          <a:ln w="12700">
            <a:solidFill>
              <a:srgbClr val="CBD5E1"/>
            </a:solidFill>
            <a:prstDash val="solid"/>
          </a:ln>
        </p:spPr>
      </p:sp>
      <p:sp>
        <p:nvSpPr>
          <p:cNvPr id="30" name="Shape 28"/>
          <p:cNvSpPr/>
          <p:nvPr/>
        </p:nvSpPr>
        <p:spPr>
          <a:xfrm>
            <a:off x="704088" y="4663440"/>
            <a:ext cx="310896" cy="310896"/>
          </a:xfrm>
          <a:prstGeom prst="ellipse">
            <a:avLst/>
          </a:prstGeom>
          <a:solidFill>
            <a:srgbClr val="DC2626"/>
          </a:solidFill>
          <a:ln/>
        </p:spPr>
      </p:sp>
      <p:sp>
        <p:nvSpPr>
          <p:cNvPr id="31" name="Text 29"/>
          <p:cNvSpPr/>
          <p:nvPr/>
        </p:nvSpPr>
        <p:spPr>
          <a:xfrm>
            <a:off x="704088" y="4681728"/>
            <a:ext cx="310896"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5</a:t>
            </a:r>
            <a:endParaRPr lang="en-US" sz="1200" dirty="0"/>
          </a:p>
        </p:txBody>
      </p:sp>
      <p:sp>
        <p:nvSpPr>
          <p:cNvPr id="32" name="Text 30"/>
          <p:cNvSpPr/>
          <p:nvPr/>
        </p:nvSpPr>
        <p:spPr>
          <a:xfrm>
            <a:off x="1124712" y="4626864"/>
            <a:ext cx="4572000" cy="274320"/>
          </a:xfrm>
          <a:prstGeom prst="rect">
            <a:avLst/>
          </a:prstGeom>
          <a:noFill/>
          <a:ln/>
        </p:spPr>
        <p:txBody>
          <a:bodyPr wrap="square" lIns="0" tIns="0" rIns="0" bIns="0" rtlCol="0" anchor="ctr"/>
          <a:lstStyle/>
          <a:p>
            <a:pPr indent="0" marL="0">
              <a:buNone/>
            </a:pPr>
            <a:r>
              <a:rPr lang="en-US" sz="1400" b="1" dirty="0">
                <a:solidFill>
                  <a:srgbClr val="0F172A"/>
                </a:solidFill>
                <a:latin typeface="Arial" pitchFamily="34" charset="0"/>
                <a:ea typeface="Arial" pitchFamily="34" charset="-122"/>
                <a:cs typeface="Arial" pitchFamily="34" charset="-120"/>
              </a:rPr>
              <a:t>No-internet zones go dark</a:t>
            </a:r>
            <a:endParaRPr lang="en-US" sz="1400" dirty="0"/>
          </a:p>
        </p:txBody>
      </p:sp>
      <p:sp>
        <p:nvSpPr>
          <p:cNvPr id="33" name="Text 31"/>
          <p:cNvSpPr/>
          <p:nvPr/>
        </p:nvSpPr>
        <p:spPr>
          <a:xfrm>
            <a:off x="1124712" y="4928616"/>
            <a:ext cx="4572000" cy="292608"/>
          </a:xfrm>
          <a:prstGeom prst="rect">
            <a:avLst/>
          </a:prstGeom>
          <a:noFill/>
          <a:ln/>
        </p:spPr>
        <p:txBody>
          <a:bodyPr wrap="square" lIns="0" tIns="0" rIns="0" bIns="0" rtlCol="0" anchor="ctr"/>
          <a:lstStyle/>
          <a:p>
            <a:pPr indent="0" marL="0">
              <a:buNone/>
            </a:pPr>
            <a:r>
              <a:rPr lang="en-US" sz="1050" dirty="0">
                <a:solidFill>
                  <a:srgbClr val="64748B"/>
                </a:solidFill>
                <a:latin typeface="Calibri" pitchFamily="34" charset="0"/>
                <a:ea typeface="Calibri" pitchFamily="34" charset="-122"/>
                <a:cs typeface="Calibri" pitchFamily="34" charset="-120"/>
              </a:rPr>
              <a:t>Towers fail; every civic app assumes 4G.</a:t>
            </a:r>
            <a:endParaRPr lang="en-US" sz="1050" dirty="0"/>
          </a:p>
        </p:txBody>
      </p:sp>
      <p:sp>
        <p:nvSpPr>
          <p:cNvPr id="34" name="Text 32"/>
          <p:cNvSpPr/>
          <p:nvPr/>
        </p:nvSpPr>
        <p:spPr>
          <a:xfrm>
            <a:off x="1124712" y="5266944"/>
            <a:ext cx="4572000" cy="438912"/>
          </a:xfrm>
          <a:prstGeom prst="rect">
            <a:avLst/>
          </a:prstGeom>
          <a:noFill/>
          <a:ln/>
        </p:spPr>
        <p:txBody>
          <a:bodyPr wrap="square" lIns="0" tIns="0" rIns="0" bIns="0" rtlCol="0" anchor="ctr"/>
          <a:lstStyle/>
          <a:p>
            <a:pPr indent="0" marL="0">
              <a:buNone/>
            </a:pPr>
            <a:r>
              <a:rPr lang="en-US" sz="1100" b="1" dirty="0">
                <a:solidFill>
                  <a:srgbClr val="DC2626"/>
                </a:solidFill>
                <a:latin typeface="Calibri" pitchFamily="34" charset="0"/>
                <a:ea typeface="Calibri" pitchFamily="34" charset="-122"/>
                <a:cs typeface="Calibri" pitchFamily="34" charset="-120"/>
              </a:rPr>
              <a:t>Offline PWA queue, SMS grammar parser, IVR voice tree</a:t>
            </a:r>
            <a:endParaRPr lang="en-US" sz="1100" dirty="0"/>
          </a:p>
        </p:txBody>
      </p:sp>
      <p:sp>
        <p:nvSpPr>
          <p:cNvPr id="35" name="Shape 33"/>
          <p:cNvSpPr/>
          <p:nvPr/>
        </p:nvSpPr>
        <p:spPr>
          <a:xfrm>
            <a:off x="6217920" y="4443984"/>
            <a:ext cx="5440680" cy="1371600"/>
          </a:xfrm>
          <a:prstGeom prst="roundRect">
            <a:avLst>
              <a:gd name="adj" fmla="val 4000"/>
            </a:avLst>
          </a:prstGeom>
          <a:solidFill>
            <a:srgbClr val="FFFFFF"/>
          </a:solidFill>
          <a:ln w="12700">
            <a:solidFill>
              <a:srgbClr val="CBD5E1"/>
            </a:solidFill>
            <a:prstDash val="solid"/>
          </a:ln>
        </p:spPr>
      </p:sp>
      <p:sp>
        <p:nvSpPr>
          <p:cNvPr id="36" name="Shape 34"/>
          <p:cNvSpPr/>
          <p:nvPr/>
        </p:nvSpPr>
        <p:spPr>
          <a:xfrm>
            <a:off x="6419088" y="4663440"/>
            <a:ext cx="310896" cy="310896"/>
          </a:xfrm>
          <a:prstGeom prst="ellipse">
            <a:avLst/>
          </a:prstGeom>
          <a:solidFill>
            <a:srgbClr val="DC2626"/>
          </a:solidFill>
          <a:ln/>
        </p:spPr>
      </p:sp>
      <p:sp>
        <p:nvSpPr>
          <p:cNvPr id="37" name="Text 35"/>
          <p:cNvSpPr/>
          <p:nvPr/>
        </p:nvSpPr>
        <p:spPr>
          <a:xfrm>
            <a:off x="6419088" y="4681728"/>
            <a:ext cx="310896"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6</a:t>
            </a:r>
            <a:endParaRPr lang="en-US" sz="1200" dirty="0"/>
          </a:p>
        </p:txBody>
      </p:sp>
      <p:sp>
        <p:nvSpPr>
          <p:cNvPr id="38" name="Text 36"/>
          <p:cNvSpPr/>
          <p:nvPr/>
        </p:nvSpPr>
        <p:spPr>
          <a:xfrm>
            <a:off x="6839712" y="4626864"/>
            <a:ext cx="4572000" cy="274320"/>
          </a:xfrm>
          <a:prstGeom prst="rect">
            <a:avLst/>
          </a:prstGeom>
          <a:noFill/>
          <a:ln/>
        </p:spPr>
        <p:txBody>
          <a:bodyPr wrap="square" lIns="0" tIns="0" rIns="0" bIns="0" rtlCol="0" anchor="ctr"/>
          <a:lstStyle/>
          <a:p>
            <a:pPr indent="0" marL="0">
              <a:buNone/>
            </a:pPr>
            <a:r>
              <a:rPr lang="en-US" sz="1400" b="1" dirty="0">
                <a:solidFill>
                  <a:srgbClr val="0F172A"/>
                </a:solidFill>
                <a:latin typeface="Arial" pitchFamily="34" charset="0"/>
                <a:ea typeface="Arial" pitchFamily="34" charset="-122"/>
                <a:cs typeface="Arial" pitchFamily="34" charset="-120"/>
              </a:rPr>
              <a:t>Rumours flood the channel</a:t>
            </a:r>
            <a:endParaRPr lang="en-US" sz="1400" dirty="0"/>
          </a:p>
        </p:txBody>
      </p:sp>
      <p:sp>
        <p:nvSpPr>
          <p:cNvPr id="39" name="Text 37"/>
          <p:cNvSpPr/>
          <p:nvPr/>
        </p:nvSpPr>
        <p:spPr>
          <a:xfrm>
            <a:off x="6839712" y="4928616"/>
            <a:ext cx="4572000" cy="292608"/>
          </a:xfrm>
          <a:prstGeom prst="rect">
            <a:avLst/>
          </a:prstGeom>
          <a:noFill/>
          <a:ln/>
        </p:spPr>
        <p:txBody>
          <a:bodyPr wrap="square" lIns="0" tIns="0" rIns="0" bIns="0" rtlCol="0" anchor="ctr"/>
          <a:lstStyle/>
          <a:p>
            <a:pPr indent="0" marL="0">
              <a:buNone/>
            </a:pPr>
            <a:r>
              <a:rPr lang="en-US" sz="1050" dirty="0">
                <a:solidFill>
                  <a:srgbClr val="64748B"/>
                </a:solidFill>
                <a:latin typeface="Calibri" pitchFamily="34" charset="0"/>
                <a:ea typeface="Calibri" pitchFamily="34" charset="-122"/>
                <a:cs typeface="Calibri" pitchFamily="34" charset="-120"/>
              </a:rPr>
              <a:t>No provenance model on citizen input.</a:t>
            </a:r>
            <a:endParaRPr lang="en-US" sz="1050" dirty="0"/>
          </a:p>
        </p:txBody>
      </p:sp>
      <p:sp>
        <p:nvSpPr>
          <p:cNvPr id="40" name="Text 38"/>
          <p:cNvSpPr/>
          <p:nvPr/>
        </p:nvSpPr>
        <p:spPr>
          <a:xfrm>
            <a:off x="6839712" y="5266944"/>
            <a:ext cx="4572000" cy="438912"/>
          </a:xfrm>
          <a:prstGeom prst="rect">
            <a:avLst/>
          </a:prstGeom>
          <a:noFill/>
          <a:ln/>
        </p:spPr>
        <p:txBody>
          <a:bodyPr wrap="square" lIns="0" tIns="0" rIns="0" bIns="0" rtlCol="0" anchor="ctr"/>
          <a:lstStyle/>
          <a:p>
            <a:pPr indent="0" marL="0">
              <a:buNone/>
            </a:pPr>
            <a:r>
              <a:rPr lang="en-US" sz="1100" b="1" dirty="0">
                <a:solidFill>
                  <a:srgbClr val="DC2626"/>
                </a:solidFill>
                <a:latin typeface="Calibri" pitchFamily="34" charset="0"/>
                <a:ea typeface="Calibri" pitchFamily="34" charset="-122"/>
                <a:cs typeface="Calibri" pitchFamily="34" charset="-120"/>
              </a:rPr>
              <a:t>Trust score: GPS accuracy, photo EXIF, corroboration, history</a:t>
            </a:r>
            <a:endParaRPr lang="en-US" sz="1100" dirty="0"/>
          </a:p>
        </p:txBody>
      </p:sp>
      <p:sp>
        <p:nvSpPr>
          <p:cNvPr id="41" name="Text 39"/>
          <p:cNvSpPr/>
          <p:nvPr/>
        </p:nvSpPr>
        <p:spPr>
          <a:xfrm>
            <a:off x="502920" y="6419088"/>
            <a:ext cx="11155680" cy="274320"/>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Under the Disaster Management Act 2005 the District Collector is the Incident Commander — the DEOC, not a national centre, is our user.</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02920" y="310896"/>
            <a:ext cx="640080" cy="457200"/>
          </a:xfrm>
          <a:prstGeom prst="rect">
            <a:avLst/>
          </a:prstGeom>
          <a:noFill/>
          <a:ln/>
        </p:spPr>
        <p:txBody>
          <a:bodyPr wrap="square" lIns="0" tIns="0" rIns="0" bIns="0" rtlCol="0" anchor="ctr"/>
          <a:lstStyle/>
          <a:p>
            <a:pPr algn="l" indent="0" marL="0">
              <a:buNone/>
            </a:pPr>
            <a:r>
              <a:rPr lang="en-US" sz="2600" b="1" dirty="0">
                <a:solidFill>
                  <a:srgbClr val="DC2626"/>
                </a:solidFill>
                <a:latin typeface="Arial" pitchFamily="34" charset="0"/>
                <a:ea typeface="Arial" pitchFamily="34" charset="-122"/>
                <a:cs typeface="Arial" pitchFamily="34" charset="-120"/>
              </a:rPr>
              <a:t>03</a:t>
            </a:r>
            <a:endParaRPr lang="en-US" sz="2600" dirty="0"/>
          </a:p>
        </p:txBody>
      </p:sp>
      <p:sp>
        <p:nvSpPr>
          <p:cNvPr id="3" name="Text 1"/>
          <p:cNvSpPr/>
          <p:nvPr/>
        </p:nvSpPr>
        <p:spPr>
          <a:xfrm>
            <a:off x="1143000" y="274320"/>
            <a:ext cx="8778240" cy="530352"/>
          </a:xfrm>
          <a:prstGeom prst="rect">
            <a:avLst/>
          </a:prstGeom>
          <a:noFill/>
          <a:ln/>
        </p:spPr>
        <p:txBody>
          <a:bodyPr wrap="square" lIns="0" tIns="0" rIns="0" bIns="0" rtlCol="0" anchor="ctr"/>
          <a:lstStyle/>
          <a:p>
            <a:pPr indent="0" marL="0">
              <a:buNone/>
            </a:pPr>
            <a:r>
              <a:rPr lang="en-US" sz="2800" b="1" dirty="0">
                <a:solidFill>
                  <a:srgbClr val="0F172A"/>
                </a:solidFill>
                <a:latin typeface="Arial" pitchFamily="34" charset="0"/>
                <a:ea typeface="Arial" pitchFamily="34" charset="-122"/>
                <a:cs typeface="Arial" pitchFamily="34" charset="-120"/>
              </a:rPr>
              <a:t>How it works — the core loop</a:t>
            </a:r>
            <a:endParaRPr lang="en-US" sz="2800" dirty="0"/>
          </a:p>
        </p:txBody>
      </p:sp>
      <p:sp>
        <p:nvSpPr>
          <p:cNvPr id="4" name="Text 2"/>
          <p:cNvSpPr/>
          <p:nvPr/>
        </p:nvSpPr>
        <p:spPr>
          <a:xfrm>
            <a:off x="1161288" y="795528"/>
            <a:ext cx="10424160" cy="310896"/>
          </a:xfrm>
          <a:prstGeom prst="rect">
            <a:avLst/>
          </a:prstGeom>
          <a:noFill/>
          <a:ln/>
        </p:spPr>
        <p:txBody>
          <a:bodyPr wrap="square" lIns="0" tIns="0" rIns="0" bIns="0" rtlCol="0" anchor="t"/>
          <a:lstStyle/>
          <a:p>
            <a:pPr indent="0" marL="0">
              <a:buNone/>
            </a:pPr>
            <a:r>
              <a:rPr lang="en-US" sz="1300" i="1" dirty="0">
                <a:solidFill>
                  <a:srgbClr val="64748B"/>
                </a:solidFill>
                <a:latin typeface="Calibri" pitchFamily="34" charset="0"/>
                <a:ea typeface="Calibri" pitchFamily="34" charset="-122"/>
                <a:cs typeface="Calibri" pitchFamily="34" charset="-120"/>
              </a:rPr>
              <a:t>Everything in the system serves one loop. Target: under two seconds from report to a redrawn dispatch.</a:t>
            </a:r>
            <a:endParaRPr lang="en-US" sz="1300" dirty="0"/>
          </a:p>
        </p:txBody>
      </p:sp>
      <p:sp>
        <p:nvSpPr>
          <p:cNvPr id="5" name="Shape 3"/>
          <p:cNvSpPr/>
          <p:nvPr/>
        </p:nvSpPr>
        <p:spPr>
          <a:xfrm>
            <a:off x="502920" y="1554480"/>
            <a:ext cx="1691640" cy="1188720"/>
          </a:xfrm>
          <a:prstGeom prst="roundRect">
            <a:avLst>
              <a:gd name="adj" fmla="val 4615"/>
            </a:avLst>
          </a:prstGeom>
          <a:solidFill>
            <a:srgbClr val="1E293B"/>
          </a:solidFill>
          <a:ln w="12700">
            <a:solidFill>
              <a:srgbClr val="1E293B"/>
            </a:solidFill>
            <a:prstDash val="solid"/>
          </a:ln>
        </p:spPr>
      </p:sp>
      <p:sp>
        <p:nvSpPr>
          <p:cNvPr id="6" name="Text 4"/>
          <p:cNvSpPr/>
          <p:nvPr/>
        </p:nvSpPr>
        <p:spPr>
          <a:xfrm>
            <a:off x="502920" y="1709928"/>
            <a:ext cx="1691640" cy="292608"/>
          </a:xfrm>
          <a:prstGeom prst="rect">
            <a:avLst/>
          </a:prstGeom>
          <a:noFill/>
          <a:ln/>
        </p:spPr>
        <p:txBody>
          <a:bodyPr wrap="square" lIns="0" tIns="0" rIns="0" bIns="0" rtlCol="0" anchor="ctr"/>
          <a:lstStyle/>
          <a:p>
            <a:pPr algn="ctr" indent="0" marL="0">
              <a:buNone/>
            </a:pPr>
            <a:r>
              <a:rPr lang="en-US" sz="1250" b="1" dirty="0">
                <a:solidFill>
                  <a:srgbClr val="FFFFFF"/>
                </a:solidFill>
                <a:latin typeface="Arial" pitchFamily="34" charset="0"/>
                <a:ea typeface="Arial" pitchFamily="34" charset="-122"/>
                <a:cs typeface="Arial" pitchFamily="34" charset="-120"/>
              </a:rPr>
              <a:t>INGEST</a:t>
            </a:r>
            <a:endParaRPr lang="en-US" sz="1250" dirty="0"/>
          </a:p>
        </p:txBody>
      </p:sp>
      <p:sp>
        <p:nvSpPr>
          <p:cNvPr id="7" name="Text 5"/>
          <p:cNvSpPr/>
          <p:nvPr/>
        </p:nvSpPr>
        <p:spPr>
          <a:xfrm>
            <a:off x="502920" y="2048256"/>
            <a:ext cx="1691640" cy="502920"/>
          </a:xfrm>
          <a:prstGeom prst="rect">
            <a:avLst/>
          </a:prstGeom>
          <a:noFill/>
          <a:ln/>
        </p:spPr>
        <p:txBody>
          <a:bodyPr wrap="square" lIns="0" tIns="0" rIns="0" bIns="0" rtlCol="0" anchor="ctr"/>
          <a:lstStyle/>
          <a:p>
            <a:pPr algn="ctr" indent="0" marL="0">
              <a:lnSpc>
                <a:spcPts val="1200"/>
              </a:lnSpc>
              <a:buNone/>
            </a:pPr>
            <a:r>
              <a:rPr lang="en-US" sz="950" dirty="0">
                <a:solidFill>
                  <a:srgbClr val="94A3B8"/>
                </a:solidFill>
                <a:latin typeface="Calibri" pitchFamily="34" charset="0"/>
                <a:ea typeface="Calibri" pitchFamily="34" charset="-122"/>
                <a:cs typeface="Calibri" pitchFamily="34" charset="-120"/>
              </a:rPr>
              <a:t>report arrives</a:t>
            </a:r>
            <a:endParaRPr lang="en-US" sz="950" dirty="0"/>
          </a:p>
          <a:p>
            <a:pPr algn="ctr" indent="0" marL="0">
              <a:lnSpc>
                <a:spcPts val="1200"/>
              </a:lnSpc>
              <a:buNone/>
            </a:pPr>
            <a:r>
              <a:rPr lang="en-US" sz="950" dirty="0">
                <a:solidFill>
                  <a:srgbClr val="94A3B8"/>
                </a:solidFill>
                <a:latin typeface="Calibri" pitchFamily="34" charset="0"/>
                <a:ea typeface="Calibri" pitchFamily="34" charset="-122"/>
                <a:cs typeface="Calibri" pitchFamily="34" charset="-120"/>
              </a:rPr>
              <a:t>app / SMS / IVR</a:t>
            </a:r>
            <a:endParaRPr lang="en-US" sz="950" dirty="0"/>
          </a:p>
        </p:txBody>
      </p:sp>
      <p:sp>
        <p:nvSpPr>
          <p:cNvPr id="8" name="Shape 6"/>
          <p:cNvSpPr/>
          <p:nvPr/>
        </p:nvSpPr>
        <p:spPr>
          <a:xfrm>
            <a:off x="2240280" y="2048256"/>
            <a:ext cx="128016" cy="182880"/>
          </a:xfrm>
          <a:prstGeom prst="rightArrow">
            <a:avLst/>
          </a:prstGeom>
          <a:solidFill>
            <a:srgbClr val="DC2626"/>
          </a:solidFill>
          <a:ln w="12700">
            <a:solidFill>
              <a:srgbClr val="DC2626"/>
            </a:solidFill>
            <a:prstDash val="solid"/>
          </a:ln>
        </p:spPr>
      </p:sp>
      <p:sp>
        <p:nvSpPr>
          <p:cNvPr id="9" name="Shape 7"/>
          <p:cNvSpPr/>
          <p:nvPr/>
        </p:nvSpPr>
        <p:spPr>
          <a:xfrm>
            <a:off x="2404872" y="1554480"/>
            <a:ext cx="1691640" cy="1188720"/>
          </a:xfrm>
          <a:prstGeom prst="roundRect">
            <a:avLst>
              <a:gd name="adj" fmla="val 4615"/>
            </a:avLst>
          </a:prstGeom>
          <a:solidFill>
            <a:srgbClr val="1E293B"/>
          </a:solidFill>
          <a:ln w="12700">
            <a:solidFill>
              <a:srgbClr val="1E293B"/>
            </a:solidFill>
            <a:prstDash val="solid"/>
          </a:ln>
        </p:spPr>
      </p:sp>
      <p:sp>
        <p:nvSpPr>
          <p:cNvPr id="10" name="Text 8"/>
          <p:cNvSpPr/>
          <p:nvPr/>
        </p:nvSpPr>
        <p:spPr>
          <a:xfrm>
            <a:off x="2404872" y="1709928"/>
            <a:ext cx="1691640" cy="292608"/>
          </a:xfrm>
          <a:prstGeom prst="rect">
            <a:avLst/>
          </a:prstGeom>
          <a:noFill/>
          <a:ln/>
        </p:spPr>
        <p:txBody>
          <a:bodyPr wrap="square" lIns="0" tIns="0" rIns="0" bIns="0" rtlCol="0" anchor="ctr"/>
          <a:lstStyle/>
          <a:p>
            <a:pPr algn="ctr" indent="0" marL="0">
              <a:buNone/>
            </a:pPr>
            <a:r>
              <a:rPr lang="en-US" sz="1250" b="1" dirty="0">
                <a:solidFill>
                  <a:srgbClr val="FFFFFF"/>
                </a:solidFill>
                <a:latin typeface="Arial" pitchFamily="34" charset="0"/>
                <a:ea typeface="Arial" pitchFamily="34" charset="-122"/>
                <a:cs typeface="Arial" pitchFamily="34" charset="-120"/>
              </a:rPr>
              <a:t>CLUSTER</a:t>
            </a:r>
            <a:endParaRPr lang="en-US" sz="1250" dirty="0"/>
          </a:p>
        </p:txBody>
      </p:sp>
      <p:sp>
        <p:nvSpPr>
          <p:cNvPr id="11" name="Text 9"/>
          <p:cNvSpPr/>
          <p:nvPr/>
        </p:nvSpPr>
        <p:spPr>
          <a:xfrm>
            <a:off x="2404872" y="2048256"/>
            <a:ext cx="1691640" cy="502920"/>
          </a:xfrm>
          <a:prstGeom prst="rect">
            <a:avLst/>
          </a:prstGeom>
          <a:noFill/>
          <a:ln/>
        </p:spPr>
        <p:txBody>
          <a:bodyPr wrap="square" lIns="0" tIns="0" rIns="0" bIns="0" rtlCol="0" anchor="ctr"/>
          <a:lstStyle/>
          <a:p>
            <a:pPr algn="ctr" indent="0" marL="0">
              <a:lnSpc>
                <a:spcPts val="1200"/>
              </a:lnSpc>
              <a:buNone/>
            </a:pPr>
            <a:r>
              <a:rPr lang="en-US" sz="950" dirty="0">
                <a:solidFill>
                  <a:srgbClr val="94A3B8"/>
                </a:solidFill>
                <a:latin typeface="Calibri" pitchFamily="34" charset="0"/>
                <a:ea typeface="Calibri" pitchFamily="34" charset="-122"/>
                <a:cs typeface="Calibri" pitchFamily="34" charset="-120"/>
              </a:rPr>
              <a:t>dedupe into</a:t>
            </a:r>
            <a:endParaRPr lang="en-US" sz="950" dirty="0"/>
          </a:p>
          <a:p>
            <a:pPr algn="ctr" indent="0" marL="0">
              <a:lnSpc>
                <a:spcPts val="1200"/>
              </a:lnSpc>
              <a:buNone/>
            </a:pPr>
            <a:r>
              <a:rPr lang="en-US" sz="950" dirty="0">
                <a:solidFill>
                  <a:srgbClr val="94A3B8"/>
                </a:solidFill>
                <a:latin typeface="Calibri" pitchFamily="34" charset="0"/>
                <a:ea typeface="Calibri" pitchFamily="34" charset="-122"/>
                <a:cs typeface="Calibri" pitchFamily="34" charset="-120"/>
              </a:rPr>
              <a:t>an incident</a:t>
            </a:r>
            <a:endParaRPr lang="en-US" sz="950" dirty="0"/>
          </a:p>
        </p:txBody>
      </p:sp>
      <p:sp>
        <p:nvSpPr>
          <p:cNvPr id="12" name="Shape 10"/>
          <p:cNvSpPr/>
          <p:nvPr/>
        </p:nvSpPr>
        <p:spPr>
          <a:xfrm>
            <a:off x="4142232" y="2048256"/>
            <a:ext cx="128016" cy="182880"/>
          </a:xfrm>
          <a:prstGeom prst="rightArrow">
            <a:avLst/>
          </a:prstGeom>
          <a:solidFill>
            <a:srgbClr val="DC2626"/>
          </a:solidFill>
          <a:ln w="12700">
            <a:solidFill>
              <a:srgbClr val="DC2626"/>
            </a:solidFill>
            <a:prstDash val="solid"/>
          </a:ln>
        </p:spPr>
      </p:sp>
      <p:sp>
        <p:nvSpPr>
          <p:cNvPr id="13" name="Shape 11"/>
          <p:cNvSpPr/>
          <p:nvPr/>
        </p:nvSpPr>
        <p:spPr>
          <a:xfrm>
            <a:off x="4306824" y="1554480"/>
            <a:ext cx="1691640" cy="1188720"/>
          </a:xfrm>
          <a:prstGeom prst="roundRect">
            <a:avLst>
              <a:gd name="adj" fmla="val 4615"/>
            </a:avLst>
          </a:prstGeom>
          <a:solidFill>
            <a:srgbClr val="1E293B"/>
          </a:solidFill>
          <a:ln w="12700">
            <a:solidFill>
              <a:srgbClr val="1E293B"/>
            </a:solidFill>
            <a:prstDash val="solid"/>
          </a:ln>
        </p:spPr>
      </p:sp>
      <p:sp>
        <p:nvSpPr>
          <p:cNvPr id="14" name="Text 12"/>
          <p:cNvSpPr/>
          <p:nvPr/>
        </p:nvSpPr>
        <p:spPr>
          <a:xfrm>
            <a:off x="4306824" y="1709928"/>
            <a:ext cx="1691640" cy="292608"/>
          </a:xfrm>
          <a:prstGeom prst="rect">
            <a:avLst/>
          </a:prstGeom>
          <a:noFill/>
          <a:ln/>
        </p:spPr>
        <p:txBody>
          <a:bodyPr wrap="square" lIns="0" tIns="0" rIns="0" bIns="0" rtlCol="0" anchor="ctr"/>
          <a:lstStyle/>
          <a:p>
            <a:pPr algn="ctr" indent="0" marL="0">
              <a:buNone/>
            </a:pPr>
            <a:r>
              <a:rPr lang="en-US" sz="1250" b="1" dirty="0">
                <a:solidFill>
                  <a:srgbClr val="FFFFFF"/>
                </a:solidFill>
                <a:latin typeface="Arial" pitchFamily="34" charset="0"/>
                <a:ea typeface="Arial" pitchFamily="34" charset="-122"/>
                <a:cs typeface="Arial" pitchFamily="34" charset="-120"/>
              </a:rPr>
              <a:t>SCORE</a:t>
            </a:r>
            <a:endParaRPr lang="en-US" sz="1250" dirty="0"/>
          </a:p>
        </p:txBody>
      </p:sp>
      <p:sp>
        <p:nvSpPr>
          <p:cNvPr id="15" name="Text 13"/>
          <p:cNvSpPr/>
          <p:nvPr/>
        </p:nvSpPr>
        <p:spPr>
          <a:xfrm>
            <a:off x="4306824" y="2048256"/>
            <a:ext cx="1691640" cy="502920"/>
          </a:xfrm>
          <a:prstGeom prst="rect">
            <a:avLst/>
          </a:prstGeom>
          <a:noFill/>
          <a:ln/>
        </p:spPr>
        <p:txBody>
          <a:bodyPr wrap="square" lIns="0" tIns="0" rIns="0" bIns="0" rtlCol="0" anchor="ctr"/>
          <a:lstStyle/>
          <a:p>
            <a:pPr algn="ctr" indent="0" marL="0">
              <a:lnSpc>
                <a:spcPts val="1200"/>
              </a:lnSpc>
              <a:buNone/>
            </a:pPr>
            <a:r>
              <a:rPr lang="en-US" sz="950" dirty="0">
                <a:solidFill>
                  <a:srgbClr val="94A3B8"/>
                </a:solidFill>
                <a:latin typeface="Calibri" pitchFamily="34" charset="0"/>
                <a:ea typeface="Calibri" pitchFamily="34" charset="-122"/>
                <a:cs typeface="Calibri" pitchFamily="34" charset="-120"/>
              </a:rPr>
              <a:t>severity</a:t>
            </a:r>
            <a:endParaRPr lang="en-US" sz="950" dirty="0"/>
          </a:p>
          <a:p>
            <a:pPr algn="ctr" indent="0" marL="0">
              <a:lnSpc>
                <a:spcPts val="1200"/>
              </a:lnSpc>
              <a:buNone/>
            </a:pPr>
            <a:r>
              <a:rPr lang="en-US" sz="950" dirty="0">
                <a:solidFill>
                  <a:srgbClr val="94A3B8"/>
                </a:solidFill>
                <a:latin typeface="Calibri" pitchFamily="34" charset="0"/>
                <a:ea typeface="Calibri" pitchFamily="34" charset="-122"/>
                <a:cs typeface="Calibri" pitchFamily="34" charset="-120"/>
              </a:rPr>
              <a:t>+ trust</a:t>
            </a:r>
            <a:endParaRPr lang="en-US" sz="950" dirty="0"/>
          </a:p>
        </p:txBody>
      </p:sp>
      <p:sp>
        <p:nvSpPr>
          <p:cNvPr id="16" name="Shape 14"/>
          <p:cNvSpPr/>
          <p:nvPr/>
        </p:nvSpPr>
        <p:spPr>
          <a:xfrm>
            <a:off x="6044184" y="2048256"/>
            <a:ext cx="128016" cy="182880"/>
          </a:xfrm>
          <a:prstGeom prst="rightArrow">
            <a:avLst/>
          </a:prstGeom>
          <a:solidFill>
            <a:srgbClr val="DC2626"/>
          </a:solidFill>
          <a:ln w="12700">
            <a:solidFill>
              <a:srgbClr val="DC2626"/>
            </a:solidFill>
            <a:prstDash val="solid"/>
          </a:ln>
        </p:spPr>
      </p:sp>
      <p:sp>
        <p:nvSpPr>
          <p:cNvPr id="17" name="Shape 15"/>
          <p:cNvSpPr/>
          <p:nvPr/>
        </p:nvSpPr>
        <p:spPr>
          <a:xfrm>
            <a:off x="6208776" y="1554480"/>
            <a:ext cx="1691640" cy="1188720"/>
          </a:xfrm>
          <a:prstGeom prst="roundRect">
            <a:avLst>
              <a:gd name="adj" fmla="val 4615"/>
            </a:avLst>
          </a:prstGeom>
          <a:solidFill>
            <a:srgbClr val="DC2626"/>
          </a:solidFill>
          <a:ln w="12700">
            <a:solidFill>
              <a:srgbClr val="DC2626"/>
            </a:solidFill>
            <a:prstDash val="solid"/>
          </a:ln>
        </p:spPr>
      </p:sp>
      <p:sp>
        <p:nvSpPr>
          <p:cNvPr id="18" name="Text 16"/>
          <p:cNvSpPr/>
          <p:nvPr/>
        </p:nvSpPr>
        <p:spPr>
          <a:xfrm>
            <a:off x="6208776" y="1709928"/>
            <a:ext cx="1691640" cy="292608"/>
          </a:xfrm>
          <a:prstGeom prst="rect">
            <a:avLst/>
          </a:prstGeom>
          <a:noFill/>
          <a:ln/>
        </p:spPr>
        <p:txBody>
          <a:bodyPr wrap="square" lIns="0" tIns="0" rIns="0" bIns="0" rtlCol="0" anchor="ctr"/>
          <a:lstStyle/>
          <a:p>
            <a:pPr algn="ctr" indent="0" marL="0">
              <a:buNone/>
            </a:pPr>
            <a:r>
              <a:rPr lang="en-US" sz="1250" b="1" dirty="0">
                <a:solidFill>
                  <a:srgbClr val="FFFFFF"/>
                </a:solidFill>
                <a:latin typeface="Arial" pitchFamily="34" charset="0"/>
                <a:ea typeface="Arial" pitchFamily="34" charset="-122"/>
                <a:cs typeface="Arial" pitchFamily="34" charset="-120"/>
              </a:rPr>
              <a:t>OPTIMIZE</a:t>
            </a:r>
            <a:endParaRPr lang="en-US" sz="1250" dirty="0"/>
          </a:p>
        </p:txBody>
      </p:sp>
      <p:sp>
        <p:nvSpPr>
          <p:cNvPr id="19" name="Text 17"/>
          <p:cNvSpPr/>
          <p:nvPr/>
        </p:nvSpPr>
        <p:spPr>
          <a:xfrm>
            <a:off x="6208776" y="2048256"/>
            <a:ext cx="1691640" cy="502920"/>
          </a:xfrm>
          <a:prstGeom prst="rect">
            <a:avLst/>
          </a:prstGeom>
          <a:noFill/>
          <a:ln/>
        </p:spPr>
        <p:txBody>
          <a:bodyPr wrap="square" lIns="0" tIns="0" rIns="0" bIns="0" rtlCol="0" anchor="ctr"/>
          <a:lstStyle/>
          <a:p>
            <a:pPr algn="ctr" indent="0" marL="0">
              <a:lnSpc>
                <a:spcPts val="1200"/>
              </a:lnSpc>
              <a:buNone/>
            </a:pPr>
            <a:r>
              <a:rPr lang="en-US" sz="950" dirty="0">
                <a:solidFill>
                  <a:srgbClr val="FECACA"/>
                </a:solidFill>
                <a:latin typeface="Calibri" pitchFamily="34" charset="0"/>
                <a:ea typeface="Calibri" pitchFamily="34" charset="-122"/>
                <a:cs typeface="Calibri" pitchFamily="34" charset="-120"/>
              </a:rPr>
              <a:t>Hungarian</a:t>
            </a:r>
            <a:endParaRPr lang="en-US" sz="950" dirty="0"/>
          </a:p>
          <a:p>
            <a:pPr algn="ctr" indent="0" marL="0">
              <a:lnSpc>
                <a:spcPts val="1200"/>
              </a:lnSpc>
              <a:buNone/>
            </a:pPr>
            <a:r>
              <a:rPr lang="en-US" sz="950" dirty="0">
                <a:solidFill>
                  <a:srgbClr val="FECACA"/>
                </a:solidFill>
                <a:latin typeface="Calibri" pitchFamily="34" charset="0"/>
                <a:ea typeface="Calibri" pitchFamily="34" charset="-122"/>
                <a:cs typeface="Calibri" pitchFamily="34" charset="-120"/>
              </a:rPr>
              <a:t>assignment</a:t>
            </a:r>
            <a:endParaRPr lang="en-US" sz="950" dirty="0"/>
          </a:p>
        </p:txBody>
      </p:sp>
      <p:sp>
        <p:nvSpPr>
          <p:cNvPr id="20" name="Shape 18"/>
          <p:cNvSpPr/>
          <p:nvPr/>
        </p:nvSpPr>
        <p:spPr>
          <a:xfrm>
            <a:off x="7946136" y="2048256"/>
            <a:ext cx="128016" cy="182880"/>
          </a:xfrm>
          <a:prstGeom prst="rightArrow">
            <a:avLst/>
          </a:prstGeom>
          <a:solidFill>
            <a:srgbClr val="DC2626"/>
          </a:solidFill>
          <a:ln w="12700">
            <a:solidFill>
              <a:srgbClr val="DC2626"/>
            </a:solidFill>
            <a:prstDash val="solid"/>
          </a:ln>
        </p:spPr>
      </p:sp>
      <p:sp>
        <p:nvSpPr>
          <p:cNvPr id="21" name="Shape 19"/>
          <p:cNvSpPr/>
          <p:nvPr/>
        </p:nvSpPr>
        <p:spPr>
          <a:xfrm>
            <a:off x="8110728" y="1554480"/>
            <a:ext cx="1691640" cy="1188720"/>
          </a:xfrm>
          <a:prstGeom prst="roundRect">
            <a:avLst>
              <a:gd name="adj" fmla="val 4615"/>
            </a:avLst>
          </a:prstGeom>
          <a:solidFill>
            <a:srgbClr val="1E293B"/>
          </a:solidFill>
          <a:ln w="12700">
            <a:solidFill>
              <a:srgbClr val="1E293B"/>
            </a:solidFill>
            <a:prstDash val="solid"/>
          </a:ln>
        </p:spPr>
      </p:sp>
      <p:sp>
        <p:nvSpPr>
          <p:cNvPr id="22" name="Text 20"/>
          <p:cNvSpPr/>
          <p:nvPr/>
        </p:nvSpPr>
        <p:spPr>
          <a:xfrm>
            <a:off x="8110728" y="1709928"/>
            <a:ext cx="1691640" cy="292608"/>
          </a:xfrm>
          <a:prstGeom prst="rect">
            <a:avLst/>
          </a:prstGeom>
          <a:noFill/>
          <a:ln/>
        </p:spPr>
        <p:txBody>
          <a:bodyPr wrap="square" lIns="0" tIns="0" rIns="0" bIns="0" rtlCol="0" anchor="ctr"/>
          <a:lstStyle/>
          <a:p>
            <a:pPr algn="ctr" indent="0" marL="0">
              <a:buNone/>
            </a:pPr>
            <a:r>
              <a:rPr lang="en-US" sz="1250" b="1" dirty="0">
                <a:solidFill>
                  <a:srgbClr val="FFFFFF"/>
                </a:solidFill>
                <a:latin typeface="Arial" pitchFamily="34" charset="0"/>
                <a:ea typeface="Arial" pitchFamily="34" charset="-122"/>
                <a:cs typeface="Arial" pitchFamily="34" charset="-120"/>
              </a:rPr>
              <a:t>DISPATCH</a:t>
            </a:r>
            <a:endParaRPr lang="en-US" sz="1250" dirty="0"/>
          </a:p>
        </p:txBody>
      </p:sp>
      <p:sp>
        <p:nvSpPr>
          <p:cNvPr id="23" name="Text 21"/>
          <p:cNvSpPr/>
          <p:nvPr/>
        </p:nvSpPr>
        <p:spPr>
          <a:xfrm>
            <a:off x="8110728" y="2048256"/>
            <a:ext cx="1691640" cy="502920"/>
          </a:xfrm>
          <a:prstGeom prst="rect">
            <a:avLst/>
          </a:prstGeom>
          <a:noFill/>
          <a:ln/>
        </p:spPr>
        <p:txBody>
          <a:bodyPr wrap="square" lIns="0" tIns="0" rIns="0" bIns="0" rtlCol="0" anchor="ctr"/>
          <a:lstStyle/>
          <a:p>
            <a:pPr algn="ctr" indent="0" marL="0">
              <a:lnSpc>
                <a:spcPts val="1200"/>
              </a:lnSpc>
              <a:buNone/>
            </a:pPr>
            <a:r>
              <a:rPr lang="en-US" sz="950" dirty="0">
                <a:solidFill>
                  <a:srgbClr val="94A3B8"/>
                </a:solidFill>
                <a:latin typeface="Calibri" pitchFamily="34" charset="0"/>
                <a:ea typeface="Calibri" pitchFamily="34" charset="-122"/>
                <a:cs typeface="Calibri" pitchFamily="34" charset="-120"/>
              </a:rPr>
              <a:t>human</a:t>
            </a:r>
            <a:endParaRPr lang="en-US" sz="950" dirty="0"/>
          </a:p>
          <a:p>
            <a:pPr algn="ctr" indent="0" marL="0">
              <a:lnSpc>
                <a:spcPts val="1200"/>
              </a:lnSpc>
              <a:buNone/>
            </a:pPr>
            <a:r>
              <a:rPr lang="en-US" sz="950" dirty="0">
                <a:solidFill>
                  <a:srgbClr val="94A3B8"/>
                </a:solidFill>
                <a:latin typeface="Calibri" pitchFamily="34" charset="0"/>
                <a:ea typeface="Calibri" pitchFamily="34" charset="-122"/>
                <a:cs typeface="Calibri" pitchFamily="34" charset="-120"/>
              </a:rPr>
              <a:t>commits</a:t>
            </a:r>
            <a:endParaRPr lang="en-US" sz="950" dirty="0"/>
          </a:p>
        </p:txBody>
      </p:sp>
      <p:sp>
        <p:nvSpPr>
          <p:cNvPr id="24" name="Shape 22"/>
          <p:cNvSpPr/>
          <p:nvPr/>
        </p:nvSpPr>
        <p:spPr>
          <a:xfrm>
            <a:off x="9848088" y="2048256"/>
            <a:ext cx="128016" cy="182880"/>
          </a:xfrm>
          <a:prstGeom prst="rightArrow">
            <a:avLst/>
          </a:prstGeom>
          <a:solidFill>
            <a:srgbClr val="DC2626"/>
          </a:solidFill>
          <a:ln w="12700">
            <a:solidFill>
              <a:srgbClr val="DC2626"/>
            </a:solidFill>
            <a:prstDash val="solid"/>
          </a:ln>
        </p:spPr>
      </p:sp>
      <p:sp>
        <p:nvSpPr>
          <p:cNvPr id="25" name="Shape 23"/>
          <p:cNvSpPr/>
          <p:nvPr/>
        </p:nvSpPr>
        <p:spPr>
          <a:xfrm>
            <a:off x="10012680" y="1554480"/>
            <a:ext cx="1691640" cy="1188720"/>
          </a:xfrm>
          <a:prstGeom prst="roundRect">
            <a:avLst>
              <a:gd name="adj" fmla="val 4615"/>
            </a:avLst>
          </a:prstGeom>
          <a:solidFill>
            <a:srgbClr val="1E293B"/>
          </a:solidFill>
          <a:ln w="12700">
            <a:solidFill>
              <a:srgbClr val="1E293B"/>
            </a:solidFill>
            <a:prstDash val="solid"/>
          </a:ln>
        </p:spPr>
      </p:sp>
      <p:sp>
        <p:nvSpPr>
          <p:cNvPr id="26" name="Text 24"/>
          <p:cNvSpPr/>
          <p:nvPr/>
        </p:nvSpPr>
        <p:spPr>
          <a:xfrm>
            <a:off x="10012680" y="1709928"/>
            <a:ext cx="1691640" cy="292608"/>
          </a:xfrm>
          <a:prstGeom prst="rect">
            <a:avLst/>
          </a:prstGeom>
          <a:noFill/>
          <a:ln/>
        </p:spPr>
        <p:txBody>
          <a:bodyPr wrap="square" lIns="0" tIns="0" rIns="0" bIns="0" rtlCol="0" anchor="ctr"/>
          <a:lstStyle/>
          <a:p>
            <a:pPr algn="ctr" indent="0" marL="0">
              <a:buNone/>
            </a:pPr>
            <a:r>
              <a:rPr lang="en-US" sz="1250" b="1" dirty="0">
                <a:solidFill>
                  <a:srgbClr val="FFFFFF"/>
                </a:solidFill>
                <a:latin typeface="Arial" pitchFamily="34" charset="0"/>
                <a:ea typeface="Arial" pitchFamily="34" charset="-122"/>
                <a:cs typeface="Arial" pitchFamily="34" charset="-120"/>
              </a:rPr>
              <a:t>RESOLVE</a:t>
            </a:r>
            <a:endParaRPr lang="en-US" sz="1250" dirty="0"/>
          </a:p>
        </p:txBody>
      </p:sp>
      <p:sp>
        <p:nvSpPr>
          <p:cNvPr id="27" name="Text 25"/>
          <p:cNvSpPr/>
          <p:nvPr/>
        </p:nvSpPr>
        <p:spPr>
          <a:xfrm>
            <a:off x="10012680" y="2048256"/>
            <a:ext cx="1691640" cy="502920"/>
          </a:xfrm>
          <a:prstGeom prst="rect">
            <a:avLst/>
          </a:prstGeom>
          <a:noFill/>
          <a:ln/>
        </p:spPr>
        <p:txBody>
          <a:bodyPr wrap="square" lIns="0" tIns="0" rIns="0" bIns="0" rtlCol="0" anchor="ctr"/>
          <a:lstStyle/>
          <a:p>
            <a:pPr algn="ctr" indent="0" marL="0">
              <a:lnSpc>
                <a:spcPts val="1200"/>
              </a:lnSpc>
              <a:buNone/>
            </a:pPr>
            <a:r>
              <a:rPr lang="en-US" sz="950" dirty="0">
                <a:solidFill>
                  <a:srgbClr val="94A3B8"/>
                </a:solidFill>
                <a:latin typeface="Calibri" pitchFamily="34" charset="0"/>
                <a:ea typeface="Calibri" pitchFamily="34" charset="-122"/>
                <a:cs typeface="Calibri" pitchFamily="34" charset="-120"/>
              </a:rPr>
              <a:t>unit frees,</a:t>
            </a:r>
            <a:endParaRPr lang="en-US" sz="950" dirty="0"/>
          </a:p>
          <a:p>
            <a:pPr algn="ctr" indent="0" marL="0">
              <a:lnSpc>
                <a:spcPts val="1200"/>
              </a:lnSpc>
              <a:buNone/>
            </a:pPr>
            <a:r>
              <a:rPr lang="en-US" sz="950" dirty="0">
                <a:solidFill>
                  <a:srgbClr val="94A3B8"/>
                </a:solidFill>
                <a:latin typeface="Calibri" pitchFamily="34" charset="0"/>
                <a:ea typeface="Calibri" pitchFamily="34" charset="-122"/>
                <a:cs typeface="Calibri" pitchFamily="34" charset="-120"/>
              </a:rPr>
              <a:t>logged</a:t>
            </a:r>
            <a:endParaRPr lang="en-US" sz="950" dirty="0"/>
          </a:p>
        </p:txBody>
      </p:sp>
      <p:sp>
        <p:nvSpPr>
          <p:cNvPr id="28" name="Text 26"/>
          <p:cNvSpPr/>
          <p:nvPr/>
        </p:nvSpPr>
        <p:spPr>
          <a:xfrm>
            <a:off x="502920" y="2834640"/>
            <a:ext cx="11155680" cy="274320"/>
          </a:xfrm>
          <a:prstGeom prst="rect">
            <a:avLst/>
          </a:prstGeom>
          <a:noFill/>
          <a:ln/>
        </p:spPr>
        <p:txBody>
          <a:bodyPr wrap="square" lIns="0" tIns="0" rIns="0" bIns="0" rtlCol="0" anchor="ctr"/>
          <a:lstStyle/>
          <a:p>
            <a:pPr algn="ctr" indent="0" marL="0">
              <a:buNone/>
            </a:pPr>
            <a:r>
              <a:rPr lang="en-US" sz="1050" i="1" dirty="0">
                <a:solidFill>
                  <a:srgbClr val="DC2626"/>
                </a:solidFill>
                <a:latin typeface="Calibri" pitchFamily="34" charset="0"/>
                <a:ea typeface="Calibri" pitchFamily="34" charset="-122"/>
                <a:cs typeface="Calibri" pitchFamily="34" charset="-120"/>
              </a:rPr>
              <a:t>freed capacity re-triggers optimisation every 30 seconds</a:t>
            </a:r>
            <a:endParaRPr lang="en-US" sz="1050" dirty="0"/>
          </a:p>
        </p:txBody>
      </p:sp>
      <p:sp>
        <p:nvSpPr>
          <p:cNvPr id="29" name="Text 27"/>
          <p:cNvSpPr/>
          <p:nvPr/>
        </p:nvSpPr>
        <p:spPr>
          <a:xfrm>
            <a:off x="502920" y="3291840"/>
            <a:ext cx="11155680" cy="292608"/>
          </a:xfrm>
          <a:prstGeom prst="rect">
            <a:avLst/>
          </a:prstGeom>
          <a:noFill/>
          <a:ln/>
        </p:spPr>
        <p:txBody>
          <a:bodyPr wrap="square" lIns="0" tIns="0" rIns="0" bIns="0" rtlCol="0" anchor="ctr"/>
          <a:lstStyle/>
          <a:p>
            <a:pPr indent="0" marL="0">
              <a:buNone/>
            </a:pPr>
            <a:r>
              <a:rPr lang="en-US" sz="1500" b="1" dirty="0">
                <a:solidFill>
                  <a:srgbClr val="0F172A"/>
                </a:solidFill>
                <a:latin typeface="Arial" pitchFamily="34" charset="0"/>
                <a:ea typeface="Arial" pitchFamily="34" charset="-122"/>
                <a:cs typeface="Arial" pitchFamily="34" charset="-120"/>
              </a:rPr>
              <a:t>The four required outcomes, and where each lives</a:t>
            </a:r>
            <a:endParaRPr lang="en-US" sz="1500" dirty="0"/>
          </a:p>
        </p:txBody>
      </p:sp>
      <p:sp>
        <p:nvSpPr>
          <p:cNvPr id="30" name="Shape 28"/>
          <p:cNvSpPr/>
          <p:nvPr/>
        </p:nvSpPr>
        <p:spPr>
          <a:xfrm>
            <a:off x="502920" y="3703320"/>
            <a:ext cx="2679192" cy="1965960"/>
          </a:xfrm>
          <a:prstGeom prst="roundRect">
            <a:avLst>
              <a:gd name="adj" fmla="val 2791"/>
            </a:avLst>
          </a:prstGeom>
          <a:solidFill>
            <a:srgbClr val="EFF6FF"/>
          </a:solidFill>
          <a:ln w="15240">
            <a:solidFill>
              <a:srgbClr val="1D4ED8"/>
            </a:solidFill>
            <a:prstDash val="solid"/>
          </a:ln>
        </p:spPr>
      </p:sp>
      <p:sp>
        <p:nvSpPr>
          <p:cNvPr id="31" name="Text 29"/>
          <p:cNvSpPr/>
          <p:nvPr/>
        </p:nvSpPr>
        <p:spPr>
          <a:xfrm>
            <a:off x="685800" y="3858768"/>
            <a:ext cx="457200" cy="365760"/>
          </a:xfrm>
          <a:prstGeom prst="rect">
            <a:avLst/>
          </a:prstGeom>
          <a:noFill/>
          <a:ln/>
        </p:spPr>
        <p:txBody>
          <a:bodyPr wrap="square" lIns="0" tIns="0" rIns="0" bIns="0" rtlCol="0" anchor="ctr"/>
          <a:lstStyle/>
          <a:p>
            <a:pPr indent="0" marL="0">
              <a:buNone/>
            </a:pPr>
            <a:r>
              <a:rPr lang="en-US" sz="2000" b="1" dirty="0">
                <a:solidFill>
                  <a:srgbClr val="1D4ED8"/>
                </a:solidFill>
                <a:latin typeface="Arial" pitchFamily="34" charset="0"/>
                <a:ea typeface="Arial" pitchFamily="34" charset="-122"/>
                <a:cs typeface="Arial" pitchFamily="34" charset="-120"/>
              </a:rPr>
              <a:t>1</a:t>
            </a:r>
            <a:endParaRPr lang="en-US" sz="2000" dirty="0"/>
          </a:p>
        </p:txBody>
      </p:sp>
      <p:sp>
        <p:nvSpPr>
          <p:cNvPr id="32" name="Text 30"/>
          <p:cNvSpPr/>
          <p:nvPr/>
        </p:nvSpPr>
        <p:spPr>
          <a:xfrm>
            <a:off x="685800" y="4297680"/>
            <a:ext cx="2331720" cy="502920"/>
          </a:xfrm>
          <a:prstGeom prst="rect">
            <a:avLst/>
          </a:prstGeom>
          <a:noFill/>
          <a:ln/>
        </p:spPr>
        <p:txBody>
          <a:bodyPr wrap="square" lIns="0" tIns="0" rIns="0" bIns="0" rtlCol="0" anchor="ctr"/>
          <a:lstStyle/>
          <a:p>
            <a:pPr indent="0" marL="0">
              <a:buNone/>
            </a:pPr>
            <a:r>
              <a:rPr lang="en-US" sz="1350" b="1" dirty="0">
                <a:solidFill>
                  <a:srgbClr val="0F172A"/>
                </a:solidFill>
                <a:latin typeface="Arial" pitchFamily="34" charset="0"/>
                <a:ea typeface="Arial" pitchFamily="34" charset="-122"/>
                <a:cs typeface="Arial" pitchFamily="34" charset="-120"/>
              </a:rPr>
              <a:t>Citizen reporting app</a:t>
            </a:r>
            <a:endParaRPr lang="en-US" sz="1350" dirty="0"/>
          </a:p>
        </p:txBody>
      </p:sp>
      <p:sp>
        <p:nvSpPr>
          <p:cNvPr id="33" name="Text 31"/>
          <p:cNvSpPr/>
          <p:nvPr/>
        </p:nvSpPr>
        <p:spPr>
          <a:xfrm>
            <a:off x="685800" y="4828032"/>
            <a:ext cx="2331720" cy="777240"/>
          </a:xfrm>
          <a:prstGeom prst="rect">
            <a:avLst/>
          </a:prstGeom>
          <a:noFill/>
          <a:ln/>
        </p:spPr>
        <p:txBody>
          <a:bodyPr wrap="square" lIns="0" tIns="0" rIns="0" bIns="0" rtlCol="0" anchor="ctr"/>
          <a:lstStyle/>
          <a:p>
            <a:pPr indent="0" marL="0">
              <a:lnSpc>
                <a:spcPts val="1300"/>
              </a:lnSpc>
              <a:buNone/>
            </a:pPr>
            <a:r>
              <a:rPr lang="en-US" sz="1050" dirty="0">
                <a:solidFill>
                  <a:srgbClr val="1E293B"/>
                </a:solidFill>
                <a:latin typeface="Calibri" pitchFamily="34" charset="0"/>
                <a:ea typeface="Calibri" pitchFamily="34" charset="-122"/>
                <a:cs typeface="Calibri" pitchFamily="34" charset="-120"/>
              </a:rPr>
              <a:t>React PWA — geo-tagged, photo, works offline with an IndexedDB queue</a:t>
            </a:r>
            <a:endParaRPr lang="en-US" sz="1050" dirty="0"/>
          </a:p>
        </p:txBody>
      </p:sp>
      <p:sp>
        <p:nvSpPr>
          <p:cNvPr id="34" name="Shape 32"/>
          <p:cNvSpPr/>
          <p:nvPr/>
        </p:nvSpPr>
        <p:spPr>
          <a:xfrm>
            <a:off x="3364992" y="3703320"/>
            <a:ext cx="2679192" cy="1965960"/>
          </a:xfrm>
          <a:prstGeom prst="roundRect">
            <a:avLst>
              <a:gd name="adj" fmla="val 2791"/>
            </a:avLst>
          </a:prstGeom>
          <a:solidFill>
            <a:srgbClr val="EFF6FF"/>
          </a:solidFill>
          <a:ln w="15240">
            <a:solidFill>
              <a:srgbClr val="1D4ED8"/>
            </a:solidFill>
            <a:prstDash val="solid"/>
          </a:ln>
        </p:spPr>
      </p:sp>
      <p:sp>
        <p:nvSpPr>
          <p:cNvPr id="35" name="Text 33"/>
          <p:cNvSpPr/>
          <p:nvPr/>
        </p:nvSpPr>
        <p:spPr>
          <a:xfrm>
            <a:off x="3547872" y="3858768"/>
            <a:ext cx="457200" cy="365760"/>
          </a:xfrm>
          <a:prstGeom prst="rect">
            <a:avLst/>
          </a:prstGeom>
          <a:noFill/>
          <a:ln/>
        </p:spPr>
        <p:txBody>
          <a:bodyPr wrap="square" lIns="0" tIns="0" rIns="0" bIns="0" rtlCol="0" anchor="ctr"/>
          <a:lstStyle/>
          <a:p>
            <a:pPr indent="0" marL="0">
              <a:buNone/>
            </a:pPr>
            <a:r>
              <a:rPr lang="en-US" sz="2000" b="1" dirty="0">
                <a:solidFill>
                  <a:srgbClr val="1D4ED8"/>
                </a:solidFill>
                <a:latin typeface="Arial" pitchFamily="34" charset="0"/>
                <a:ea typeface="Arial" pitchFamily="34" charset="-122"/>
                <a:cs typeface="Arial" pitchFamily="34" charset="-120"/>
              </a:rPr>
              <a:t>2</a:t>
            </a:r>
            <a:endParaRPr lang="en-US" sz="2000" dirty="0"/>
          </a:p>
        </p:txBody>
      </p:sp>
      <p:sp>
        <p:nvSpPr>
          <p:cNvPr id="36" name="Text 34"/>
          <p:cNvSpPr/>
          <p:nvPr/>
        </p:nvSpPr>
        <p:spPr>
          <a:xfrm>
            <a:off x="3547872" y="4297680"/>
            <a:ext cx="2331720" cy="502920"/>
          </a:xfrm>
          <a:prstGeom prst="rect">
            <a:avLst/>
          </a:prstGeom>
          <a:noFill/>
          <a:ln/>
        </p:spPr>
        <p:txBody>
          <a:bodyPr wrap="square" lIns="0" tIns="0" rIns="0" bIns="0" rtlCol="0" anchor="ctr"/>
          <a:lstStyle/>
          <a:p>
            <a:pPr indent="0" marL="0">
              <a:buNone/>
            </a:pPr>
            <a:r>
              <a:rPr lang="en-US" sz="1350" b="1" dirty="0">
                <a:solidFill>
                  <a:srgbClr val="0F172A"/>
                </a:solidFill>
                <a:latin typeface="Arial" pitchFamily="34" charset="0"/>
                <a:ea typeface="Arial" pitchFamily="34" charset="-122"/>
                <a:cs typeface="Arial" pitchFamily="34" charset="-120"/>
              </a:rPr>
              <a:t>Live authority dashboard</a:t>
            </a:r>
            <a:endParaRPr lang="en-US" sz="1350" dirty="0"/>
          </a:p>
        </p:txBody>
      </p:sp>
      <p:sp>
        <p:nvSpPr>
          <p:cNvPr id="37" name="Text 35"/>
          <p:cNvSpPr/>
          <p:nvPr/>
        </p:nvSpPr>
        <p:spPr>
          <a:xfrm>
            <a:off x="3547872" y="4828032"/>
            <a:ext cx="2331720" cy="777240"/>
          </a:xfrm>
          <a:prstGeom prst="rect">
            <a:avLst/>
          </a:prstGeom>
          <a:noFill/>
          <a:ln/>
        </p:spPr>
        <p:txBody>
          <a:bodyPr wrap="square" lIns="0" tIns="0" rIns="0" bIns="0" rtlCol="0" anchor="ctr"/>
          <a:lstStyle/>
          <a:p>
            <a:pPr indent="0" marL="0">
              <a:lnSpc>
                <a:spcPts val="1300"/>
              </a:lnSpc>
              <a:buNone/>
            </a:pPr>
            <a:r>
              <a:rPr lang="en-US" sz="1050" dirty="0">
                <a:solidFill>
                  <a:srgbClr val="1E293B"/>
                </a:solidFill>
                <a:latin typeface="Calibri" pitchFamily="34" charset="0"/>
                <a:ea typeface="Calibri" pitchFamily="34" charset="-122"/>
                <a:cs typeface="Calibri" pitchFamily="34" charset="-120"/>
              </a:rPr>
              <a:t>MapLibre map, severity-weighted heatmap, live WebSocket updates</a:t>
            </a:r>
            <a:endParaRPr lang="en-US" sz="1050" dirty="0"/>
          </a:p>
        </p:txBody>
      </p:sp>
      <p:sp>
        <p:nvSpPr>
          <p:cNvPr id="38" name="Shape 36"/>
          <p:cNvSpPr/>
          <p:nvPr/>
        </p:nvSpPr>
        <p:spPr>
          <a:xfrm>
            <a:off x="6227064" y="3703320"/>
            <a:ext cx="2679192" cy="1965960"/>
          </a:xfrm>
          <a:prstGeom prst="roundRect">
            <a:avLst>
              <a:gd name="adj" fmla="val 2791"/>
            </a:avLst>
          </a:prstGeom>
          <a:solidFill>
            <a:srgbClr val="FEF2F2"/>
          </a:solidFill>
          <a:ln w="15240">
            <a:solidFill>
              <a:srgbClr val="DC2626"/>
            </a:solidFill>
            <a:prstDash val="solid"/>
          </a:ln>
        </p:spPr>
      </p:sp>
      <p:sp>
        <p:nvSpPr>
          <p:cNvPr id="39" name="Text 37"/>
          <p:cNvSpPr/>
          <p:nvPr/>
        </p:nvSpPr>
        <p:spPr>
          <a:xfrm>
            <a:off x="6409944" y="3858768"/>
            <a:ext cx="457200" cy="365760"/>
          </a:xfrm>
          <a:prstGeom prst="rect">
            <a:avLst/>
          </a:prstGeom>
          <a:noFill/>
          <a:ln/>
        </p:spPr>
        <p:txBody>
          <a:bodyPr wrap="square" lIns="0" tIns="0" rIns="0" bIns="0" rtlCol="0" anchor="ctr"/>
          <a:lstStyle/>
          <a:p>
            <a:pPr indent="0" marL="0">
              <a:buNone/>
            </a:pPr>
            <a:r>
              <a:rPr lang="en-US" sz="2000" b="1" dirty="0">
                <a:solidFill>
                  <a:srgbClr val="DC2626"/>
                </a:solidFill>
                <a:latin typeface="Arial" pitchFamily="34" charset="0"/>
                <a:ea typeface="Arial" pitchFamily="34" charset="-122"/>
                <a:cs typeface="Arial" pitchFamily="34" charset="-120"/>
              </a:rPr>
              <a:t>3</a:t>
            </a:r>
            <a:endParaRPr lang="en-US" sz="2000" dirty="0"/>
          </a:p>
        </p:txBody>
      </p:sp>
      <p:sp>
        <p:nvSpPr>
          <p:cNvPr id="40" name="Text 38"/>
          <p:cNvSpPr/>
          <p:nvPr/>
        </p:nvSpPr>
        <p:spPr>
          <a:xfrm>
            <a:off x="6409944" y="4297680"/>
            <a:ext cx="2331720" cy="502920"/>
          </a:xfrm>
          <a:prstGeom prst="rect">
            <a:avLst/>
          </a:prstGeom>
          <a:noFill/>
          <a:ln/>
        </p:spPr>
        <p:txBody>
          <a:bodyPr wrap="square" lIns="0" tIns="0" rIns="0" bIns="0" rtlCol="0" anchor="ctr"/>
          <a:lstStyle/>
          <a:p>
            <a:pPr indent="0" marL="0">
              <a:buNone/>
            </a:pPr>
            <a:r>
              <a:rPr lang="en-US" sz="1350" b="1" dirty="0">
                <a:solidFill>
                  <a:srgbClr val="0F172A"/>
                </a:solidFill>
                <a:latin typeface="Arial" pitchFamily="34" charset="0"/>
                <a:ea typeface="Arial" pitchFamily="34" charset="-122"/>
                <a:cs typeface="Arial" pitchFamily="34" charset="-120"/>
              </a:rPr>
              <a:t>Allocation optimizer</a:t>
            </a:r>
            <a:endParaRPr lang="en-US" sz="1350" dirty="0"/>
          </a:p>
        </p:txBody>
      </p:sp>
      <p:sp>
        <p:nvSpPr>
          <p:cNvPr id="41" name="Text 39"/>
          <p:cNvSpPr/>
          <p:nvPr/>
        </p:nvSpPr>
        <p:spPr>
          <a:xfrm>
            <a:off x="6409944" y="4828032"/>
            <a:ext cx="2331720" cy="777240"/>
          </a:xfrm>
          <a:prstGeom prst="rect">
            <a:avLst/>
          </a:prstGeom>
          <a:noFill/>
          <a:ln/>
        </p:spPr>
        <p:txBody>
          <a:bodyPr wrap="square" lIns="0" tIns="0" rIns="0" bIns="0" rtlCol="0" anchor="ctr"/>
          <a:lstStyle/>
          <a:p>
            <a:pPr indent="0" marL="0">
              <a:lnSpc>
                <a:spcPts val="1300"/>
              </a:lnSpc>
              <a:buNone/>
            </a:pPr>
            <a:r>
              <a:rPr lang="en-US" sz="1050" dirty="0">
                <a:solidFill>
                  <a:srgbClr val="1E293B"/>
                </a:solidFill>
                <a:latin typeface="Calibri" pitchFamily="34" charset="0"/>
                <a:ea typeface="Calibri" pitchFamily="34" charset="-122"/>
                <a:cs typeface="Calibri" pitchFamily="34" charset="-120"/>
              </a:rPr>
              <a:t>Hungarian assignment + min-cost-flow shelters + pre-positioning</a:t>
            </a:r>
            <a:endParaRPr lang="en-US" sz="1050" dirty="0"/>
          </a:p>
        </p:txBody>
      </p:sp>
      <p:sp>
        <p:nvSpPr>
          <p:cNvPr id="42" name="Shape 40"/>
          <p:cNvSpPr/>
          <p:nvPr/>
        </p:nvSpPr>
        <p:spPr>
          <a:xfrm>
            <a:off x="9089136" y="3703320"/>
            <a:ext cx="2679192" cy="1965960"/>
          </a:xfrm>
          <a:prstGeom prst="roundRect">
            <a:avLst>
              <a:gd name="adj" fmla="val 2791"/>
            </a:avLst>
          </a:prstGeom>
          <a:solidFill>
            <a:srgbClr val="ECFDF5"/>
          </a:solidFill>
          <a:ln w="15240">
            <a:solidFill>
              <a:srgbClr val="059669"/>
            </a:solidFill>
            <a:prstDash val="solid"/>
          </a:ln>
        </p:spPr>
      </p:sp>
      <p:sp>
        <p:nvSpPr>
          <p:cNvPr id="43" name="Text 41"/>
          <p:cNvSpPr/>
          <p:nvPr/>
        </p:nvSpPr>
        <p:spPr>
          <a:xfrm>
            <a:off x="9272016" y="3858768"/>
            <a:ext cx="457200" cy="365760"/>
          </a:xfrm>
          <a:prstGeom prst="rect">
            <a:avLst/>
          </a:prstGeom>
          <a:noFill/>
          <a:ln/>
        </p:spPr>
        <p:txBody>
          <a:bodyPr wrap="square" lIns="0" tIns="0" rIns="0" bIns="0" rtlCol="0" anchor="ctr"/>
          <a:lstStyle/>
          <a:p>
            <a:pPr indent="0" marL="0">
              <a:buNone/>
            </a:pPr>
            <a:r>
              <a:rPr lang="en-US" sz="2000" b="1" dirty="0">
                <a:solidFill>
                  <a:srgbClr val="059669"/>
                </a:solidFill>
                <a:latin typeface="Arial" pitchFamily="34" charset="0"/>
                <a:ea typeface="Arial" pitchFamily="34" charset="-122"/>
                <a:cs typeface="Arial" pitchFamily="34" charset="-120"/>
              </a:rPr>
              <a:t>4</a:t>
            </a:r>
            <a:endParaRPr lang="en-US" sz="2000" dirty="0"/>
          </a:p>
        </p:txBody>
      </p:sp>
      <p:sp>
        <p:nvSpPr>
          <p:cNvPr id="44" name="Text 42"/>
          <p:cNvSpPr/>
          <p:nvPr/>
        </p:nvSpPr>
        <p:spPr>
          <a:xfrm>
            <a:off x="9272016" y="4297680"/>
            <a:ext cx="2331720" cy="502920"/>
          </a:xfrm>
          <a:prstGeom prst="rect">
            <a:avLst/>
          </a:prstGeom>
          <a:noFill/>
          <a:ln/>
        </p:spPr>
        <p:txBody>
          <a:bodyPr wrap="square" lIns="0" tIns="0" rIns="0" bIns="0" rtlCol="0" anchor="ctr"/>
          <a:lstStyle/>
          <a:p>
            <a:pPr indent="0" marL="0">
              <a:buNone/>
            </a:pPr>
            <a:r>
              <a:rPr lang="en-US" sz="1350" b="1" dirty="0">
                <a:solidFill>
                  <a:srgbClr val="0F172A"/>
                </a:solidFill>
                <a:latin typeface="Arial" pitchFamily="34" charset="0"/>
                <a:ea typeface="Arial" pitchFamily="34" charset="-122"/>
                <a:cs typeface="Arial" pitchFamily="34" charset="-120"/>
              </a:rPr>
              <a:t>SMS / IVR fallback</a:t>
            </a:r>
            <a:endParaRPr lang="en-US" sz="1350" dirty="0"/>
          </a:p>
        </p:txBody>
      </p:sp>
      <p:sp>
        <p:nvSpPr>
          <p:cNvPr id="45" name="Text 43"/>
          <p:cNvSpPr/>
          <p:nvPr/>
        </p:nvSpPr>
        <p:spPr>
          <a:xfrm>
            <a:off x="9272016" y="4828032"/>
            <a:ext cx="2331720" cy="777240"/>
          </a:xfrm>
          <a:prstGeom prst="rect">
            <a:avLst/>
          </a:prstGeom>
          <a:noFill/>
          <a:ln/>
        </p:spPr>
        <p:txBody>
          <a:bodyPr wrap="square" lIns="0" tIns="0" rIns="0" bIns="0" rtlCol="0" anchor="ctr"/>
          <a:lstStyle/>
          <a:p>
            <a:pPr indent="0" marL="0">
              <a:lnSpc>
                <a:spcPts val="1300"/>
              </a:lnSpc>
              <a:buNone/>
            </a:pPr>
            <a:r>
              <a:rPr lang="en-US" sz="1050" dirty="0">
                <a:solidFill>
                  <a:srgbClr val="1E293B"/>
                </a:solidFill>
                <a:latin typeface="Calibri" pitchFamily="34" charset="0"/>
                <a:ea typeface="Calibri" pitchFamily="34" charset="-122"/>
                <a:cs typeface="Calibri" pitchFamily="34" charset="-120"/>
              </a:rPr>
              <a:t>Structured SMS grammar, DTMF voice tree, targeted outbound advisories</a:t>
            </a:r>
            <a:endParaRPr lang="en-US" sz="1050" dirty="0"/>
          </a:p>
        </p:txBody>
      </p:sp>
      <p:sp>
        <p:nvSpPr>
          <p:cNvPr id="46" name="Text 44"/>
          <p:cNvSpPr/>
          <p:nvPr/>
        </p:nvSpPr>
        <p:spPr>
          <a:xfrm>
            <a:off x="502920" y="6419088"/>
            <a:ext cx="11155680" cy="274320"/>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Every ingest channel produces the same normalised report object — the optimizer cannot tell which one was used.</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02920" y="310896"/>
            <a:ext cx="640080" cy="457200"/>
          </a:xfrm>
          <a:prstGeom prst="rect">
            <a:avLst/>
          </a:prstGeom>
          <a:noFill/>
          <a:ln/>
        </p:spPr>
        <p:txBody>
          <a:bodyPr wrap="square" lIns="0" tIns="0" rIns="0" bIns="0" rtlCol="0" anchor="ctr"/>
          <a:lstStyle/>
          <a:p>
            <a:pPr algn="l" indent="0" marL="0">
              <a:buNone/>
            </a:pPr>
            <a:r>
              <a:rPr lang="en-US" sz="2600" b="1" dirty="0">
                <a:solidFill>
                  <a:srgbClr val="DC2626"/>
                </a:solidFill>
                <a:latin typeface="Arial" pitchFamily="34" charset="0"/>
                <a:ea typeface="Arial" pitchFamily="34" charset="-122"/>
                <a:cs typeface="Arial" pitchFamily="34" charset="-120"/>
              </a:rPr>
              <a:t>04</a:t>
            </a:r>
            <a:endParaRPr lang="en-US" sz="2600" dirty="0"/>
          </a:p>
        </p:txBody>
      </p:sp>
      <p:sp>
        <p:nvSpPr>
          <p:cNvPr id="3" name="Text 1"/>
          <p:cNvSpPr/>
          <p:nvPr/>
        </p:nvSpPr>
        <p:spPr>
          <a:xfrm>
            <a:off x="1143000" y="274320"/>
            <a:ext cx="8778240" cy="530352"/>
          </a:xfrm>
          <a:prstGeom prst="rect">
            <a:avLst/>
          </a:prstGeom>
          <a:noFill/>
          <a:ln/>
        </p:spPr>
        <p:txBody>
          <a:bodyPr wrap="square" lIns="0" tIns="0" rIns="0" bIns="0" rtlCol="0" anchor="ctr"/>
          <a:lstStyle/>
          <a:p>
            <a:pPr indent="0" marL="0">
              <a:buNone/>
            </a:pPr>
            <a:r>
              <a:rPr lang="en-US" sz="2800" b="1" dirty="0">
                <a:solidFill>
                  <a:srgbClr val="0F172A"/>
                </a:solidFill>
                <a:latin typeface="Arial" pitchFamily="34" charset="0"/>
                <a:ea typeface="Arial" pitchFamily="34" charset="-122"/>
                <a:cs typeface="Arial" pitchFamily="34" charset="-120"/>
              </a:rPr>
              <a:t>System architecture</a:t>
            </a:r>
            <a:endParaRPr lang="en-US" sz="2800" dirty="0"/>
          </a:p>
        </p:txBody>
      </p:sp>
      <p:sp>
        <p:nvSpPr>
          <p:cNvPr id="4" name="Text 2"/>
          <p:cNvSpPr/>
          <p:nvPr/>
        </p:nvSpPr>
        <p:spPr>
          <a:xfrm>
            <a:off x="1161288" y="795528"/>
            <a:ext cx="10424160" cy="310896"/>
          </a:xfrm>
          <a:prstGeom prst="rect">
            <a:avLst/>
          </a:prstGeom>
          <a:noFill/>
          <a:ln/>
        </p:spPr>
        <p:txBody>
          <a:bodyPr wrap="square" lIns="0" tIns="0" rIns="0" bIns="0" rtlCol="0" anchor="t"/>
          <a:lstStyle/>
          <a:p>
            <a:pPr indent="0" marL="0">
              <a:buNone/>
            </a:pPr>
            <a:r>
              <a:rPr lang="en-US" sz="1300" i="1" dirty="0">
                <a:solidFill>
                  <a:srgbClr val="64748B"/>
                </a:solidFill>
                <a:latin typeface="Calibri" pitchFamily="34" charset="0"/>
                <a:ea typeface="Calibri" pitchFamily="34" charset="-122"/>
                <a:cs typeface="Calibri" pitchFamily="34" charset="-120"/>
              </a:rPr>
              <a:t>One deployment per district. Runs entirely offline from a single docker compose command.</a:t>
            </a:r>
            <a:endParaRPr lang="en-US" sz="1300" dirty="0"/>
          </a:p>
        </p:txBody>
      </p:sp>
      <p:sp>
        <p:nvSpPr>
          <p:cNvPr id="5" name="Text 3"/>
          <p:cNvSpPr/>
          <p:nvPr/>
        </p:nvSpPr>
        <p:spPr>
          <a:xfrm>
            <a:off x="502920" y="1234440"/>
            <a:ext cx="2743200" cy="256032"/>
          </a:xfrm>
          <a:prstGeom prst="rect">
            <a:avLst/>
          </a:prstGeom>
          <a:noFill/>
          <a:ln/>
        </p:spPr>
        <p:txBody>
          <a:bodyPr wrap="square" lIns="0" tIns="0" rIns="0" bIns="0" rtlCol="0" anchor="ctr"/>
          <a:lstStyle/>
          <a:p>
            <a:pPr indent="0" marL="0">
              <a:buNone/>
            </a:pPr>
            <a:r>
              <a:rPr lang="en-US" sz="1050" b="1" spc="100" kern="0" dirty="0">
                <a:solidFill>
                  <a:srgbClr val="64748B"/>
                </a:solidFill>
                <a:latin typeface="Arial" pitchFamily="34" charset="0"/>
                <a:ea typeface="Arial" pitchFamily="34" charset="-122"/>
                <a:cs typeface="Arial" pitchFamily="34" charset="-120"/>
              </a:rPr>
              <a:t>SOURCES</a:t>
            </a:r>
            <a:endParaRPr lang="en-US" sz="1050" dirty="0"/>
          </a:p>
        </p:txBody>
      </p:sp>
      <p:sp>
        <p:nvSpPr>
          <p:cNvPr id="6" name="Text 4"/>
          <p:cNvSpPr/>
          <p:nvPr/>
        </p:nvSpPr>
        <p:spPr>
          <a:xfrm>
            <a:off x="3246120" y="1234440"/>
            <a:ext cx="2743200" cy="256032"/>
          </a:xfrm>
          <a:prstGeom prst="rect">
            <a:avLst/>
          </a:prstGeom>
          <a:noFill/>
          <a:ln/>
        </p:spPr>
        <p:txBody>
          <a:bodyPr wrap="square" lIns="0" tIns="0" rIns="0" bIns="0" rtlCol="0" anchor="ctr"/>
          <a:lstStyle/>
          <a:p>
            <a:pPr indent="0" marL="0">
              <a:buNone/>
            </a:pPr>
            <a:r>
              <a:rPr lang="en-US" sz="1050" b="1" spc="100" kern="0" dirty="0">
                <a:solidFill>
                  <a:srgbClr val="64748B"/>
                </a:solidFill>
                <a:latin typeface="Arial" pitchFamily="34" charset="0"/>
                <a:ea typeface="Arial" pitchFamily="34" charset="-122"/>
                <a:cs typeface="Arial" pitchFamily="34" charset="-120"/>
              </a:rPr>
              <a:t>INGEST &amp; API</a:t>
            </a:r>
            <a:endParaRPr lang="en-US" sz="1050" dirty="0"/>
          </a:p>
        </p:txBody>
      </p:sp>
      <p:sp>
        <p:nvSpPr>
          <p:cNvPr id="7" name="Text 5"/>
          <p:cNvSpPr/>
          <p:nvPr/>
        </p:nvSpPr>
        <p:spPr>
          <a:xfrm>
            <a:off x="6172200" y="1234440"/>
            <a:ext cx="2743200" cy="256032"/>
          </a:xfrm>
          <a:prstGeom prst="rect">
            <a:avLst/>
          </a:prstGeom>
          <a:noFill/>
          <a:ln/>
        </p:spPr>
        <p:txBody>
          <a:bodyPr wrap="square" lIns="0" tIns="0" rIns="0" bIns="0" rtlCol="0" anchor="ctr"/>
          <a:lstStyle/>
          <a:p>
            <a:pPr indent="0" marL="0">
              <a:buNone/>
            </a:pPr>
            <a:r>
              <a:rPr lang="en-US" sz="1050" b="1" spc="100" kern="0" dirty="0">
                <a:solidFill>
                  <a:srgbClr val="64748B"/>
                </a:solidFill>
                <a:latin typeface="Arial" pitchFamily="34" charset="0"/>
                <a:ea typeface="Arial" pitchFamily="34" charset="-122"/>
                <a:cs typeface="Arial" pitchFamily="34" charset="-120"/>
              </a:rPr>
              <a:t>INTELLIGENCE LAYER</a:t>
            </a:r>
            <a:endParaRPr lang="en-US" sz="1050" dirty="0"/>
          </a:p>
        </p:txBody>
      </p:sp>
      <p:sp>
        <p:nvSpPr>
          <p:cNvPr id="8" name="Text 6"/>
          <p:cNvSpPr/>
          <p:nvPr/>
        </p:nvSpPr>
        <p:spPr>
          <a:xfrm>
            <a:off x="9281160" y="1234440"/>
            <a:ext cx="2743200" cy="256032"/>
          </a:xfrm>
          <a:prstGeom prst="rect">
            <a:avLst/>
          </a:prstGeom>
          <a:noFill/>
          <a:ln/>
        </p:spPr>
        <p:txBody>
          <a:bodyPr wrap="square" lIns="0" tIns="0" rIns="0" bIns="0" rtlCol="0" anchor="ctr"/>
          <a:lstStyle/>
          <a:p>
            <a:pPr indent="0" marL="0">
              <a:buNone/>
            </a:pPr>
            <a:r>
              <a:rPr lang="en-US" sz="1050" b="1" spc="100" kern="0" dirty="0">
                <a:solidFill>
                  <a:srgbClr val="64748B"/>
                </a:solidFill>
                <a:latin typeface="Arial" pitchFamily="34" charset="0"/>
                <a:ea typeface="Arial" pitchFamily="34" charset="-122"/>
                <a:cs typeface="Arial" pitchFamily="34" charset="-120"/>
              </a:rPr>
              <a:t>STATE &amp; CONSUMERS</a:t>
            </a:r>
            <a:endParaRPr lang="en-US" sz="1050" dirty="0"/>
          </a:p>
        </p:txBody>
      </p:sp>
      <p:sp>
        <p:nvSpPr>
          <p:cNvPr id="9" name="Shape 7"/>
          <p:cNvSpPr/>
          <p:nvPr/>
        </p:nvSpPr>
        <p:spPr>
          <a:xfrm>
            <a:off x="502920" y="1536192"/>
            <a:ext cx="2514600" cy="713232"/>
          </a:xfrm>
          <a:prstGeom prst="roundRect">
            <a:avLst>
              <a:gd name="adj" fmla="val 7692"/>
            </a:avLst>
          </a:prstGeom>
          <a:solidFill>
            <a:srgbClr val="ECFDF5"/>
          </a:solidFill>
          <a:ln w="13970">
            <a:solidFill>
              <a:srgbClr val="059669"/>
            </a:solidFill>
            <a:prstDash val="solid"/>
          </a:ln>
        </p:spPr>
      </p:sp>
      <p:sp>
        <p:nvSpPr>
          <p:cNvPr id="10" name="Text 8"/>
          <p:cNvSpPr/>
          <p:nvPr/>
        </p:nvSpPr>
        <p:spPr>
          <a:xfrm>
            <a:off x="658368" y="1636776"/>
            <a:ext cx="2240280" cy="256032"/>
          </a:xfrm>
          <a:prstGeom prst="rect">
            <a:avLst/>
          </a:prstGeom>
          <a:noFill/>
          <a:ln/>
        </p:spPr>
        <p:txBody>
          <a:bodyPr wrap="square" lIns="0" tIns="0" rIns="0" bIns="0" rtlCol="0" anchor="ctr"/>
          <a:lstStyle/>
          <a:p>
            <a:pPr indent="0" marL="0">
              <a:buNone/>
            </a:pPr>
            <a:r>
              <a:rPr lang="en-US" sz="1150" b="1" dirty="0">
                <a:solidFill>
                  <a:srgbClr val="0F172A"/>
                </a:solidFill>
                <a:latin typeface="Arial" pitchFamily="34" charset="0"/>
                <a:ea typeface="Arial" pitchFamily="34" charset="-122"/>
                <a:cs typeface="Arial" pitchFamily="34" charset="-120"/>
              </a:rPr>
              <a:t>Citizen PWA</a:t>
            </a:r>
            <a:endParaRPr lang="en-US" sz="1150" dirty="0"/>
          </a:p>
        </p:txBody>
      </p:sp>
      <p:sp>
        <p:nvSpPr>
          <p:cNvPr id="11" name="Text 9"/>
          <p:cNvSpPr/>
          <p:nvPr/>
        </p:nvSpPr>
        <p:spPr>
          <a:xfrm>
            <a:off x="658368" y="1920240"/>
            <a:ext cx="2240280" cy="237744"/>
          </a:xfrm>
          <a:prstGeom prst="rect">
            <a:avLst/>
          </a:prstGeom>
          <a:noFill/>
          <a:ln/>
        </p:spPr>
        <p:txBody>
          <a:bodyPr wrap="square" lIns="0" tIns="0" rIns="0" bIns="0" rtlCol="0" anchor="ctr"/>
          <a:lstStyle/>
          <a:p>
            <a:pPr indent="0" marL="0">
              <a:buNone/>
            </a:pPr>
            <a:r>
              <a:rPr lang="en-US" sz="950" dirty="0">
                <a:solidFill>
                  <a:srgbClr val="64748B"/>
                </a:solidFill>
                <a:latin typeface="Calibri" pitchFamily="34" charset="0"/>
                <a:ea typeface="Calibri" pitchFamily="34" charset="-122"/>
                <a:cs typeface="Calibri" pitchFamily="34" charset="-120"/>
              </a:rPr>
              <a:t>geo + photo, offline queue</a:t>
            </a:r>
            <a:endParaRPr lang="en-US" sz="950" dirty="0"/>
          </a:p>
        </p:txBody>
      </p:sp>
      <p:sp>
        <p:nvSpPr>
          <p:cNvPr id="12" name="Shape 10"/>
          <p:cNvSpPr/>
          <p:nvPr/>
        </p:nvSpPr>
        <p:spPr>
          <a:xfrm>
            <a:off x="502920" y="2377440"/>
            <a:ext cx="2514600" cy="713232"/>
          </a:xfrm>
          <a:prstGeom prst="roundRect">
            <a:avLst>
              <a:gd name="adj" fmla="val 7692"/>
            </a:avLst>
          </a:prstGeom>
          <a:solidFill>
            <a:srgbClr val="ECFDF5"/>
          </a:solidFill>
          <a:ln w="13970">
            <a:solidFill>
              <a:srgbClr val="059669"/>
            </a:solidFill>
            <a:prstDash val="solid"/>
          </a:ln>
        </p:spPr>
      </p:sp>
      <p:sp>
        <p:nvSpPr>
          <p:cNvPr id="13" name="Text 11"/>
          <p:cNvSpPr/>
          <p:nvPr/>
        </p:nvSpPr>
        <p:spPr>
          <a:xfrm>
            <a:off x="658368" y="2478024"/>
            <a:ext cx="2240280" cy="256032"/>
          </a:xfrm>
          <a:prstGeom prst="rect">
            <a:avLst/>
          </a:prstGeom>
          <a:noFill/>
          <a:ln/>
        </p:spPr>
        <p:txBody>
          <a:bodyPr wrap="square" lIns="0" tIns="0" rIns="0" bIns="0" rtlCol="0" anchor="ctr"/>
          <a:lstStyle/>
          <a:p>
            <a:pPr indent="0" marL="0">
              <a:buNone/>
            </a:pPr>
            <a:r>
              <a:rPr lang="en-US" sz="1150" b="1" dirty="0">
                <a:solidFill>
                  <a:srgbClr val="0F172A"/>
                </a:solidFill>
                <a:latin typeface="Arial" pitchFamily="34" charset="0"/>
                <a:ea typeface="Arial" pitchFamily="34" charset="-122"/>
                <a:cs typeface="Arial" pitchFamily="34" charset="-120"/>
              </a:rPr>
              <a:t>SMS / IVR gateway</a:t>
            </a:r>
            <a:endParaRPr lang="en-US" sz="1150" dirty="0"/>
          </a:p>
        </p:txBody>
      </p:sp>
      <p:sp>
        <p:nvSpPr>
          <p:cNvPr id="14" name="Text 12"/>
          <p:cNvSpPr/>
          <p:nvPr/>
        </p:nvSpPr>
        <p:spPr>
          <a:xfrm>
            <a:off x="658368" y="2761488"/>
            <a:ext cx="2240280" cy="237744"/>
          </a:xfrm>
          <a:prstGeom prst="rect">
            <a:avLst/>
          </a:prstGeom>
          <a:noFill/>
          <a:ln/>
        </p:spPr>
        <p:txBody>
          <a:bodyPr wrap="square" lIns="0" tIns="0" rIns="0" bIns="0" rtlCol="0" anchor="ctr"/>
          <a:lstStyle/>
          <a:p>
            <a:pPr indent="0" marL="0">
              <a:buNone/>
            </a:pPr>
            <a:r>
              <a:rPr lang="en-US" sz="950" dirty="0">
                <a:solidFill>
                  <a:srgbClr val="64748B"/>
                </a:solidFill>
                <a:latin typeface="Calibri" pitchFamily="34" charset="0"/>
                <a:ea typeface="Calibri" pitchFamily="34" charset="-122"/>
                <a:cs typeface="Calibri" pitchFamily="34" charset="-120"/>
              </a:rPr>
              <a:t>Twilio · Exotel · mock</a:t>
            </a:r>
            <a:endParaRPr lang="en-US" sz="950" dirty="0"/>
          </a:p>
        </p:txBody>
      </p:sp>
      <p:sp>
        <p:nvSpPr>
          <p:cNvPr id="15" name="Shape 13"/>
          <p:cNvSpPr/>
          <p:nvPr/>
        </p:nvSpPr>
        <p:spPr>
          <a:xfrm>
            <a:off x="502920" y="3218688"/>
            <a:ext cx="2514600" cy="713232"/>
          </a:xfrm>
          <a:prstGeom prst="roundRect">
            <a:avLst>
              <a:gd name="adj" fmla="val 7692"/>
            </a:avLst>
          </a:prstGeom>
          <a:solidFill>
            <a:srgbClr val="EFF6FF"/>
          </a:solidFill>
          <a:ln w="13970">
            <a:solidFill>
              <a:srgbClr val="1D4ED8"/>
            </a:solidFill>
            <a:prstDash val="solid"/>
          </a:ln>
        </p:spPr>
      </p:sp>
      <p:sp>
        <p:nvSpPr>
          <p:cNvPr id="16" name="Text 14"/>
          <p:cNvSpPr/>
          <p:nvPr/>
        </p:nvSpPr>
        <p:spPr>
          <a:xfrm>
            <a:off x="658368" y="3319272"/>
            <a:ext cx="2240280" cy="256032"/>
          </a:xfrm>
          <a:prstGeom prst="rect">
            <a:avLst/>
          </a:prstGeom>
          <a:noFill/>
          <a:ln/>
        </p:spPr>
        <p:txBody>
          <a:bodyPr wrap="square" lIns="0" tIns="0" rIns="0" bIns="0" rtlCol="0" anchor="ctr"/>
          <a:lstStyle/>
          <a:p>
            <a:pPr indent="0" marL="0">
              <a:buNone/>
            </a:pPr>
            <a:r>
              <a:rPr lang="en-US" sz="1150" b="1" dirty="0">
                <a:solidFill>
                  <a:srgbClr val="0F172A"/>
                </a:solidFill>
                <a:latin typeface="Arial" pitchFamily="34" charset="0"/>
                <a:ea typeface="Arial" pitchFamily="34" charset="-122"/>
                <a:cs typeface="Arial" pitchFamily="34" charset="-120"/>
              </a:rPr>
              <a:t>SACHET CAP XML</a:t>
            </a:r>
            <a:endParaRPr lang="en-US" sz="1150" dirty="0"/>
          </a:p>
        </p:txBody>
      </p:sp>
      <p:sp>
        <p:nvSpPr>
          <p:cNvPr id="17" name="Text 15"/>
          <p:cNvSpPr/>
          <p:nvPr/>
        </p:nvSpPr>
        <p:spPr>
          <a:xfrm>
            <a:off x="658368" y="3602736"/>
            <a:ext cx="2240280" cy="237744"/>
          </a:xfrm>
          <a:prstGeom prst="rect">
            <a:avLst/>
          </a:prstGeom>
          <a:noFill/>
          <a:ln/>
        </p:spPr>
        <p:txBody>
          <a:bodyPr wrap="square" lIns="0" tIns="0" rIns="0" bIns="0" rtlCol="0" anchor="ctr"/>
          <a:lstStyle/>
          <a:p>
            <a:pPr indent="0" marL="0">
              <a:buNone/>
            </a:pPr>
            <a:r>
              <a:rPr lang="en-US" sz="950" dirty="0">
                <a:solidFill>
                  <a:srgbClr val="64748B"/>
                </a:solidFill>
                <a:latin typeface="Calibri" pitchFamily="34" charset="0"/>
                <a:ea typeface="Calibri" pitchFamily="34" charset="-122"/>
                <a:cs typeface="Calibri" pitchFamily="34" charset="-120"/>
              </a:rPr>
              <a:t>ETag poll, every 60s</a:t>
            </a:r>
            <a:endParaRPr lang="en-US" sz="950" dirty="0"/>
          </a:p>
        </p:txBody>
      </p:sp>
      <p:sp>
        <p:nvSpPr>
          <p:cNvPr id="18" name="Shape 16"/>
          <p:cNvSpPr/>
          <p:nvPr/>
        </p:nvSpPr>
        <p:spPr>
          <a:xfrm>
            <a:off x="502920" y="4059936"/>
            <a:ext cx="2514600" cy="713232"/>
          </a:xfrm>
          <a:prstGeom prst="roundRect">
            <a:avLst>
              <a:gd name="adj" fmla="val 7692"/>
            </a:avLst>
          </a:prstGeom>
          <a:solidFill>
            <a:srgbClr val="EFF6FF"/>
          </a:solidFill>
          <a:ln w="13970">
            <a:solidFill>
              <a:srgbClr val="1D4ED8"/>
            </a:solidFill>
            <a:prstDash val="solid"/>
          </a:ln>
        </p:spPr>
      </p:sp>
      <p:sp>
        <p:nvSpPr>
          <p:cNvPr id="19" name="Text 17"/>
          <p:cNvSpPr/>
          <p:nvPr/>
        </p:nvSpPr>
        <p:spPr>
          <a:xfrm>
            <a:off x="658368" y="4160520"/>
            <a:ext cx="2240280" cy="256032"/>
          </a:xfrm>
          <a:prstGeom prst="rect">
            <a:avLst/>
          </a:prstGeom>
          <a:noFill/>
          <a:ln/>
        </p:spPr>
        <p:txBody>
          <a:bodyPr wrap="square" lIns="0" tIns="0" rIns="0" bIns="0" rtlCol="0" anchor="ctr"/>
          <a:lstStyle/>
          <a:p>
            <a:pPr indent="0" marL="0">
              <a:buNone/>
            </a:pPr>
            <a:r>
              <a:rPr lang="en-US" sz="1150" b="1" dirty="0">
                <a:solidFill>
                  <a:srgbClr val="0F172A"/>
                </a:solidFill>
                <a:latin typeface="Arial" pitchFamily="34" charset="0"/>
                <a:ea typeface="Arial" pitchFamily="34" charset="-122"/>
                <a:cs typeface="Arial" pitchFamily="34" charset="-120"/>
              </a:rPr>
              <a:t>IMD / CWC / Meteo</a:t>
            </a:r>
            <a:endParaRPr lang="en-US" sz="1150" dirty="0"/>
          </a:p>
        </p:txBody>
      </p:sp>
      <p:sp>
        <p:nvSpPr>
          <p:cNvPr id="20" name="Text 18"/>
          <p:cNvSpPr/>
          <p:nvPr/>
        </p:nvSpPr>
        <p:spPr>
          <a:xfrm>
            <a:off x="658368" y="4443984"/>
            <a:ext cx="2240280" cy="237744"/>
          </a:xfrm>
          <a:prstGeom prst="rect">
            <a:avLst/>
          </a:prstGeom>
          <a:noFill/>
          <a:ln/>
        </p:spPr>
        <p:txBody>
          <a:bodyPr wrap="square" lIns="0" tIns="0" rIns="0" bIns="0" rtlCol="0" anchor="ctr"/>
          <a:lstStyle/>
          <a:p>
            <a:pPr indent="0" marL="0">
              <a:buNone/>
            </a:pPr>
            <a:r>
              <a:rPr lang="en-US" sz="950" dirty="0">
                <a:solidFill>
                  <a:srgbClr val="64748B"/>
                </a:solidFill>
                <a:latin typeface="Calibri" pitchFamily="34" charset="0"/>
                <a:ea typeface="Calibri" pitchFamily="34" charset="-122"/>
                <a:cs typeface="Calibri" pitchFamily="34" charset="-120"/>
              </a:rPr>
              <a:t>rainfall, river stage</a:t>
            </a:r>
            <a:endParaRPr lang="en-US" sz="950" dirty="0"/>
          </a:p>
        </p:txBody>
      </p:sp>
      <p:sp>
        <p:nvSpPr>
          <p:cNvPr id="21" name="Shape 19"/>
          <p:cNvSpPr/>
          <p:nvPr/>
        </p:nvSpPr>
        <p:spPr>
          <a:xfrm>
            <a:off x="502920" y="4901184"/>
            <a:ext cx="2514600" cy="713232"/>
          </a:xfrm>
          <a:prstGeom prst="roundRect">
            <a:avLst>
              <a:gd name="adj" fmla="val 7692"/>
            </a:avLst>
          </a:prstGeom>
          <a:solidFill>
            <a:srgbClr val="FEF2F2"/>
          </a:solidFill>
          <a:ln w="13970">
            <a:solidFill>
              <a:srgbClr val="DC2626"/>
            </a:solidFill>
            <a:prstDash val="solid"/>
          </a:ln>
        </p:spPr>
      </p:sp>
      <p:sp>
        <p:nvSpPr>
          <p:cNvPr id="22" name="Text 20"/>
          <p:cNvSpPr/>
          <p:nvPr/>
        </p:nvSpPr>
        <p:spPr>
          <a:xfrm>
            <a:off x="658368" y="5001768"/>
            <a:ext cx="2240280" cy="256032"/>
          </a:xfrm>
          <a:prstGeom prst="rect">
            <a:avLst/>
          </a:prstGeom>
          <a:noFill/>
          <a:ln/>
        </p:spPr>
        <p:txBody>
          <a:bodyPr wrap="square" lIns="0" tIns="0" rIns="0" bIns="0" rtlCol="0" anchor="ctr"/>
          <a:lstStyle/>
          <a:p>
            <a:pPr indent="0" marL="0">
              <a:buNone/>
            </a:pPr>
            <a:r>
              <a:rPr lang="en-US" sz="1150" b="1" dirty="0">
                <a:solidFill>
                  <a:srgbClr val="0F172A"/>
                </a:solidFill>
                <a:latin typeface="Arial" pitchFamily="34" charset="0"/>
                <a:ea typeface="Arial" pitchFamily="34" charset="-122"/>
                <a:cs typeface="Arial" pitchFamily="34" charset="-120"/>
              </a:rPr>
              <a:t>Field unit app</a:t>
            </a:r>
            <a:endParaRPr lang="en-US" sz="1150" dirty="0"/>
          </a:p>
        </p:txBody>
      </p:sp>
      <p:sp>
        <p:nvSpPr>
          <p:cNvPr id="23" name="Text 21"/>
          <p:cNvSpPr/>
          <p:nvPr/>
        </p:nvSpPr>
        <p:spPr>
          <a:xfrm>
            <a:off x="658368" y="5285232"/>
            <a:ext cx="2240280" cy="237744"/>
          </a:xfrm>
          <a:prstGeom prst="rect">
            <a:avLst/>
          </a:prstGeom>
          <a:noFill/>
          <a:ln/>
        </p:spPr>
        <p:txBody>
          <a:bodyPr wrap="square" lIns="0" tIns="0" rIns="0" bIns="0" rtlCol="0" anchor="ctr"/>
          <a:lstStyle/>
          <a:p>
            <a:pPr indent="0" marL="0">
              <a:buNone/>
            </a:pPr>
            <a:r>
              <a:rPr lang="en-US" sz="950" dirty="0">
                <a:solidFill>
                  <a:srgbClr val="64748B"/>
                </a:solidFill>
                <a:latin typeface="Calibri" pitchFamily="34" charset="0"/>
                <a:ea typeface="Calibri" pitchFamily="34" charset="-122"/>
                <a:cs typeface="Calibri" pitchFamily="34" charset="-120"/>
              </a:rPr>
              <a:t>status + ground truth</a:t>
            </a:r>
            <a:endParaRPr lang="en-US" sz="950" dirty="0"/>
          </a:p>
        </p:txBody>
      </p:sp>
      <p:sp>
        <p:nvSpPr>
          <p:cNvPr id="24" name="Shape 22"/>
          <p:cNvSpPr/>
          <p:nvPr/>
        </p:nvSpPr>
        <p:spPr>
          <a:xfrm>
            <a:off x="3246120" y="1536192"/>
            <a:ext cx="2651760" cy="2377440"/>
          </a:xfrm>
          <a:prstGeom prst="roundRect">
            <a:avLst>
              <a:gd name="adj" fmla="val 2308"/>
            </a:avLst>
          </a:prstGeom>
          <a:solidFill>
            <a:srgbClr val="0F172A"/>
          </a:solidFill>
          <a:ln w="12700">
            <a:solidFill>
              <a:srgbClr val="0F172A"/>
            </a:solidFill>
            <a:prstDash val="solid"/>
          </a:ln>
        </p:spPr>
      </p:sp>
      <p:sp>
        <p:nvSpPr>
          <p:cNvPr id="25" name="Text 23"/>
          <p:cNvSpPr/>
          <p:nvPr/>
        </p:nvSpPr>
        <p:spPr>
          <a:xfrm>
            <a:off x="3429000" y="1691640"/>
            <a:ext cx="2286000" cy="320040"/>
          </a:xfrm>
          <a:prstGeom prst="rect">
            <a:avLst/>
          </a:prstGeom>
          <a:noFill/>
          <a:ln/>
        </p:spPr>
        <p:txBody>
          <a:bodyPr wrap="square" lIns="0" tIns="0" rIns="0" bIns="0" rtlCol="0" anchor="ctr"/>
          <a:lstStyle/>
          <a:p>
            <a:pPr indent="0" marL="0">
              <a:buNone/>
            </a:pPr>
            <a:r>
              <a:rPr lang="en-US" sz="1500" b="1" dirty="0">
                <a:solidFill>
                  <a:srgbClr val="FFFFFF"/>
                </a:solidFill>
                <a:latin typeface="Arial" pitchFamily="34" charset="0"/>
                <a:ea typeface="Arial" pitchFamily="34" charset="-122"/>
                <a:cs typeface="Arial" pitchFamily="34" charset="-120"/>
              </a:rPr>
              <a:t>FastAPI</a:t>
            </a:r>
            <a:endParaRPr lang="en-US" sz="1500" dirty="0"/>
          </a:p>
        </p:txBody>
      </p:sp>
      <p:sp>
        <p:nvSpPr>
          <p:cNvPr id="26" name="Text 24"/>
          <p:cNvSpPr/>
          <p:nvPr/>
        </p:nvSpPr>
        <p:spPr>
          <a:xfrm>
            <a:off x="3429000" y="2057400"/>
            <a:ext cx="2286000" cy="1005840"/>
          </a:xfrm>
          <a:prstGeom prst="rect">
            <a:avLst/>
          </a:prstGeom>
          <a:noFill/>
          <a:ln/>
        </p:spPr>
        <p:txBody>
          <a:bodyPr wrap="square" lIns="0" tIns="0" rIns="0" bIns="0" rtlCol="0" anchor="ctr"/>
          <a:lstStyle/>
          <a:p>
            <a:pPr indent="0" marL="0">
              <a:lnSpc>
                <a:spcPts val="1400"/>
              </a:lnSpc>
              <a:buNone/>
            </a:pPr>
            <a:r>
              <a:rPr lang="en-US" sz="1000" dirty="0">
                <a:solidFill>
                  <a:srgbClr val="CBD5E1"/>
                </a:solidFill>
                <a:latin typeface="Calibri" pitchFamily="34" charset="0"/>
                <a:ea typeface="Calibri" pitchFamily="34" charset="-122"/>
                <a:cs typeface="Calibri" pitchFamily="34" charset="-120"/>
              </a:rPr>
              <a:t>/ingest/report  /ingest/sms</a:t>
            </a:r>
            <a:endParaRPr lang="en-US" sz="1000" dirty="0"/>
          </a:p>
          <a:p>
            <a:pPr indent="0" marL="0">
              <a:lnSpc>
                <a:spcPts val="1400"/>
              </a:lnSpc>
              <a:buNone/>
            </a:pPr>
            <a:r>
              <a:rPr lang="en-US" sz="1000" dirty="0">
                <a:solidFill>
                  <a:srgbClr val="CBD5E1"/>
                </a:solidFill>
                <a:latin typeface="Calibri" pitchFamily="34" charset="0"/>
                <a:ea typeface="Calibri" pitchFamily="34" charset="-122"/>
                <a:cs typeface="Calibri" pitchFamily="34" charset="-120"/>
              </a:rPr>
              <a:t>/incidents  /resources</a:t>
            </a:r>
            <a:endParaRPr lang="en-US" sz="1000" dirty="0"/>
          </a:p>
          <a:p>
            <a:pPr indent="0" marL="0">
              <a:lnSpc>
                <a:spcPts val="1400"/>
              </a:lnSpc>
              <a:buNone/>
            </a:pPr>
            <a:r>
              <a:rPr lang="en-US" sz="1000" dirty="0">
                <a:solidFill>
                  <a:srgbClr val="CBD5E1"/>
                </a:solidFill>
                <a:latin typeface="Calibri" pitchFamily="34" charset="0"/>
                <a:ea typeface="Calibri" pitchFamily="34" charset="-122"/>
                <a:cs typeface="Calibri" pitchFamily="34" charset="-120"/>
              </a:rPr>
              <a:t>/assignments/commit</a:t>
            </a:r>
            <a:endParaRPr lang="en-US" sz="1000" dirty="0"/>
          </a:p>
          <a:p>
            <a:pPr indent="0" marL="0">
              <a:lnSpc>
                <a:spcPts val="1400"/>
              </a:lnSpc>
              <a:buNone/>
            </a:pPr>
            <a:r>
              <a:rPr lang="en-US" sz="1000" dirty="0">
                <a:solidFill>
                  <a:srgbClr val="CBD5E1"/>
                </a:solidFill>
                <a:latin typeface="Calibri" pitchFamily="34" charset="0"/>
                <a:ea typeface="Calibri" pitchFamily="34" charset="-122"/>
                <a:cs typeface="Calibri" pitchFamily="34" charset="-120"/>
              </a:rPr>
              <a:t>/ws  WebSocket hub</a:t>
            </a:r>
            <a:endParaRPr lang="en-US" sz="1000" dirty="0"/>
          </a:p>
        </p:txBody>
      </p:sp>
      <p:sp>
        <p:nvSpPr>
          <p:cNvPr id="27" name="Text 25"/>
          <p:cNvSpPr/>
          <p:nvPr/>
        </p:nvSpPr>
        <p:spPr>
          <a:xfrm>
            <a:off x="3429000" y="3127248"/>
            <a:ext cx="2286000" cy="256032"/>
          </a:xfrm>
          <a:prstGeom prst="rect">
            <a:avLst/>
          </a:prstGeom>
          <a:noFill/>
          <a:ln/>
        </p:spPr>
        <p:txBody>
          <a:bodyPr wrap="square" lIns="0" tIns="0" rIns="0" bIns="0" rtlCol="0" anchor="ctr"/>
          <a:lstStyle/>
          <a:p>
            <a:pPr indent="0" marL="0">
              <a:buNone/>
            </a:pPr>
            <a:r>
              <a:rPr lang="en-US" sz="950" i="1" dirty="0">
                <a:solidFill>
                  <a:srgbClr val="64748B"/>
                </a:solidFill>
                <a:latin typeface="Calibri" pitchFamily="34" charset="0"/>
                <a:ea typeface="Calibri" pitchFamily="34" charset="-122"/>
                <a:cs typeface="Calibri" pitchFamily="34" charset="-120"/>
              </a:rPr>
              <a:t>validation · auth · rate limit</a:t>
            </a:r>
            <a:endParaRPr lang="en-US" sz="950" dirty="0"/>
          </a:p>
        </p:txBody>
      </p:sp>
      <p:sp>
        <p:nvSpPr>
          <p:cNvPr id="28" name="Shape 26"/>
          <p:cNvSpPr/>
          <p:nvPr/>
        </p:nvSpPr>
        <p:spPr>
          <a:xfrm>
            <a:off x="3246120" y="4041648"/>
            <a:ext cx="2651760" cy="713232"/>
          </a:xfrm>
          <a:prstGeom prst="roundRect">
            <a:avLst>
              <a:gd name="adj" fmla="val 7692"/>
            </a:avLst>
          </a:prstGeom>
          <a:solidFill>
            <a:srgbClr val="1E293B"/>
          </a:solidFill>
          <a:ln w="12700">
            <a:solidFill>
              <a:srgbClr val="1E293B"/>
            </a:solidFill>
            <a:prstDash val="solid"/>
          </a:ln>
        </p:spPr>
      </p:sp>
      <p:sp>
        <p:nvSpPr>
          <p:cNvPr id="29" name="Text 27"/>
          <p:cNvSpPr/>
          <p:nvPr/>
        </p:nvSpPr>
        <p:spPr>
          <a:xfrm>
            <a:off x="3429000" y="4142232"/>
            <a:ext cx="2286000" cy="256032"/>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CAP Poller</a:t>
            </a:r>
            <a:endParaRPr lang="en-US" sz="1200" dirty="0"/>
          </a:p>
        </p:txBody>
      </p:sp>
      <p:sp>
        <p:nvSpPr>
          <p:cNvPr id="30" name="Text 28"/>
          <p:cNvSpPr/>
          <p:nvPr/>
        </p:nvSpPr>
        <p:spPr>
          <a:xfrm>
            <a:off x="3429000" y="4416552"/>
            <a:ext cx="2286000" cy="237744"/>
          </a:xfrm>
          <a:prstGeom prst="rect">
            <a:avLst/>
          </a:prstGeom>
          <a:noFill/>
          <a:ln/>
        </p:spPr>
        <p:txBody>
          <a:bodyPr wrap="square" lIns="0" tIns="0" rIns="0" bIns="0" rtlCol="0" anchor="ctr"/>
          <a:lstStyle/>
          <a:p>
            <a:pPr indent="0" marL="0">
              <a:buNone/>
            </a:pPr>
            <a:r>
              <a:rPr lang="en-US" sz="950" dirty="0">
                <a:solidFill>
                  <a:srgbClr val="94A3B8"/>
                </a:solidFill>
                <a:latin typeface="Calibri" pitchFamily="34" charset="0"/>
                <a:ea typeface="Calibri" pitchFamily="34" charset="-122"/>
                <a:cs typeface="Calibri" pitchFamily="34" charset="-120"/>
              </a:rPr>
              <a:t>normalise · dedupe · cache</a:t>
            </a:r>
            <a:endParaRPr lang="en-US" sz="950" dirty="0"/>
          </a:p>
        </p:txBody>
      </p:sp>
      <p:sp>
        <p:nvSpPr>
          <p:cNvPr id="31" name="Shape 29"/>
          <p:cNvSpPr/>
          <p:nvPr/>
        </p:nvSpPr>
        <p:spPr>
          <a:xfrm>
            <a:off x="3246120" y="4882896"/>
            <a:ext cx="2651760" cy="713232"/>
          </a:xfrm>
          <a:prstGeom prst="roundRect">
            <a:avLst>
              <a:gd name="adj" fmla="val 7692"/>
            </a:avLst>
          </a:prstGeom>
          <a:solidFill>
            <a:srgbClr val="1E293B"/>
          </a:solidFill>
          <a:ln w="12700">
            <a:solidFill>
              <a:srgbClr val="1E293B"/>
            </a:solidFill>
            <a:prstDash val="solid"/>
          </a:ln>
        </p:spPr>
      </p:sp>
      <p:sp>
        <p:nvSpPr>
          <p:cNvPr id="32" name="Text 30"/>
          <p:cNvSpPr/>
          <p:nvPr/>
        </p:nvSpPr>
        <p:spPr>
          <a:xfrm>
            <a:off x="3429000" y="4983480"/>
            <a:ext cx="2286000" cy="256032"/>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Redis</a:t>
            </a:r>
            <a:endParaRPr lang="en-US" sz="1200" dirty="0"/>
          </a:p>
        </p:txBody>
      </p:sp>
      <p:sp>
        <p:nvSpPr>
          <p:cNvPr id="33" name="Text 31"/>
          <p:cNvSpPr/>
          <p:nvPr/>
        </p:nvSpPr>
        <p:spPr>
          <a:xfrm>
            <a:off x="3429000" y="5257800"/>
            <a:ext cx="2286000" cy="237744"/>
          </a:xfrm>
          <a:prstGeom prst="rect">
            <a:avLst/>
          </a:prstGeom>
          <a:noFill/>
          <a:ln/>
        </p:spPr>
        <p:txBody>
          <a:bodyPr wrap="square" lIns="0" tIns="0" rIns="0" bIns="0" rtlCol="0" anchor="ctr"/>
          <a:lstStyle/>
          <a:p>
            <a:pPr indent="0" marL="0">
              <a:buNone/>
            </a:pPr>
            <a:r>
              <a:rPr lang="en-US" sz="950" dirty="0">
                <a:solidFill>
                  <a:srgbClr val="94A3B8"/>
                </a:solidFill>
                <a:latin typeface="Calibri" pitchFamily="34" charset="0"/>
                <a:ea typeface="Calibri" pitchFamily="34" charset="-122"/>
                <a:cs typeface="Calibri" pitchFamily="34" charset="-120"/>
              </a:rPr>
              <a:t>queue · pub/sub · cache</a:t>
            </a:r>
            <a:endParaRPr lang="en-US" sz="950" dirty="0"/>
          </a:p>
        </p:txBody>
      </p:sp>
      <p:sp>
        <p:nvSpPr>
          <p:cNvPr id="34" name="Shape 32"/>
          <p:cNvSpPr/>
          <p:nvPr/>
        </p:nvSpPr>
        <p:spPr>
          <a:xfrm>
            <a:off x="6172200" y="1536192"/>
            <a:ext cx="2834640" cy="4059936"/>
          </a:xfrm>
          <a:prstGeom prst="roundRect">
            <a:avLst>
              <a:gd name="adj" fmla="val 1935"/>
            </a:avLst>
          </a:prstGeom>
          <a:solidFill>
            <a:srgbClr val="FFFFFF"/>
          </a:solidFill>
          <a:ln w="25400">
            <a:solidFill>
              <a:srgbClr val="DC2626"/>
            </a:solidFill>
            <a:prstDash val="solid"/>
          </a:ln>
        </p:spPr>
      </p:sp>
      <p:sp>
        <p:nvSpPr>
          <p:cNvPr id="35" name="Text 33"/>
          <p:cNvSpPr/>
          <p:nvPr/>
        </p:nvSpPr>
        <p:spPr>
          <a:xfrm>
            <a:off x="6355080" y="1664208"/>
            <a:ext cx="2468880" cy="292608"/>
          </a:xfrm>
          <a:prstGeom prst="rect">
            <a:avLst/>
          </a:prstGeom>
          <a:noFill/>
          <a:ln/>
        </p:spPr>
        <p:txBody>
          <a:bodyPr wrap="square" lIns="0" tIns="0" rIns="0" bIns="0" rtlCol="0" anchor="ctr"/>
          <a:lstStyle/>
          <a:p>
            <a:pPr indent="0" marL="0">
              <a:buNone/>
            </a:pPr>
            <a:r>
              <a:rPr lang="en-US" sz="1400" b="1" dirty="0">
                <a:solidFill>
                  <a:srgbClr val="DC2626"/>
                </a:solidFill>
                <a:latin typeface="Arial" pitchFamily="34" charset="0"/>
                <a:ea typeface="Arial" pitchFamily="34" charset="-122"/>
                <a:cs typeface="Arial" pitchFamily="34" charset="-120"/>
              </a:rPr>
              <a:t>Optimizer Worker</a:t>
            </a:r>
            <a:endParaRPr lang="en-US" sz="1400" dirty="0"/>
          </a:p>
        </p:txBody>
      </p:sp>
      <p:sp>
        <p:nvSpPr>
          <p:cNvPr id="36" name="Shape 34"/>
          <p:cNvSpPr/>
          <p:nvPr/>
        </p:nvSpPr>
        <p:spPr>
          <a:xfrm>
            <a:off x="6355080" y="2029968"/>
            <a:ext cx="2468880" cy="457200"/>
          </a:xfrm>
          <a:prstGeom prst="roundRect">
            <a:avLst>
              <a:gd name="adj" fmla="val 10000"/>
            </a:avLst>
          </a:prstGeom>
          <a:solidFill>
            <a:srgbClr val="FEF2F2"/>
          </a:solidFill>
          <a:ln w="12700">
            <a:solidFill>
              <a:srgbClr val="FEF2F2"/>
            </a:solidFill>
            <a:prstDash val="solid"/>
          </a:ln>
        </p:spPr>
      </p:sp>
      <p:sp>
        <p:nvSpPr>
          <p:cNvPr id="37" name="Text 35"/>
          <p:cNvSpPr/>
          <p:nvPr/>
        </p:nvSpPr>
        <p:spPr>
          <a:xfrm>
            <a:off x="6473952" y="2130552"/>
            <a:ext cx="2286000" cy="256032"/>
          </a:xfrm>
          <a:prstGeom prst="rect">
            <a:avLst/>
          </a:prstGeom>
          <a:noFill/>
          <a:ln/>
        </p:spPr>
        <p:txBody>
          <a:bodyPr wrap="square" lIns="0" tIns="0" rIns="0" bIns="0" rtlCol="0" anchor="ctr"/>
          <a:lstStyle/>
          <a:p>
            <a:pPr indent="0" marL="0">
              <a:buNone/>
            </a:pPr>
            <a:r>
              <a:rPr lang="en-US" sz="1050" dirty="0">
                <a:solidFill>
                  <a:srgbClr val="1E293B"/>
                </a:solidFill>
                <a:latin typeface="Calibri" pitchFamily="34" charset="0"/>
                <a:ea typeface="Calibri" pitchFamily="34" charset="-122"/>
                <a:cs typeface="Calibri" pitchFamily="34" charset="-120"/>
              </a:rPr>
              <a:t>Cluster — ST_ClusterDBSCAN</a:t>
            </a:r>
            <a:endParaRPr lang="en-US" sz="1050" dirty="0"/>
          </a:p>
        </p:txBody>
      </p:sp>
      <p:sp>
        <p:nvSpPr>
          <p:cNvPr id="38" name="Shape 36"/>
          <p:cNvSpPr/>
          <p:nvPr/>
        </p:nvSpPr>
        <p:spPr>
          <a:xfrm>
            <a:off x="6355080" y="2596896"/>
            <a:ext cx="2468880" cy="457200"/>
          </a:xfrm>
          <a:prstGeom prst="roundRect">
            <a:avLst>
              <a:gd name="adj" fmla="val 10000"/>
            </a:avLst>
          </a:prstGeom>
          <a:solidFill>
            <a:srgbClr val="FEF2F2"/>
          </a:solidFill>
          <a:ln w="12700">
            <a:solidFill>
              <a:srgbClr val="FEF2F2"/>
            </a:solidFill>
            <a:prstDash val="solid"/>
          </a:ln>
        </p:spPr>
      </p:sp>
      <p:sp>
        <p:nvSpPr>
          <p:cNvPr id="39" name="Text 37"/>
          <p:cNvSpPr/>
          <p:nvPr/>
        </p:nvSpPr>
        <p:spPr>
          <a:xfrm>
            <a:off x="6473952" y="2697480"/>
            <a:ext cx="2286000" cy="256032"/>
          </a:xfrm>
          <a:prstGeom prst="rect">
            <a:avLst/>
          </a:prstGeom>
          <a:noFill/>
          <a:ln/>
        </p:spPr>
        <p:txBody>
          <a:bodyPr wrap="square" lIns="0" tIns="0" rIns="0" bIns="0" rtlCol="0" anchor="ctr"/>
          <a:lstStyle/>
          <a:p>
            <a:pPr indent="0" marL="0">
              <a:buNone/>
            </a:pPr>
            <a:r>
              <a:rPr lang="en-US" sz="1050" dirty="0">
                <a:solidFill>
                  <a:srgbClr val="1E293B"/>
                </a:solidFill>
                <a:latin typeface="Calibri" pitchFamily="34" charset="0"/>
                <a:ea typeface="Calibri" pitchFamily="34" charset="-122"/>
                <a:cs typeface="Calibri" pitchFamily="34" charset="-120"/>
              </a:rPr>
              <a:t>Score — severity + trust</a:t>
            </a:r>
            <a:endParaRPr lang="en-US" sz="1050" dirty="0"/>
          </a:p>
        </p:txBody>
      </p:sp>
      <p:sp>
        <p:nvSpPr>
          <p:cNvPr id="40" name="Shape 38"/>
          <p:cNvSpPr/>
          <p:nvPr/>
        </p:nvSpPr>
        <p:spPr>
          <a:xfrm>
            <a:off x="6355080" y="3163824"/>
            <a:ext cx="2468880" cy="457200"/>
          </a:xfrm>
          <a:prstGeom prst="roundRect">
            <a:avLst>
              <a:gd name="adj" fmla="val 10000"/>
            </a:avLst>
          </a:prstGeom>
          <a:solidFill>
            <a:srgbClr val="FEF2F2"/>
          </a:solidFill>
          <a:ln w="12700">
            <a:solidFill>
              <a:srgbClr val="FEF2F2"/>
            </a:solidFill>
            <a:prstDash val="solid"/>
          </a:ln>
        </p:spPr>
      </p:sp>
      <p:sp>
        <p:nvSpPr>
          <p:cNvPr id="41" name="Text 39"/>
          <p:cNvSpPr/>
          <p:nvPr/>
        </p:nvSpPr>
        <p:spPr>
          <a:xfrm>
            <a:off x="6473952" y="3264408"/>
            <a:ext cx="2286000" cy="256032"/>
          </a:xfrm>
          <a:prstGeom prst="rect">
            <a:avLst/>
          </a:prstGeom>
          <a:noFill/>
          <a:ln/>
        </p:spPr>
        <p:txBody>
          <a:bodyPr wrap="square" lIns="0" tIns="0" rIns="0" bIns="0" rtlCol="0" anchor="ctr"/>
          <a:lstStyle/>
          <a:p>
            <a:pPr indent="0" marL="0">
              <a:buNone/>
            </a:pPr>
            <a:r>
              <a:rPr lang="en-US" sz="1050" dirty="0">
                <a:solidFill>
                  <a:srgbClr val="1E293B"/>
                </a:solidFill>
                <a:latin typeface="Calibri" pitchFamily="34" charset="0"/>
                <a:ea typeface="Calibri" pitchFamily="34" charset="-122"/>
                <a:cs typeface="Calibri" pitchFamily="34" charset="-120"/>
              </a:rPr>
              <a:t>Cost matrix — OSRM road ETA</a:t>
            </a:r>
            <a:endParaRPr lang="en-US" sz="1050" dirty="0"/>
          </a:p>
        </p:txBody>
      </p:sp>
      <p:sp>
        <p:nvSpPr>
          <p:cNvPr id="42" name="Shape 40"/>
          <p:cNvSpPr/>
          <p:nvPr/>
        </p:nvSpPr>
        <p:spPr>
          <a:xfrm>
            <a:off x="6355080" y="3730752"/>
            <a:ext cx="2468880" cy="457200"/>
          </a:xfrm>
          <a:prstGeom prst="roundRect">
            <a:avLst>
              <a:gd name="adj" fmla="val 10000"/>
            </a:avLst>
          </a:prstGeom>
          <a:solidFill>
            <a:srgbClr val="FEE2E2"/>
          </a:solidFill>
          <a:ln w="15240">
            <a:solidFill>
              <a:srgbClr val="DC2626"/>
            </a:solidFill>
            <a:prstDash val="solid"/>
          </a:ln>
        </p:spPr>
      </p:sp>
      <p:sp>
        <p:nvSpPr>
          <p:cNvPr id="43" name="Text 41"/>
          <p:cNvSpPr/>
          <p:nvPr/>
        </p:nvSpPr>
        <p:spPr>
          <a:xfrm>
            <a:off x="6473952" y="3831336"/>
            <a:ext cx="2286000" cy="256032"/>
          </a:xfrm>
          <a:prstGeom prst="rect">
            <a:avLst/>
          </a:prstGeom>
          <a:noFill/>
          <a:ln/>
        </p:spPr>
        <p:txBody>
          <a:bodyPr wrap="square" lIns="0" tIns="0" rIns="0" bIns="0" rtlCol="0" anchor="ctr"/>
          <a:lstStyle/>
          <a:p>
            <a:pPr indent="0" marL="0">
              <a:buNone/>
            </a:pPr>
            <a:r>
              <a:rPr lang="en-US" sz="1050" b="1" dirty="0">
                <a:solidFill>
                  <a:srgbClr val="7F1D1D"/>
                </a:solidFill>
                <a:latin typeface="Calibri" pitchFamily="34" charset="0"/>
                <a:ea typeface="Calibri" pitchFamily="34" charset="-122"/>
                <a:cs typeface="Calibri" pitchFamily="34" charset="-120"/>
              </a:rPr>
              <a:t>Assign — Hungarian (optimal)</a:t>
            </a:r>
            <a:endParaRPr lang="en-US" sz="1050" dirty="0"/>
          </a:p>
        </p:txBody>
      </p:sp>
      <p:sp>
        <p:nvSpPr>
          <p:cNvPr id="44" name="Shape 42"/>
          <p:cNvSpPr/>
          <p:nvPr/>
        </p:nvSpPr>
        <p:spPr>
          <a:xfrm>
            <a:off x="6355080" y="4297680"/>
            <a:ext cx="2468880" cy="457200"/>
          </a:xfrm>
          <a:prstGeom prst="roundRect">
            <a:avLst>
              <a:gd name="adj" fmla="val 10000"/>
            </a:avLst>
          </a:prstGeom>
          <a:solidFill>
            <a:srgbClr val="FEF2F2"/>
          </a:solidFill>
          <a:ln w="12700">
            <a:solidFill>
              <a:srgbClr val="FEF2F2"/>
            </a:solidFill>
            <a:prstDash val="solid"/>
          </a:ln>
        </p:spPr>
      </p:sp>
      <p:sp>
        <p:nvSpPr>
          <p:cNvPr id="45" name="Text 43"/>
          <p:cNvSpPr/>
          <p:nvPr/>
        </p:nvSpPr>
        <p:spPr>
          <a:xfrm>
            <a:off x="6473952" y="4398264"/>
            <a:ext cx="2286000" cy="256032"/>
          </a:xfrm>
          <a:prstGeom prst="rect">
            <a:avLst/>
          </a:prstGeom>
          <a:noFill/>
          <a:ln/>
        </p:spPr>
        <p:txBody>
          <a:bodyPr wrap="square" lIns="0" tIns="0" rIns="0" bIns="0" rtlCol="0" anchor="ctr"/>
          <a:lstStyle/>
          <a:p>
            <a:pPr indent="0" marL="0">
              <a:buNone/>
            </a:pPr>
            <a:r>
              <a:rPr lang="en-US" sz="1050" dirty="0">
                <a:solidFill>
                  <a:srgbClr val="1E293B"/>
                </a:solidFill>
                <a:latin typeface="Calibri" pitchFamily="34" charset="0"/>
                <a:ea typeface="Calibri" pitchFamily="34" charset="-122"/>
                <a:cs typeface="Calibri" pitchFamily="34" charset="-120"/>
              </a:rPr>
              <a:t>Shelters — min-cost flow</a:t>
            </a:r>
            <a:endParaRPr lang="en-US" sz="1050" dirty="0"/>
          </a:p>
        </p:txBody>
      </p:sp>
      <p:sp>
        <p:nvSpPr>
          <p:cNvPr id="46" name="Shape 44"/>
          <p:cNvSpPr/>
          <p:nvPr/>
        </p:nvSpPr>
        <p:spPr>
          <a:xfrm>
            <a:off x="6355080" y="4864608"/>
            <a:ext cx="2468880" cy="457200"/>
          </a:xfrm>
          <a:prstGeom prst="roundRect">
            <a:avLst>
              <a:gd name="adj" fmla="val 10000"/>
            </a:avLst>
          </a:prstGeom>
          <a:solidFill>
            <a:srgbClr val="FEF2F2"/>
          </a:solidFill>
          <a:ln w="12700">
            <a:solidFill>
              <a:srgbClr val="FEF2F2"/>
            </a:solidFill>
            <a:prstDash val="solid"/>
          </a:ln>
        </p:spPr>
      </p:sp>
      <p:sp>
        <p:nvSpPr>
          <p:cNvPr id="47" name="Text 45"/>
          <p:cNvSpPr/>
          <p:nvPr/>
        </p:nvSpPr>
        <p:spPr>
          <a:xfrm>
            <a:off x="6473952" y="4965192"/>
            <a:ext cx="2286000" cy="256032"/>
          </a:xfrm>
          <a:prstGeom prst="rect">
            <a:avLst/>
          </a:prstGeom>
          <a:noFill/>
          <a:ln/>
        </p:spPr>
        <p:txBody>
          <a:bodyPr wrap="square" lIns="0" tIns="0" rIns="0" bIns="0" rtlCol="0" anchor="ctr"/>
          <a:lstStyle/>
          <a:p>
            <a:pPr indent="0" marL="0">
              <a:buNone/>
            </a:pPr>
            <a:r>
              <a:rPr lang="en-US" sz="1050" dirty="0">
                <a:solidFill>
                  <a:srgbClr val="1E293B"/>
                </a:solidFill>
                <a:latin typeface="Calibri" pitchFamily="34" charset="0"/>
                <a:ea typeface="Calibri" pitchFamily="34" charset="-122"/>
                <a:cs typeface="Calibri" pitchFamily="34" charset="-120"/>
              </a:rPr>
              <a:t>Pre-position — p-median</a:t>
            </a:r>
            <a:endParaRPr lang="en-US" sz="1050" dirty="0"/>
          </a:p>
        </p:txBody>
      </p:sp>
      <p:sp>
        <p:nvSpPr>
          <p:cNvPr id="48" name="Text 46"/>
          <p:cNvSpPr/>
          <p:nvPr/>
        </p:nvSpPr>
        <p:spPr>
          <a:xfrm>
            <a:off x="6355080" y="5358384"/>
            <a:ext cx="2468880" cy="237744"/>
          </a:xfrm>
          <a:prstGeom prst="rect">
            <a:avLst/>
          </a:prstGeom>
          <a:noFill/>
          <a:ln/>
        </p:spPr>
        <p:txBody>
          <a:bodyPr wrap="square" lIns="0" tIns="0" rIns="0" bIns="0" rtlCol="0" anchor="ctr"/>
          <a:lstStyle/>
          <a:p>
            <a:pPr indent="0" marL="0">
              <a:buNone/>
            </a:pPr>
            <a:r>
              <a:rPr lang="en-US" sz="950" i="1" dirty="0">
                <a:solidFill>
                  <a:srgbClr val="64748B"/>
                </a:solidFill>
                <a:latin typeface="Calibri" pitchFamily="34" charset="0"/>
                <a:ea typeface="Calibri" pitchFamily="34" charset="-122"/>
                <a:cs typeface="Calibri" pitchFamily="34" charset="-120"/>
              </a:rPr>
              <a:t>OSRM self-hosted — real road ETAs, no internet</a:t>
            </a:r>
            <a:endParaRPr lang="en-US" sz="950" dirty="0"/>
          </a:p>
        </p:txBody>
      </p:sp>
      <p:sp>
        <p:nvSpPr>
          <p:cNvPr id="49" name="Shape 47"/>
          <p:cNvSpPr/>
          <p:nvPr/>
        </p:nvSpPr>
        <p:spPr>
          <a:xfrm>
            <a:off x="9281160" y="1536192"/>
            <a:ext cx="2377440" cy="1508760"/>
          </a:xfrm>
          <a:prstGeom prst="roundRect">
            <a:avLst>
              <a:gd name="adj" fmla="val 3636"/>
            </a:avLst>
          </a:prstGeom>
          <a:solidFill>
            <a:srgbClr val="0F172A"/>
          </a:solidFill>
          <a:ln w="12700">
            <a:solidFill>
              <a:srgbClr val="0F172A"/>
            </a:solidFill>
            <a:prstDash val="solid"/>
          </a:ln>
        </p:spPr>
      </p:sp>
      <p:sp>
        <p:nvSpPr>
          <p:cNvPr id="50" name="Text 48"/>
          <p:cNvSpPr/>
          <p:nvPr/>
        </p:nvSpPr>
        <p:spPr>
          <a:xfrm>
            <a:off x="9464040" y="1664208"/>
            <a:ext cx="2011680" cy="548640"/>
          </a:xfrm>
          <a:prstGeom prst="rect">
            <a:avLst/>
          </a:prstGeom>
          <a:noFill/>
          <a:ln/>
        </p:spPr>
        <p:txBody>
          <a:bodyPr wrap="square" lIns="0" tIns="0" rIns="0" bIns="0" rtlCol="0" anchor="ctr"/>
          <a:lstStyle/>
          <a:p>
            <a:pPr indent="0" marL="0">
              <a:lnSpc>
                <a:spcPts val="1600"/>
              </a:lnSpc>
              <a:buNone/>
            </a:pPr>
            <a:r>
              <a:rPr lang="en-US" sz="1300" b="1" dirty="0">
                <a:solidFill>
                  <a:srgbClr val="FFFFFF"/>
                </a:solidFill>
                <a:latin typeface="Arial" pitchFamily="34" charset="0"/>
                <a:ea typeface="Arial" pitchFamily="34" charset="-122"/>
                <a:cs typeface="Arial" pitchFamily="34" charset="-120"/>
              </a:rPr>
              <a:t>PostgreSQL</a:t>
            </a:r>
            <a:endParaRPr lang="en-US" sz="1300" dirty="0"/>
          </a:p>
          <a:p>
            <a:pPr indent="0" marL="0">
              <a:lnSpc>
                <a:spcPts val="1600"/>
              </a:lnSpc>
              <a:buNone/>
            </a:pPr>
            <a:r>
              <a:rPr lang="en-US" sz="1300" b="1" dirty="0">
                <a:solidFill>
                  <a:srgbClr val="FFFFFF"/>
                </a:solidFill>
                <a:latin typeface="Arial" pitchFamily="34" charset="0"/>
                <a:ea typeface="Arial" pitchFamily="34" charset="-122"/>
                <a:cs typeface="Arial" pitchFamily="34" charset="-120"/>
              </a:rPr>
              <a:t>+ PostGIS</a:t>
            </a:r>
            <a:endParaRPr lang="en-US" sz="1300" dirty="0"/>
          </a:p>
        </p:txBody>
      </p:sp>
      <p:sp>
        <p:nvSpPr>
          <p:cNvPr id="51" name="Text 49"/>
          <p:cNvSpPr/>
          <p:nvPr/>
        </p:nvSpPr>
        <p:spPr>
          <a:xfrm>
            <a:off x="9464040" y="2212848"/>
            <a:ext cx="2011680" cy="777240"/>
          </a:xfrm>
          <a:prstGeom prst="rect">
            <a:avLst/>
          </a:prstGeom>
          <a:noFill/>
          <a:ln/>
        </p:spPr>
        <p:txBody>
          <a:bodyPr wrap="square" lIns="0" tIns="0" rIns="0" bIns="0" rtlCol="0" anchor="ctr"/>
          <a:lstStyle/>
          <a:p>
            <a:pPr indent="0" marL="0">
              <a:lnSpc>
                <a:spcPts val="1200"/>
              </a:lnSpc>
              <a:buNone/>
            </a:pPr>
            <a:r>
              <a:rPr lang="en-US" sz="950" dirty="0">
                <a:solidFill>
                  <a:srgbClr val="CBD5E1"/>
                </a:solidFill>
                <a:latin typeface="Calibri" pitchFamily="34" charset="0"/>
                <a:ea typeface="Calibri" pitchFamily="34" charset="-122"/>
                <a:cs typeface="Calibri" pitchFamily="34" charset="-120"/>
              </a:rPr>
              <a:t>reports · incidents</a:t>
            </a:r>
            <a:endParaRPr lang="en-US" sz="950" dirty="0"/>
          </a:p>
          <a:p>
            <a:pPr indent="0" marL="0">
              <a:lnSpc>
                <a:spcPts val="1200"/>
              </a:lnSpc>
              <a:buNone/>
            </a:pPr>
            <a:r>
              <a:rPr lang="en-US" sz="950" dirty="0">
                <a:solidFill>
                  <a:srgbClr val="CBD5E1"/>
                </a:solidFill>
                <a:latin typeface="Calibri" pitchFamily="34" charset="0"/>
                <a:ea typeface="Calibri" pitchFamily="34" charset="-122"/>
                <a:cs typeface="Calibri" pitchFamily="34" charset="-120"/>
              </a:rPr>
              <a:t>resources · shelters</a:t>
            </a:r>
            <a:endParaRPr lang="en-US" sz="950" dirty="0"/>
          </a:p>
          <a:p>
            <a:pPr indent="0" marL="0">
              <a:lnSpc>
                <a:spcPts val="1200"/>
              </a:lnSpc>
              <a:buNone/>
            </a:pPr>
            <a:r>
              <a:rPr lang="en-US" sz="950" dirty="0">
                <a:solidFill>
                  <a:srgbClr val="CBD5E1"/>
                </a:solidFill>
                <a:latin typeface="Calibri" pitchFamily="34" charset="0"/>
                <a:ea typeface="Calibri" pitchFamily="34" charset="-122"/>
                <a:cs typeface="Calibri" pitchFamily="34" charset="-120"/>
              </a:rPr>
              <a:t>alerts · assignments</a:t>
            </a:r>
            <a:endParaRPr lang="en-US" sz="950" dirty="0"/>
          </a:p>
          <a:p>
            <a:pPr indent="0" marL="0">
              <a:lnSpc>
                <a:spcPts val="1200"/>
              </a:lnSpc>
              <a:buNone/>
            </a:pPr>
            <a:r>
              <a:rPr lang="en-US" sz="950" dirty="0">
                <a:solidFill>
                  <a:srgbClr val="CBD5E1"/>
                </a:solidFill>
                <a:latin typeface="Calibri" pitchFamily="34" charset="0"/>
                <a:ea typeface="Calibri" pitchFamily="34" charset="-122"/>
                <a:cs typeface="Calibri" pitchFamily="34" charset="-120"/>
              </a:rPr>
              <a:t>audit log</a:t>
            </a:r>
            <a:endParaRPr lang="en-US" sz="950" dirty="0"/>
          </a:p>
        </p:txBody>
      </p:sp>
      <p:sp>
        <p:nvSpPr>
          <p:cNvPr id="52" name="Shape 50"/>
          <p:cNvSpPr/>
          <p:nvPr/>
        </p:nvSpPr>
        <p:spPr>
          <a:xfrm>
            <a:off x="9281160" y="3182112"/>
            <a:ext cx="2377440" cy="1234440"/>
          </a:xfrm>
          <a:prstGeom prst="roundRect">
            <a:avLst>
              <a:gd name="adj" fmla="val 4444"/>
            </a:avLst>
          </a:prstGeom>
          <a:solidFill>
            <a:srgbClr val="FEF2F2"/>
          </a:solidFill>
          <a:ln w="19050">
            <a:solidFill>
              <a:srgbClr val="DC2626"/>
            </a:solidFill>
            <a:prstDash val="solid"/>
          </a:ln>
        </p:spPr>
      </p:sp>
      <p:sp>
        <p:nvSpPr>
          <p:cNvPr id="53" name="Text 51"/>
          <p:cNvSpPr/>
          <p:nvPr/>
        </p:nvSpPr>
        <p:spPr>
          <a:xfrm>
            <a:off x="9464040" y="3310128"/>
            <a:ext cx="2011680" cy="274320"/>
          </a:xfrm>
          <a:prstGeom prst="rect">
            <a:avLst/>
          </a:prstGeom>
          <a:noFill/>
          <a:ln/>
        </p:spPr>
        <p:txBody>
          <a:bodyPr wrap="square" lIns="0" tIns="0" rIns="0" bIns="0" rtlCol="0" anchor="ctr"/>
          <a:lstStyle/>
          <a:p>
            <a:pPr indent="0" marL="0">
              <a:buNone/>
            </a:pPr>
            <a:r>
              <a:rPr lang="en-US" sz="1250" b="1" dirty="0">
                <a:solidFill>
                  <a:srgbClr val="991B1B"/>
                </a:solidFill>
                <a:latin typeface="Arial" pitchFamily="34" charset="0"/>
                <a:ea typeface="Arial" pitchFamily="34" charset="-122"/>
                <a:cs typeface="Arial" pitchFamily="34" charset="-120"/>
              </a:rPr>
              <a:t>DEOC Dashboard</a:t>
            </a:r>
            <a:endParaRPr lang="en-US" sz="1250" dirty="0"/>
          </a:p>
        </p:txBody>
      </p:sp>
      <p:sp>
        <p:nvSpPr>
          <p:cNvPr id="54" name="Text 52"/>
          <p:cNvSpPr/>
          <p:nvPr/>
        </p:nvSpPr>
        <p:spPr>
          <a:xfrm>
            <a:off x="9464040" y="3602736"/>
            <a:ext cx="2011680" cy="731520"/>
          </a:xfrm>
          <a:prstGeom prst="rect">
            <a:avLst/>
          </a:prstGeom>
          <a:noFill/>
          <a:ln/>
        </p:spPr>
        <p:txBody>
          <a:bodyPr wrap="square" lIns="0" tIns="0" rIns="0" bIns="0" rtlCol="0" anchor="ctr"/>
          <a:lstStyle/>
          <a:p>
            <a:pPr indent="0" marL="0">
              <a:lnSpc>
                <a:spcPts val="1200"/>
              </a:lnSpc>
              <a:buNone/>
            </a:pPr>
            <a:r>
              <a:rPr lang="en-US" sz="950" dirty="0">
                <a:solidFill>
                  <a:srgbClr val="1E293B"/>
                </a:solidFill>
                <a:latin typeface="Calibri" pitchFamily="34" charset="0"/>
                <a:ea typeface="Calibri" pitchFamily="34" charset="-122"/>
                <a:cs typeface="Calibri" pitchFamily="34" charset="-120"/>
              </a:rPr>
              <a:t>MapLibre · live WebSocket</a:t>
            </a:r>
            <a:endParaRPr lang="en-US" sz="950" dirty="0"/>
          </a:p>
          <a:p>
            <a:pPr indent="0" marL="0">
              <a:lnSpc>
                <a:spcPts val="1200"/>
              </a:lnSpc>
              <a:buNone/>
            </a:pPr>
            <a:r>
              <a:rPr lang="en-US" sz="950" dirty="0">
                <a:solidFill>
                  <a:srgbClr val="1E293B"/>
                </a:solidFill>
                <a:latin typeface="Calibri" pitchFamily="34" charset="0"/>
                <a:ea typeface="Calibri" pitchFamily="34" charset="-122"/>
                <a:cs typeface="Calibri" pitchFamily="34" charset="-120"/>
              </a:rPr>
              <a:t>heatmap · dispatch lines</a:t>
            </a:r>
            <a:endParaRPr lang="en-US" sz="950" dirty="0"/>
          </a:p>
          <a:p>
            <a:pPr indent="0" marL="0">
              <a:lnSpc>
                <a:spcPts val="1200"/>
              </a:lnSpc>
              <a:buNone/>
            </a:pPr>
            <a:r>
              <a:rPr lang="en-US" sz="950" dirty="0">
                <a:solidFill>
                  <a:srgbClr val="1E293B"/>
                </a:solidFill>
                <a:latin typeface="Calibri" pitchFamily="34" charset="0"/>
                <a:ea typeface="Calibri" pitchFamily="34" charset="-122"/>
                <a:cs typeface="Calibri" pitchFamily="34" charset="-120"/>
              </a:rPr>
              <a:t>Greedy ↔ Optimized toggle</a:t>
            </a:r>
            <a:endParaRPr lang="en-US" sz="950" dirty="0"/>
          </a:p>
        </p:txBody>
      </p:sp>
      <p:sp>
        <p:nvSpPr>
          <p:cNvPr id="55" name="Shape 53"/>
          <p:cNvSpPr/>
          <p:nvPr/>
        </p:nvSpPr>
        <p:spPr>
          <a:xfrm>
            <a:off x="9281160" y="4553712"/>
            <a:ext cx="2377440" cy="1042416"/>
          </a:xfrm>
          <a:prstGeom prst="roundRect">
            <a:avLst>
              <a:gd name="adj" fmla="val 5263"/>
            </a:avLst>
          </a:prstGeom>
          <a:solidFill>
            <a:srgbClr val="ECFDF5"/>
          </a:solidFill>
          <a:ln w="15240">
            <a:solidFill>
              <a:srgbClr val="059669"/>
            </a:solidFill>
            <a:prstDash val="solid"/>
          </a:ln>
        </p:spPr>
      </p:sp>
      <p:sp>
        <p:nvSpPr>
          <p:cNvPr id="56" name="Text 54"/>
          <p:cNvSpPr/>
          <p:nvPr/>
        </p:nvSpPr>
        <p:spPr>
          <a:xfrm>
            <a:off x="9464040" y="4681728"/>
            <a:ext cx="2011680" cy="274320"/>
          </a:xfrm>
          <a:prstGeom prst="rect">
            <a:avLst/>
          </a:prstGeom>
          <a:noFill/>
          <a:ln/>
        </p:spPr>
        <p:txBody>
          <a:bodyPr wrap="square" lIns="0" tIns="0" rIns="0" bIns="0" rtlCol="0" anchor="ctr"/>
          <a:lstStyle/>
          <a:p>
            <a:pPr indent="0" marL="0">
              <a:buNone/>
            </a:pPr>
            <a:r>
              <a:rPr lang="en-US" sz="1200" b="1" dirty="0">
                <a:solidFill>
                  <a:srgbClr val="065F46"/>
                </a:solidFill>
                <a:latin typeface="Arial" pitchFamily="34" charset="0"/>
                <a:ea typeface="Arial" pitchFamily="34" charset="-122"/>
                <a:cs typeface="Arial" pitchFamily="34" charset="-120"/>
              </a:rPr>
              <a:t>Outbound advisory</a:t>
            </a:r>
            <a:endParaRPr lang="en-US" sz="1200" dirty="0"/>
          </a:p>
        </p:txBody>
      </p:sp>
      <p:sp>
        <p:nvSpPr>
          <p:cNvPr id="57" name="Text 55"/>
          <p:cNvSpPr/>
          <p:nvPr/>
        </p:nvSpPr>
        <p:spPr>
          <a:xfrm>
            <a:off x="9464040" y="4974336"/>
            <a:ext cx="2011680" cy="457200"/>
          </a:xfrm>
          <a:prstGeom prst="rect">
            <a:avLst/>
          </a:prstGeom>
          <a:noFill/>
          <a:ln/>
        </p:spPr>
        <p:txBody>
          <a:bodyPr wrap="square" lIns="0" tIns="0" rIns="0" bIns="0" rtlCol="0" anchor="ctr"/>
          <a:lstStyle/>
          <a:p>
            <a:pPr indent="0" marL="0">
              <a:lnSpc>
                <a:spcPts val="1200"/>
              </a:lnSpc>
              <a:buNone/>
            </a:pPr>
            <a:r>
              <a:rPr lang="en-US" sz="950" dirty="0">
                <a:solidFill>
                  <a:srgbClr val="1E293B"/>
                </a:solidFill>
                <a:latin typeface="Calibri" pitchFamily="34" charset="0"/>
                <a:ea typeface="Calibri" pitchFamily="34" charset="-122"/>
                <a:cs typeface="Calibri" pitchFamily="34" charset="-120"/>
              </a:rPr>
              <a:t>targeted SMS: shelter name,</a:t>
            </a:r>
            <a:endParaRPr lang="en-US" sz="950" dirty="0"/>
          </a:p>
          <a:p>
            <a:pPr indent="0" marL="0">
              <a:lnSpc>
                <a:spcPts val="1200"/>
              </a:lnSpc>
              <a:buNone/>
            </a:pPr>
            <a:r>
              <a:rPr lang="en-US" sz="950" dirty="0">
                <a:solidFill>
                  <a:srgbClr val="1E293B"/>
                </a:solidFill>
                <a:latin typeface="Calibri" pitchFamily="34" charset="0"/>
                <a:ea typeface="Calibri" pitchFamily="34" charset="-122"/>
                <a:cs typeface="Calibri" pitchFamily="34" charset="-120"/>
              </a:rPr>
              <a:t>bearing, distance, ETA</a:t>
            </a:r>
            <a:endParaRPr lang="en-US" sz="950" dirty="0"/>
          </a:p>
        </p:txBody>
      </p:sp>
      <p:sp>
        <p:nvSpPr>
          <p:cNvPr id="58" name="Shape 56"/>
          <p:cNvSpPr/>
          <p:nvPr/>
        </p:nvSpPr>
        <p:spPr>
          <a:xfrm>
            <a:off x="3035808" y="2743200"/>
            <a:ext cx="182880" cy="164592"/>
          </a:xfrm>
          <a:prstGeom prst="rightArrow">
            <a:avLst/>
          </a:prstGeom>
          <a:solidFill>
            <a:srgbClr val="64748B"/>
          </a:solidFill>
          <a:ln w="12700">
            <a:solidFill>
              <a:srgbClr val="64748B"/>
            </a:solidFill>
            <a:prstDash val="solid"/>
          </a:ln>
        </p:spPr>
      </p:sp>
      <p:sp>
        <p:nvSpPr>
          <p:cNvPr id="59" name="Shape 57"/>
          <p:cNvSpPr/>
          <p:nvPr/>
        </p:nvSpPr>
        <p:spPr>
          <a:xfrm>
            <a:off x="5943600" y="2743200"/>
            <a:ext cx="182880" cy="164592"/>
          </a:xfrm>
          <a:prstGeom prst="rightArrow">
            <a:avLst/>
          </a:prstGeom>
          <a:solidFill>
            <a:srgbClr val="64748B"/>
          </a:solidFill>
          <a:ln w="12700">
            <a:solidFill>
              <a:srgbClr val="64748B"/>
            </a:solidFill>
            <a:prstDash val="solid"/>
          </a:ln>
        </p:spPr>
      </p:sp>
      <p:sp>
        <p:nvSpPr>
          <p:cNvPr id="60" name="Shape 58"/>
          <p:cNvSpPr/>
          <p:nvPr/>
        </p:nvSpPr>
        <p:spPr>
          <a:xfrm>
            <a:off x="9052560" y="2194560"/>
            <a:ext cx="182880" cy="164592"/>
          </a:xfrm>
          <a:prstGeom prst="rightArrow">
            <a:avLst/>
          </a:prstGeom>
          <a:solidFill>
            <a:srgbClr val="64748B"/>
          </a:solidFill>
          <a:ln w="12700">
            <a:solidFill>
              <a:srgbClr val="64748B"/>
            </a:solidFill>
            <a:prstDash val="solid"/>
          </a:ln>
        </p:spPr>
      </p:sp>
      <p:sp>
        <p:nvSpPr>
          <p:cNvPr id="61" name="Shape 59"/>
          <p:cNvSpPr/>
          <p:nvPr/>
        </p:nvSpPr>
        <p:spPr>
          <a:xfrm>
            <a:off x="9052560" y="3749040"/>
            <a:ext cx="182880" cy="164592"/>
          </a:xfrm>
          <a:prstGeom prst="rightArrow">
            <a:avLst/>
          </a:prstGeom>
          <a:solidFill>
            <a:srgbClr val="64748B"/>
          </a:solidFill>
          <a:ln w="12700">
            <a:solidFill>
              <a:srgbClr val="64748B"/>
            </a:solidFill>
            <a:prstDash val="solid"/>
          </a:ln>
        </p:spPr>
      </p:sp>
      <p:sp>
        <p:nvSpPr>
          <p:cNvPr id="62" name="Text 60"/>
          <p:cNvSpPr/>
          <p:nvPr/>
        </p:nvSpPr>
        <p:spPr>
          <a:xfrm>
            <a:off x="502920" y="6419088"/>
            <a:ext cx="11155680" cy="274320"/>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Every table carries district_id. One deployment serves N districts; the optimizer runs per district and parallelises trivially.</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02920" y="310896"/>
            <a:ext cx="640080" cy="457200"/>
          </a:xfrm>
          <a:prstGeom prst="rect">
            <a:avLst/>
          </a:prstGeom>
          <a:noFill/>
          <a:ln/>
        </p:spPr>
        <p:txBody>
          <a:bodyPr wrap="square" lIns="0" tIns="0" rIns="0" bIns="0" rtlCol="0" anchor="ctr"/>
          <a:lstStyle/>
          <a:p>
            <a:pPr algn="l" indent="0" marL="0">
              <a:buNone/>
            </a:pPr>
            <a:r>
              <a:rPr lang="en-US" sz="2600" b="1" dirty="0">
                <a:solidFill>
                  <a:srgbClr val="DC2626"/>
                </a:solidFill>
                <a:latin typeface="Arial" pitchFamily="34" charset="0"/>
                <a:ea typeface="Arial" pitchFamily="34" charset="-122"/>
                <a:cs typeface="Arial" pitchFamily="34" charset="-120"/>
              </a:rPr>
              <a:t>05</a:t>
            </a:r>
            <a:endParaRPr lang="en-US" sz="2600" dirty="0"/>
          </a:p>
        </p:txBody>
      </p:sp>
      <p:sp>
        <p:nvSpPr>
          <p:cNvPr id="3" name="Text 1"/>
          <p:cNvSpPr/>
          <p:nvPr/>
        </p:nvSpPr>
        <p:spPr>
          <a:xfrm>
            <a:off x="1143000" y="274320"/>
            <a:ext cx="8778240" cy="530352"/>
          </a:xfrm>
          <a:prstGeom prst="rect">
            <a:avLst/>
          </a:prstGeom>
          <a:noFill/>
          <a:ln/>
        </p:spPr>
        <p:txBody>
          <a:bodyPr wrap="square" lIns="0" tIns="0" rIns="0" bIns="0" rtlCol="0" anchor="ctr"/>
          <a:lstStyle/>
          <a:p>
            <a:pPr indent="0" marL="0">
              <a:buNone/>
            </a:pPr>
            <a:r>
              <a:rPr lang="en-US" sz="2800" b="1" dirty="0">
                <a:solidFill>
                  <a:srgbClr val="0F172A"/>
                </a:solidFill>
                <a:latin typeface="Arial" pitchFamily="34" charset="0"/>
                <a:ea typeface="Arial" pitchFamily="34" charset="-122"/>
                <a:cs typeface="Arial" pitchFamily="34" charset="-120"/>
              </a:rPr>
              <a:t>Inside the intelligence layer</a:t>
            </a:r>
            <a:endParaRPr lang="en-US" sz="2800" dirty="0"/>
          </a:p>
        </p:txBody>
      </p:sp>
      <p:sp>
        <p:nvSpPr>
          <p:cNvPr id="4" name="Text 2"/>
          <p:cNvSpPr/>
          <p:nvPr/>
        </p:nvSpPr>
        <p:spPr>
          <a:xfrm>
            <a:off x="1161288" y="795528"/>
            <a:ext cx="10424160" cy="310896"/>
          </a:xfrm>
          <a:prstGeom prst="rect">
            <a:avLst/>
          </a:prstGeom>
          <a:noFill/>
          <a:ln/>
        </p:spPr>
        <p:txBody>
          <a:bodyPr wrap="square" lIns="0" tIns="0" rIns="0" bIns="0" rtlCol="0" anchor="t"/>
          <a:lstStyle/>
          <a:p>
            <a:pPr indent="0" marL="0">
              <a:buNone/>
            </a:pPr>
            <a:r>
              <a:rPr lang="en-US" sz="1300" i="1" dirty="0">
                <a:solidFill>
                  <a:srgbClr val="64748B"/>
                </a:solidFill>
                <a:latin typeface="Calibri" pitchFamily="34" charset="0"/>
                <a:ea typeface="Calibri" pitchFamily="34" charset="-122"/>
                <a:cs typeface="Calibri" pitchFamily="34" charset="-120"/>
              </a:rPr>
              <a:t>Five stages between a raw citizen report and a dispatched rescue team. All deterministic, all explainable.</a:t>
            </a:r>
            <a:endParaRPr lang="en-US" sz="1300" dirty="0"/>
          </a:p>
        </p:txBody>
      </p:sp>
      <p:sp>
        <p:nvSpPr>
          <p:cNvPr id="5" name="Shape 3"/>
          <p:cNvSpPr/>
          <p:nvPr/>
        </p:nvSpPr>
        <p:spPr>
          <a:xfrm>
            <a:off x="502920" y="1325880"/>
            <a:ext cx="11155680" cy="859536"/>
          </a:xfrm>
          <a:prstGeom prst="roundRect">
            <a:avLst>
              <a:gd name="adj" fmla="val 6383"/>
            </a:avLst>
          </a:prstGeom>
          <a:solidFill>
            <a:srgbClr val="FFFFFF"/>
          </a:solidFill>
          <a:ln w="12700">
            <a:solidFill>
              <a:srgbClr val="CBD5E1"/>
            </a:solidFill>
            <a:prstDash val="solid"/>
          </a:ln>
        </p:spPr>
      </p:sp>
      <p:sp>
        <p:nvSpPr>
          <p:cNvPr id="6" name="Text 4"/>
          <p:cNvSpPr/>
          <p:nvPr/>
        </p:nvSpPr>
        <p:spPr>
          <a:xfrm>
            <a:off x="685800" y="1563624"/>
            <a:ext cx="548640" cy="365760"/>
          </a:xfrm>
          <a:prstGeom prst="rect">
            <a:avLst/>
          </a:prstGeom>
          <a:noFill/>
          <a:ln/>
        </p:spPr>
        <p:txBody>
          <a:bodyPr wrap="square" lIns="0" tIns="0" rIns="0" bIns="0" rtlCol="0" anchor="ctr"/>
          <a:lstStyle/>
          <a:p>
            <a:pPr indent="0" marL="0">
              <a:buNone/>
            </a:pPr>
            <a:r>
              <a:rPr lang="en-US" sz="1900" b="1" dirty="0">
                <a:solidFill>
                  <a:srgbClr val="E2E8F0"/>
                </a:solidFill>
                <a:latin typeface="Arial" pitchFamily="34" charset="0"/>
                <a:ea typeface="Arial" pitchFamily="34" charset="-122"/>
                <a:cs typeface="Arial" pitchFamily="34" charset="-120"/>
              </a:rPr>
              <a:t>01</a:t>
            </a:r>
            <a:endParaRPr lang="en-US" sz="1900" dirty="0"/>
          </a:p>
        </p:txBody>
      </p:sp>
      <p:sp>
        <p:nvSpPr>
          <p:cNvPr id="7" name="Text 5"/>
          <p:cNvSpPr/>
          <p:nvPr/>
        </p:nvSpPr>
        <p:spPr>
          <a:xfrm>
            <a:off x="1325880" y="1600200"/>
            <a:ext cx="1828800" cy="320040"/>
          </a:xfrm>
          <a:prstGeom prst="rect">
            <a:avLst/>
          </a:prstGeom>
          <a:noFill/>
          <a:ln/>
        </p:spPr>
        <p:txBody>
          <a:bodyPr wrap="square" lIns="0" tIns="0" rIns="0" bIns="0" rtlCol="0" anchor="ctr"/>
          <a:lstStyle/>
          <a:p>
            <a:pPr indent="0" marL="0">
              <a:buNone/>
            </a:pPr>
            <a:r>
              <a:rPr lang="en-US" sz="1500" b="1" dirty="0">
                <a:solidFill>
                  <a:srgbClr val="0F172A"/>
                </a:solidFill>
                <a:latin typeface="Arial" pitchFamily="34" charset="0"/>
                <a:ea typeface="Arial" pitchFamily="34" charset="-122"/>
                <a:cs typeface="Arial" pitchFamily="34" charset="-120"/>
              </a:rPr>
              <a:t>Cluster</a:t>
            </a:r>
            <a:endParaRPr lang="en-US" sz="1500" dirty="0"/>
          </a:p>
        </p:txBody>
      </p:sp>
      <p:sp>
        <p:nvSpPr>
          <p:cNvPr id="8" name="Text 6"/>
          <p:cNvSpPr/>
          <p:nvPr/>
        </p:nvSpPr>
        <p:spPr>
          <a:xfrm>
            <a:off x="3291840" y="1444752"/>
            <a:ext cx="4480560" cy="658368"/>
          </a:xfrm>
          <a:prstGeom prst="rect">
            <a:avLst/>
          </a:prstGeom>
          <a:noFill/>
          <a:ln/>
        </p:spPr>
        <p:txBody>
          <a:bodyPr wrap="square" lIns="0" tIns="0" rIns="0" bIns="0" rtlCol="0" anchor="ctr"/>
          <a:lstStyle/>
          <a:p>
            <a:pPr indent="0" marL="0">
              <a:lnSpc>
                <a:spcPts val="1300"/>
              </a:lnSpc>
              <a:buNone/>
            </a:pPr>
            <a:r>
              <a:rPr lang="en-US" sz="1050" dirty="0">
                <a:solidFill>
                  <a:srgbClr val="1E293B"/>
                </a:solidFill>
                <a:latin typeface="Calibri" pitchFamily="34" charset="0"/>
                <a:ea typeface="Calibri" pitchFamily="34" charset="-122"/>
                <a:cs typeface="Calibri" pitchFamily="34" charset="-120"/>
              </a:rPr>
              <a:t>ST_ClusterDBSCAN, eps 300 m,</a:t>
            </a:r>
            <a:endParaRPr lang="en-US" sz="1050" dirty="0"/>
          </a:p>
          <a:p>
            <a:pPr indent="0" marL="0">
              <a:lnSpc>
                <a:spcPts val="1300"/>
              </a:lnSpc>
              <a:buNone/>
            </a:pPr>
            <a:r>
              <a:rPr lang="en-US" sz="1050" dirty="0">
                <a:solidFill>
                  <a:srgbClr val="1E293B"/>
                </a:solidFill>
                <a:latin typeface="Calibri" pitchFamily="34" charset="0"/>
                <a:ea typeface="Calibri" pitchFamily="34" charset="-122"/>
                <a:cs typeface="Calibri" pitchFamily="34" charset="-120"/>
              </a:rPr>
              <a:t>partitioned by hazard type,</a:t>
            </a:r>
            <a:endParaRPr lang="en-US" sz="1050" dirty="0"/>
          </a:p>
          <a:p>
            <a:pPr indent="0" marL="0">
              <a:lnSpc>
                <a:spcPts val="1300"/>
              </a:lnSpc>
              <a:buNone/>
            </a:pPr>
            <a:r>
              <a:rPr lang="en-US" sz="1050" dirty="0">
                <a:solidFill>
                  <a:srgbClr val="1E293B"/>
                </a:solidFill>
                <a:latin typeface="Calibri" pitchFamily="34" charset="0"/>
                <a:ea typeface="Calibri" pitchFamily="34" charset="-122"/>
                <a:cs typeface="Calibri" pitchFamily="34" charset="-120"/>
              </a:rPr>
              <a:t>30-minute rolling window</a:t>
            </a:r>
            <a:endParaRPr lang="en-US" sz="1050" dirty="0"/>
          </a:p>
        </p:txBody>
      </p:sp>
      <p:sp>
        <p:nvSpPr>
          <p:cNvPr id="9" name="Shape 7"/>
          <p:cNvSpPr/>
          <p:nvPr/>
        </p:nvSpPr>
        <p:spPr>
          <a:xfrm>
            <a:off x="8001000" y="1472184"/>
            <a:ext cx="36576" cy="566928"/>
          </a:xfrm>
          <a:prstGeom prst="rect">
            <a:avLst/>
          </a:prstGeom>
          <a:solidFill>
            <a:srgbClr val="DC2626"/>
          </a:solidFill>
          <a:ln/>
        </p:spPr>
      </p:sp>
      <p:sp>
        <p:nvSpPr>
          <p:cNvPr id="10" name="Text 8"/>
          <p:cNvSpPr/>
          <p:nvPr/>
        </p:nvSpPr>
        <p:spPr>
          <a:xfrm>
            <a:off x="8183880" y="1508760"/>
            <a:ext cx="3291840" cy="548640"/>
          </a:xfrm>
          <a:prstGeom prst="rect">
            <a:avLst/>
          </a:prstGeom>
          <a:noFill/>
          <a:ln/>
        </p:spPr>
        <p:txBody>
          <a:bodyPr wrap="square" lIns="0" tIns="0" rIns="0" bIns="0" rtlCol="0" anchor="ctr"/>
          <a:lstStyle/>
          <a:p>
            <a:pPr indent="0" marL="0">
              <a:lnSpc>
                <a:spcPts val="1300"/>
              </a:lnSpc>
              <a:buNone/>
            </a:pPr>
            <a:r>
              <a:rPr lang="en-US" sz="1100" b="1" dirty="0">
                <a:solidFill>
                  <a:srgbClr val="DC2626"/>
                </a:solidFill>
                <a:latin typeface="Calibri" pitchFamily="34" charset="0"/>
                <a:ea typeface="Calibri" pitchFamily="34" charset="-122"/>
                <a:cs typeface="Calibri" pitchFamily="34" charset="-120"/>
              </a:rPr>
              <a:t>200 reports → 12 incidents</a:t>
            </a:r>
            <a:endParaRPr lang="en-US" sz="1100" dirty="0"/>
          </a:p>
          <a:p>
            <a:pPr indent="0" marL="0">
              <a:lnSpc>
                <a:spcPts val="1300"/>
              </a:lnSpc>
              <a:buNone/>
            </a:pPr>
            <a:r>
              <a:rPr lang="en-US" sz="1100" b="1" dirty="0">
                <a:solidFill>
                  <a:srgbClr val="DC2626"/>
                </a:solidFill>
                <a:latin typeface="Calibri" pitchFamily="34" charset="0"/>
                <a:ea typeface="Calibri" pitchFamily="34" charset="-122"/>
                <a:cs typeface="Calibri" pitchFamily="34" charset="-120"/>
              </a:rPr>
              <a:t>in 11 milliseconds</a:t>
            </a:r>
            <a:endParaRPr lang="en-US" sz="1100" dirty="0"/>
          </a:p>
        </p:txBody>
      </p:sp>
      <p:sp>
        <p:nvSpPr>
          <p:cNvPr id="11" name="Shape 9"/>
          <p:cNvSpPr/>
          <p:nvPr/>
        </p:nvSpPr>
        <p:spPr>
          <a:xfrm>
            <a:off x="502920" y="2295144"/>
            <a:ext cx="11155680" cy="859536"/>
          </a:xfrm>
          <a:prstGeom prst="roundRect">
            <a:avLst>
              <a:gd name="adj" fmla="val 6383"/>
            </a:avLst>
          </a:prstGeom>
          <a:solidFill>
            <a:srgbClr val="FFFFFF"/>
          </a:solidFill>
          <a:ln w="12700">
            <a:solidFill>
              <a:srgbClr val="CBD5E1"/>
            </a:solidFill>
            <a:prstDash val="solid"/>
          </a:ln>
        </p:spPr>
      </p:sp>
      <p:sp>
        <p:nvSpPr>
          <p:cNvPr id="12" name="Text 10"/>
          <p:cNvSpPr/>
          <p:nvPr/>
        </p:nvSpPr>
        <p:spPr>
          <a:xfrm>
            <a:off x="685800" y="2532888"/>
            <a:ext cx="548640" cy="365760"/>
          </a:xfrm>
          <a:prstGeom prst="rect">
            <a:avLst/>
          </a:prstGeom>
          <a:noFill/>
          <a:ln/>
        </p:spPr>
        <p:txBody>
          <a:bodyPr wrap="square" lIns="0" tIns="0" rIns="0" bIns="0" rtlCol="0" anchor="ctr"/>
          <a:lstStyle/>
          <a:p>
            <a:pPr indent="0" marL="0">
              <a:buNone/>
            </a:pPr>
            <a:r>
              <a:rPr lang="en-US" sz="1900" b="1" dirty="0">
                <a:solidFill>
                  <a:srgbClr val="E2E8F0"/>
                </a:solidFill>
                <a:latin typeface="Arial" pitchFamily="34" charset="0"/>
                <a:ea typeface="Arial" pitchFamily="34" charset="-122"/>
                <a:cs typeface="Arial" pitchFamily="34" charset="-120"/>
              </a:rPr>
              <a:t>02</a:t>
            </a:r>
            <a:endParaRPr lang="en-US" sz="1900" dirty="0"/>
          </a:p>
        </p:txBody>
      </p:sp>
      <p:sp>
        <p:nvSpPr>
          <p:cNvPr id="13" name="Text 11"/>
          <p:cNvSpPr/>
          <p:nvPr/>
        </p:nvSpPr>
        <p:spPr>
          <a:xfrm>
            <a:off x="1325880" y="2569464"/>
            <a:ext cx="1828800" cy="320040"/>
          </a:xfrm>
          <a:prstGeom prst="rect">
            <a:avLst/>
          </a:prstGeom>
          <a:noFill/>
          <a:ln/>
        </p:spPr>
        <p:txBody>
          <a:bodyPr wrap="square" lIns="0" tIns="0" rIns="0" bIns="0" rtlCol="0" anchor="ctr"/>
          <a:lstStyle/>
          <a:p>
            <a:pPr indent="0" marL="0">
              <a:buNone/>
            </a:pPr>
            <a:r>
              <a:rPr lang="en-US" sz="1500" b="1" dirty="0">
                <a:solidFill>
                  <a:srgbClr val="0F172A"/>
                </a:solidFill>
                <a:latin typeface="Arial" pitchFamily="34" charset="0"/>
                <a:ea typeface="Arial" pitchFamily="34" charset="-122"/>
                <a:cs typeface="Arial" pitchFamily="34" charset="-120"/>
              </a:rPr>
              <a:t>Score severity</a:t>
            </a:r>
            <a:endParaRPr lang="en-US" sz="1500" dirty="0"/>
          </a:p>
        </p:txBody>
      </p:sp>
      <p:sp>
        <p:nvSpPr>
          <p:cNvPr id="14" name="Text 12"/>
          <p:cNvSpPr/>
          <p:nvPr/>
        </p:nvSpPr>
        <p:spPr>
          <a:xfrm>
            <a:off x="3291840" y="2414016"/>
            <a:ext cx="4480560" cy="658368"/>
          </a:xfrm>
          <a:prstGeom prst="rect">
            <a:avLst/>
          </a:prstGeom>
          <a:noFill/>
          <a:ln/>
        </p:spPr>
        <p:txBody>
          <a:bodyPr wrap="square" lIns="0" tIns="0" rIns="0" bIns="0" rtlCol="0" anchor="ctr"/>
          <a:lstStyle/>
          <a:p>
            <a:pPr indent="0" marL="0">
              <a:lnSpc>
                <a:spcPts val="1300"/>
              </a:lnSpc>
              <a:buNone/>
            </a:pPr>
            <a:r>
              <a:rPr lang="en-US" sz="1050" dirty="0">
                <a:solidFill>
                  <a:srgbClr val="1E293B"/>
                </a:solidFill>
                <a:latin typeface="Calibri" pitchFamily="34" charset="0"/>
                <a:ea typeface="Calibri" pitchFamily="34" charset="-122"/>
                <a:cs typeface="Calibri" pitchFamily="34" charset="-120"/>
              </a:rPr>
              <a:t>0.35 reported + 0.20 corroboration</a:t>
            </a:r>
            <a:endParaRPr lang="en-US" sz="1050" dirty="0"/>
          </a:p>
          <a:p>
            <a:pPr indent="0" marL="0">
              <a:lnSpc>
                <a:spcPts val="1300"/>
              </a:lnSpc>
              <a:buNone/>
            </a:pPr>
            <a:r>
              <a:rPr lang="en-US" sz="1050" dirty="0">
                <a:solidFill>
                  <a:srgbClr val="1E293B"/>
                </a:solidFill>
                <a:latin typeface="Calibri" pitchFamily="34" charset="0"/>
                <a:ea typeface="Calibri" pitchFamily="34" charset="-122"/>
                <a:cs typeface="Calibri" pitchFamily="34" charset="-120"/>
              </a:rPr>
              <a:t>+ 0.15 hazard + 0.15 population</a:t>
            </a:r>
            <a:endParaRPr lang="en-US" sz="1050" dirty="0"/>
          </a:p>
          <a:p>
            <a:pPr indent="0" marL="0">
              <a:lnSpc>
                <a:spcPts val="1300"/>
              </a:lnSpc>
              <a:buNone/>
            </a:pPr>
            <a:r>
              <a:rPr lang="en-US" sz="1050" dirty="0">
                <a:solidFill>
                  <a:srgbClr val="1E293B"/>
                </a:solidFill>
                <a:latin typeface="Calibri" pitchFamily="34" charset="0"/>
                <a:ea typeface="Calibri" pitchFamily="34" charset="-122"/>
                <a:cs typeface="Calibri" pitchFamily="34" charset="-120"/>
              </a:rPr>
              <a:t>+ 0.15 official CAP overlap</a:t>
            </a:r>
            <a:endParaRPr lang="en-US" sz="1050" dirty="0"/>
          </a:p>
        </p:txBody>
      </p:sp>
      <p:sp>
        <p:nvSpPr>
          <p:cNvPr id="15" name="Shape 13"/>
          <p:cNvSpPr/>
          <p:nvPr/>
        </p:nvSpPr>
        <p:spPr>
          <a:xfrm>
            <a:off x="8001000" y="2441448"/>
            <a:ext cx="36576" cy="566928"/>
          </a:xfrm>
          <a:prstGeom prst="rect">
            <a:avLst/>
          </a:prstGeom>
          <a:solidFill>
            <a:srgbClr val="DC2626"/>
          </a:solidFill>
          <a:ln/>
        </p:spPr>
      </p:sp>
      <p:sp>
        <p:nvSpPr>
          <p:cNvPr id="16" name="Text 14"/>
          <p:cNvSpPr/>
          <p:nvPr/>
        </p:nvSpPr>
        <p:spPr>
          <a:xfrm>
            <a:off x="8183880" y="2478024"/>
            <a:ext cx="3291840" cy="548640"/>
          </a:xfrm>
          <a:prstGeom prst="rect">
            <a:avLst/>
          </a:prstGeom>
          <a:noFill/>
          <a:ln/>
        </p:spPr>
        <p:txBody>
          <a:bodyPr wrap="square" lIns="0" tIns="0" rIns="0" bIns="0" rtlCol="0" anchor="ctr"/>
          <a:lstStyle/>
          <a:p>
            <a:pPr indent="0" marL="0">
              <a:lnSpc>
                <a:spcPts val="1300"/>
              </a:lnSpc>
              <a:buNone/>
            </a:pPr>
            <a:r>
              <a:rPr lang="en-US" sz="1100" b="1" dirty="0">
                <a:solidFill>
                  <a:srgbClr val="DC2626"/>
                </a:solidFill>
                <a:latin typeface="Calibri" pitchFamily="34" charset="0"/>
                <a:ea typeface="Calibri" pitchFamily="34" charset="-122"/>
                <a:cs typeface="Calibri" pitchFamily="34" charset="-120"/>
              </a:rPr>
              <a:t>Explainable: the breakdown</a:t>
            </a:r>
            <a:endParaRPr lang="en-US" sz="1100" dirty="0"/>
          </a:p>
          <a:p>
            <a:pPr indent="0" marL="0">
              <a:lnSpc>
                <a:spcPts val="1300"/>
              </a:lnSpc>
              <a:buNone/>
            </a:pPr>
            <a:r>
              <a:rPr lang="en-US" sz="1100" b="1" dirty="0">
                <a:solidFill>
                  <a:srgbClr val="DC2626"/>
                </a:solidFill>
                <a:latin typeface="Calibri" pitchFamily="34" charset="0"/>
                <a:ea typeface="Calibri" pitchFamily="34" charset="-122"/>
                <a:cs typeface="Calibri" pitchFamily="34" charset="-120"/>
              </a:rPr>
              <a:t>is shown on screen</a:t>
            </a:r>
            <a:endParaRPr lang="en-US" sz="1100" dirty="0"/>
          </a:p>
        </p:txBody>
      </p:sp>
      <p:sp>
        <p:nvSpPr>
          <p:cNvPr id="17" name="Shape 15"/>
          <p:cNvSpPr/>
          <p:nvPr/>
        </p:nvSpPr>
        <p:spPr>
          <a:xfrm>
            <a:off x="502920" y="3264408"/>
            <a:ext cx="11155680" cy="859536"/>
          </a:xfrm>
          <a:prstGeom prst="roundRect">
            <a:avLst>
              <a:gd name="adj" fmla="val 6383"/>
            </a:avLst>
          </a:prstGeom>
          <a:solidFill>
            <a:srgbClr val="FFFFFF"/>
          </a:solidFill>
          <a:ln w="12700">
            <a:solidFill>
              <a:srgbClr val="CBD5E1"/>
            </a:solidFill>
            <a:prstDash val="solid"/>
          </a:ln>
        </p:spPr>
      </p:sp>
      <p:sp>
        <p:nvSpPr>
          <p:cNvPr id="18" name="Text 16"/>
          <p:cNvSpPr/>
          <p:nvPr/>
        </p:nvSpPr>
        <p:spPr>
          <a:xfrm>
            <a:off x="685800" y="3502152"/>
            <a:ext cx="548640" cy="365760"/>
          </a:xfrm>
          <a:prstGeom prst="rect">
            <a:avLst/>
          </a:prstGeom>
          <a:noFill/>
          <a:ln/>
        </p:spPr>
        <p:txBody>
          <a:bodyPr wrap="square" lIns="0" tIns="0" rIns="0" bIns="0" rtlCol="0" anchor="ctr"/>
          <a:lstStyle/>
          <a:p>
            <a:pPr indent="0" marL="0">
              <a:buNone/>
            </a:pPr>
            <a:r>
              <a:rPr lang="en-US" sz="1900" b="1" dirty="0">
                <a:solidFill>
                  <a:srgbClr val="E2E8F0"/>
                </a:solidFill>
                <a:latin typeface="Arial" pitchFamily="34" charset="0"/>
                <a:ea typeface="Arial" pitchFamily="34" charset="-122"/>
                <a:cs typeface="Arial" pitchFamily="34" charset="-120"/>
              </a:rPr>
              <a:t>03</a:t>
            </a:r>
            <a:endParaRPr lang="en-US" sz="1900" dirty="0"/>
          </a:p>
        </p:txBody>
      </p:sp>
      <p:sp>
        <p:nvSpPr>
          <p:cNvPr id="19" name="Text 17"/>
          <p:cNvSpPr/>
          <p:nvPr/>
        </p:nvSpPr>
        <p:spPr>
          <a:xfrm>
            <a:off x="1325880" y="3538728"/>
            <a:ext cx="1828800" cy="320040"/>
          </a:xfrm>
          <a:prstGeom prst="rect">
            <a:avLst/>
          </a:prstGeom>
          <a:noFill/>
          <a:ln/>
        </p:spPr>
        <p:txBody>
          <a:bodyPr wrap="square" lIns="0" tIns="0" rIns="0" bIns="0" rtlCol="0" anchor="ctr"/>
          <a:lstStyle/>
          <a:p>
            <a:pPr indent="0" marL="0">
              <a:buNone/>
            </a:pPr>
            <a:r>
              <a:rPr lang="en-US" sz="1500" b="1" dirty="0">
                <a:solidFill>
                  <a:srgbClr val="0F172A"/>
                </a:solidFill>
                <a:latin typeface="Arial" pitchFamily="34" charset="0"/>
                <a:ea typeface="Arial" pitchFamily="34" charset="-122"/>
                <a:cs typeface="Arial" pitchFamily="34" charset="-120"/>
              </a:rPr>
              <a:t>Score trust</a:t>
            </a:r>
            <a:endParaRPr lang="en-US" sz="1500" dirty="0"/>
          </a:p>
        </p:txBody>
      </p:sp>
      <p:sp>
        <p:nvSpPr>
          <p:cNvPr id="20" name="Text 18"/>
          <p:cNvSpPr/>
          <p:nvPr/>
        </p:nvSpPr>
        <p:spPr>
          <a:xfrm>
            <a:off x="3291840" y="3383280"/>
            <a:ext cx="4480560" cy="658368"/>
          </a:xfrm>
          <a:prstGeom prst="rect">
            <a:avLst/>
          </a:prstGeom>
          <a:noFill/>
          <a:ln/>
        </p:spPr>
        <p:txBody>
          <a:bodyPr wrap="square" lIns="0" tIns="0" rIns="0" bIns="0" rtlCol="0" anchor="ctr"/>
          <a:lstStyle/>
          <a:p>
            <a:pPr indent="0" marL="0">
              <a:lnSpc>
                <a:spcPts val="1300"/>
              </a:lnSpc>
              <a:buNone/>
            </a:pPr>
            <a:r>
              <a:rPr lang="en-US" sz="1050" dirty="0">
                <a:solidFill>
                  <a:srgbClr val="1E293B"/>
                </a:solidFill>
                <a:latin typeface="Calibri" pitchFamily="34" charset="0"/>
                <a:ea typeface="Calibri" pitchFamily="34" charset="-122"/>
                <a:cs typeface="Calibri" pitchFamily="34" charset="-120"/>
              </a:rPr>
              <a:t>GPS accuracy, photo EXIF,</a:t>
            </a:r>
            <a:endParaRPr lang="en-US" sz="1050" dirty="0"/>
          </a:p>
          <a:p>
            <a:pPr indent="0" marL="0">
              <a:lnSpc>
                <a:spcPts val="1300"/>
              </a:lnSpc>
              <a:buNone/>
            </a:pPr>
            <a:r>
              <a:rPr lang="en-US" sz="1050" dirty="0">
                <a:solidFill>
                  <a:srgbClr val="1E293B"/>
                </a:solidFill>
                <a:latin typeface="Calibri" pitchFamily="34" charset="0"/>
                <a:ea typeface="Calibri" pitchFamily="34" charset="-122"/>
                <a:cs typeface="Calibri" pitchFamily="34" charset="-120"/>
              </a:rPr>
              <a:t>reporter history, rate signature,</a:t>
            </a:r>
            <a:endParaRPr lang="en-US" sz="1050" dirty="0"/>
          </a:p>
          <a:p>
            <a:pPr indent="0" marL="0">
              <a:lnSpc>
                <a:spcPts val="1300"/>
              </a:lnSpc>
              <a:buNone/>
            </a:pPr>
            <a:r>
              <a:rPr lang="en-US" sz="1050" dirty="0">
                <a:solidFill>
                  <a:srgbClr val="1E293B"/>
                </a:solidFill>
                <a:latin typeface="Calibri" pitchFamily="34" charset="0"/>
                <a:ea typeface="Calibri" pitchFamily="34" charset="-122"/>
                <a:cs typeface="Calibri" pitchFamily="34" charset="-120"/>
              </a:rPr>
              <a:t>independent corroboration</a:t>
            </a:r>
            <a:endParaRPr lang="en-US" sz="1050" dirty="0"/>
          </a:p>
        </p:txBody>
      </p:sp>
      <p:sp>
        <p:nvSpPr>
          <p:cNvPr id="21" name="Shape 19"/>
          <p:cNvSpPr/>
          <p:nvPr/>
        </p:nvSpPr>
        <p:spPr>
          <a:xfrm>
            <a:off x="8001000" y="3410712"/>
            <a:ext cx="36576" cy="566928"/>
          </a:xfrm>
          <a:prstGeom prst="rect">
            <a:avLst/>
          </a:prstGeom>
          <a:solidFill>
            <a:srgbClr val="DC2626"/>
          </a:solidFill>
          <a:ln/>
        </p:spPr>
      </p:sp>
      <p:sp>
        <p:nvSpPr>
          <p:cNvPr id="22" name="Text 20"/>
          <p:cNvSpPr/>
          <p:nvPr/>
        </p:nvSpPr>
        <p:spPr>
          <a:xfrm>
            <a:off x="8183880" y="3447288"/>
            <a:ext cx="3291840" cy="548640"/>
          </a:xfrm>
          <a:prstGeom prst="rect">
            <a:avLst/>
          </a:prstGeom>
          <a:noFill/>
          <a:ln/>
        </p:spPr>
        <p:txBody>
          <a:bodyPr wrap="square" lIns="0" tIns="0" rIns="0" bIns="0" rtlCol="0" anchor="ctr"/>
          <a:lstStyle/>
          <a:p>
            <a:pPr indent="0" marL="0">
              <a:lnSpc>
                <a:spcPts val="1300"/>
              </a:lnSpc>
              <a:buNone/>
            </a:pPr>
            <a:r>
              <a:rPr lang="en-US" sz="1100" b="1" dirty="0">
                <a:solidFill>
                  <a:srgbClr val="DC2626"/>
                </a:solidFill>
                <a:latin typeface="Calibri" pitchFamily="34" charset="0"/>
                <a:ea typeface="Calibri" pitchFamily="34" charset="-122"/>
                <a:cs typeface="Calibri" pitchFamily="34" charset="-120"/>
              </a:rPr>
              <a:t>Below 0.35 → quarantine,</a:t>
            </a:r>
            <a:endParaRPr lang="en-US" sz="1100" dirty="0"/>
          </a:p>
          <a:p>
            <a:pPr indent="0" marL="0">
              <a:lnSpc>
                <a:spcPts val="1300"/>
              </a:lnSpc>
              <a:buNone/>
            </a:pPr>
            <a:r>
              <a:rPr lang="en-US" sz="1100" b="1" dirty="0">
                <a:solidFill>
                  <a:srgbClr val="DC2626"/>
                </a:solidFill>
                <a:latin typeface="Calibri" pitchFamily="34" charset="0"/>
                <a:ea typeface="Calibri" pitchFamily="34" charset="-122"/>
                <a:cs typeface="Calibri" pitchFamily="34" charset="-120"/>
              </a:rPr>
              <a:t>never auto-dispatched</a:t>
            </a:r>
            <a:endParaRPr lang="en-US" sz="1100" dirty="0"/>
          </a:p>
        </p:txBody>
      </p:sp>
      <p:sp>
        <p:nvSpPr>
          <p:cNvPr id="23" name="Shape 21"/>
          <p:cNvSpPr/>
          <p:nvPr/>
        </p:nvSpPr>
        <p:spPr>
          <a:xfrm>
            <a:off x="502920" y="4233672"/>
            <a:ext cx="11155680" cy="859536"/>
          </a:xfrm>
          <a:prstGeom prst="roundRect">
            <a:avLst>
              <a:gd name="adj" fmla="val 6383"/>
            </a:avLst>
          </a:prstGeom>
          <a:solidFill>
            <a:srgbClr val="FFFFFF"/>
          </a:solidFill>
          <a:ln w="12700">
            <a:solidFill>
              <a:srgbClr val="CBD5E1"/>
            </a:solidFill>
            <a:prstDash val="solid"/>
          </a:ln>
        </p:spPr>
      </p:sp>
      <p:sp>
        <p:nvSpPr>
          <p:cNvPr id="24" name="Text 22"/>
          <p:cNvSpPr/>
          <p:nvPr/>
        </p:nvSpPr>
        <p:spPr>
          <a:xfrm>
            <a:off x="685800" y="4471416"/>
            <a:ext cx="548640" cy="365760"/>
          </a:xfrm>
          <a:prstGeom prst="rect">
            <a:avLst/>
          </a:prstGeom>
          <a:noFill/>
          <a:ln/>
        </p:spPr>
        <p:txBody>
          <a:bodyPr wrap="square" lIns="0" tIns="0" rIns="0" bIns="0" rtlCol="0" anchor="ctr"/>
          <a:lstStyle/>
          <a:p>
            <a:pPr indent="0" marL="0">
              <a:buNone/>
            </a:pPr>
            <a:r>
              <a:rPr lang="en-US" sz="1900" b="1" dirty="0">
                <a:solidFill>
                  <a:srgbClr val="E2E8F0"/>
                </a:solidFill>
                <a:latin typeface="Arial" pitchFamily="34" charset="0"/>
                <a:ea typeface="Arial" pitchFamily="34" charset="-122"/>
                <a:cs typeface="Arial" pitchFamily="34" charset="-120"/>
              </a:rPr>
              <a:t>04</a:t>
            </a:r>
            <a:endParaRPr lang="en-US" sz="1900" dirty="0"/>
          </a:p>
        </p:txBody>
      </p:sp>
      <p:sp>
        <p:nvSpPr>
          <p:cNvPr id="25" name="Text 23"/>
          <p:cNvSpPr/>
          <p:nvPr/>
        </p:nvSpPr>
        <p:spPr>
          <a:xfrm>
            <a:off x="1325880" y="4507992"/>
            <a:ext cx="1828800" cy="320040"/>
          </a:xfrm>
          <a:prstGeom prst="rect">
            <a:avLst/>
          </a:prstGeom>
          <a:noFill/>
          <a:ln/>
        </p:spPr>
        <p:txBody>
          <a:bodyPr wrap="square" lIns="0" tIns="0" rIns="0" bIns="0" rtlCol="0" anchor="ctr"/>
          <a:lstStyle/>
          <a:p>
            <a:pPr indent="0" marL="0">
              <a:buNone/>
            </a:pPr>
            <a:r>
              <a:rPr lang="en-US" sz="1500" b="1" dirty="0">
                <a:solidFill>
                  <a:srgbClr val="0F172A"/>
                </a:solidFill>
                <a:latin typeface="Arial" pitchFamily="34" charset="0"/>
                <a:ea typeface="Arial" pitchFamily="34" charset="-122"/>
                <a:cs typeface="Arial" pitchFamily="34" charset="-120"/>
              </a:rPr>
              <a:t>Assign</a:t>
            </a:r>
            <a:endParaRPr lang="en-US" sz="1500" dirty="0"/>
          </a:p>
        </p:txBody>
      </p:sp>
      <p:sp>
        <p:nvSpPr>
          <p:cNvPr id="26" name="Text 24"/>
          <p:cNvSpPr/>
          <p:nvPr/>
        </p:nvSpPr>
        <p:spPr>
          <a:xfrm>
            <a:off x="3291840" y="4352544"/>
            <a:ext cx="4480560" cy="658368"/>
          </a:xfrm>
          <a:prstGeom prst="rect">
            <a:avLst/>
          </a:prstGeom>
          <a:noFill/>
          <a:ln/>
        </p:spPr>
        <p:txBody>
          <a:bodyPr wrap="square" lIns="0" tIns="0" rIns="0" bIns="0" rtlCol="0" anchor="ctr"/>
          <a:lstStyle/>
          <a:p>
            <a:pPr indent="0" marL="0">
              <a:lnSpc>
                <a:spcPts val="1300"/>
              </a:lnSpc>
              <a:buNone/>
            </a:pPr>
            <a:r>
              <a:rPr lang="en-US" sz="1050" dirty="0">
                <a:solidFill>
                  <a:srgbClr val="1E293B"/>
                </a:solidFill>
                <a:latin typeface="Calibri" pitchFamily="34" charset="0"/>
                <a:ea typeface="Calibri" pitchFamily="34" charset="-122"/>
                <a:cs typeface="Calibri" pitchFamily="34" charset="-120"/>
              </a:rPr>
              <a:t>Hungarian algorithm over an</a:t>
            </a:r>
            <a:endParaRPr lang="en-US" sz="1050" dirty="0"/>
          </a:p>
          <a:p>
            <a:pPr indent="0" marL="0">
              <a:lnSpc>
                <a:spcPts val="1300"/>
              </a:lnSpc>
              <a:buNone/>
            </a:pPr>
            <a:r>
              <a:rPr lang="en-US" sz="1050" dirty="0">
                <a:solidFill>
                  <a:srgbClr val="1E293B"/>
                </a:solidFill>
                <a:latin typeface="Calibri" pitchFamily="34" charset="0"/>
                <a:ea typeface="Calibri" pitchFamily="34" charset="-122"/>
                <a:cs typeface="Calibri" pitchFamily="34" charset="-120"/>
              </a:rPr>
              <a:t>OSRM road-network cost matrix</a:t>
            </a:r>
            <a:endParaRPr lang="en-US" sz="1050" dirty="0"/>
          </a:p>
          <a:p>
            <a:pPr indent="0" marL="0">
              <a:lnSpc>
                <a:spcPts val="1300"/>
              </a:lnSpc>
              <a:buNone/>
            </a:pPr>
            <a:r>
              <a:rPr lang="en-US" sz="1050" dirty="0">
                <a:solidFill>
                  <a:srgbClr val="1E293B"/>
                </a:solidFill>
                <a:latin typeface="Calibri" pitchFamily="34" charset="0"/>
                <a:ea typeface="Calibri" pitchFamily="34" charset="-122"/>
                <a:cs typeface="Calibri" pitchFamily="34" charset="-120"/>
              </a:rPr>
              <a:t>with hard capability constraints</a:t>
            </a:r>
            <a:endParaRPr lang="en-US" sz="1050" dirty="0"/>
          </a:p>
        </p:txBody>
      </p:sp>
      <p:sp>
        <p:nvSpPr>
          <p:cNvPr id="27" name="Shape 25"/>
          <p:cNvSpPr/>
          <p:nvPr/>
        </p:nvSpPr>
        <p:spPr>
          <a:xfrm>
            <a:off x="8001000" y="4379976"/>
            <a:ext cx="36576" cy="566928"/>
          </a:xfrm>
          <a:prstGeom prst="rect">
            <a:avLst/>
          </a:prstGeom>
          <a:solidFill>
            <a:srgbClr val="DC2626"/>
          </a:solidFill>
          <a:ln/>
        </p:spPr>
      </p:sp>
      <p:sp>
        <p:nvSpPr>
          <p:cNvPr id="28" name="Text 26"/>
          <p:cNvSpPr/>
          <p:nvPr/>
        </p:nvSpPr>
        <p:spPr>
          <a:xfrm>
            <a:off x="8183880" y="4416552"/>
            <a:ext cx="3291840" cy="548640"/>
          </a:xfrm>
          <a:prstGeom prst="rect">
            <a:avLst/>
          </a:prstGeom>
          <a:noFill/>
          <a:ln/>
        </p:spPr>
        <p:txBody>
          <a:bodyPr wrap="square" lIns="0" tIns="0" rIns="0" bIns="0" rtlCol="0" anchor="ctr"/>
          <a:lstStyle/>
          <a:p>
            <a:pPr indent="0" marL="0">
              <a:lnSpc>
                <a:spcPts val="1300"/>
              </a:lnSpc>
              <a:buNone/>
            </a:pPr>
            <a:r>
              <a:rPr lang="en-US" sz="1100" b="1" dirty="0">
                <a:solidFill>
                  <a:srgbClr val="DC2626"/>
                </a:solidFill>
                <a:latin typeface="Calibri" pitchFamily="34" charset="0"/>
                <a:ea typeface="Calibri" pitchFamily="34" charset="-122"/>
                <a:cs typeface="Calibri" pitchFamily="34" charset="-120"/>
              </a:rPr>
              <a:t>Provably optimal, O(n³),</a:t>
            </a:r>
            <a:endParaRPr lang="en-US" sz="1100" dirty="0"/>
          </a:p>
          <a:p>
            <a:pPr indent="0" marL="0">
              <a:lnSpc>
                <a:spcPts val="1300"/>
              </a:lnSpc>
              <a:buNone/>
            </a:pPr>
            <a:r>
              <a:rPr lang="en-US" sz="1100" b="1" dirty="0">
                <a:solidFill>
                  <a:srgbClr val="DC2626"/>
                </a:solidFill>
                <a:latin typeface="Calibri" pitchFamily="34" charset="0"/>
                <a:ea typeface="Calibri" pitchFamily="34" charset="-122"/>
                <a:cs typeface="Calibri" pitchFamily="34" charset="-120"/>
              </a:rPr>
              <a:t>under 80 ms</a:t>
            </a:r>
            <a:endParaRPr lang="en-US" sz="1100" dirty="0"/>
          </a:p>
        </p:txBody>
      </p:sp>
      <p:sp>
        <p:nvSpPr>
          <p:cNvPr id="29" name="Shape 27"/>
          <p:cNvSpPr/>
          <p:nvPr/>
        </p:nvSpPr>
        <p:spPr>
          <a:xfrm>
            <a:off x="502920" y="5202936"/>
            <a:ext cx="11155680" cy="859536"/>
          </a:xfrm>
          <a:prstGeom prst="roundRect">
            <a:avLst>
              <a:gd name="adj" fmla="val 6383"/>
            </a:avLst>
          </a:prstGeom>
          <a:solidFill>
            <a:srgbClr val="FFFFFF"/>
          </a:solidFill>
          <a:ln w="12700">
            <a:solidFill>
              <a:srgbClr val="CBD5E1"/>
            </a:solidFill>
            <a:prstDash val="solid"/>
          </a:ln>
        </p:spPr>
      </p:sp>
      <p:sp>
        <p:nvSpPr>
          <p:cNvPr id="30" name="Text 28"/>
          <p:cNvSpPr/>
          <p:nvPr/>
        </p:nvSpPr>
        <p:spPr>
          <a:xfrm>
            <a:off x="685800" y="5440680"/>
            <a:ext cx="548640" cy="365760"/>
          </a:xfrm>
          <a:prstGeom prst="rect">
            <a:avLst/>
          </a:prstGeom>
          <a:noFill/>
          <a:ln/>
        </p:spPr>
        <p:txBody>
          <a:bodyPr wrap="square" lIns="0" tIns="0" rIns="0" bIns="0" rtlCol="0" anchor="ctr"/>
          <a:lstStyle/>
          <a:p>
            <a:pPr indent="0" marL="0">
              <a:buNone/>
            </a:pPr>
            <a:r>
              <a:rPr lang="en-US" sz="1900" b="1" dirty="0">
                <a:solidFill>
                  <a:srgbClr val="E2E8F0"/>
                </a:solidFill>
                <a:latin typeface="Arial" pitchFamily="34" charset="0"/>
                <a:ea typeface="Arial" pitchFamily="34" charset="-122"/>
                <a:cs typeface="Arial" pitchFamily="34" charset="-120"/>
              </a:rPr>
              <a:t>05</a:t>
            </a:r>
            <a:endParaRPr lang="en-US" sz="1900" dirty="0"/>
          </a:p>
        </p:txBody>
      </p:sp>
      <p:sp>
        <p:nvSpPr>
          <p:cNvPr id="31" name="Text 29"/>
          <p:cNvSpPr/>
          <p:nvPr/>
        </p:nvSpPr>
        <p:spPr>
          <a:xfrm>
            <a:off x="1325880" y="5477256"/>
            <a:ext cx="1828800" cy="320040"/>
          </a:xfrm>
          <a:prstGeom prst="rect">
            <a:avLst/>
          </a:prstGeom>
          <a:noFill/>
          <a:ln/>
        </p:spPr>
        <p:txBody>
          <a:bodyPr wrap="square" lIns="0" tIns="0" rIns="0" bIns="0" rtlCol="0" anchor="ctr"/>
          <a:lstStyle/>
          <a:p>
            <a:pPr indent="0" marL="0">
              <a:buNone/>
            </a:pPr>
            <a:r>
              <a:rPr lang="en-US" sz="1500" b="1" dirty="0">
                <a:solidFill>
                  <a:srgbClr val="0F172A"/>
                </a:solidFill>
                <a:latin typeface="Arial" pitchFamily="34" charset="0"/>
                <a:ea typeface="Arial" pitchFamily="34" charset="-122"/>
                <a:cs typeface="Arial" pitchFamily="34" charset="-120"/>
              </a:rPr>
              <a:t>Route shelters</a:t>
            </a:r>
            <a:endParaRPr lang="en-US" sz="1500" dirty="0"/>
          </a:p>
        </p:txBody>
      </p:sp>
      <p:sp>
        <p:nvSpPr>
          <p:cNvPr id="32" name="Text 30"/>
          <p:cNvSpPr/>
          <p:nvPr/>
        </p:nvSpPr>
        <p:spPr>
          <a:xfrm>
            <a:off x="3291840" y="5321808"/>
            <a:ext cx="4480560" cy="658368"/>
          </a:xfrm>
          <a:prstGeom prst="rect">
            <a:avLst/>
          </a:prstGeom>
          <a:noFill/>
          <a:ln/>
        </p:spPr>
        <p:txBody>
          <a:bodyPr wrap="square" lIns="0" tIns="0" rIns="0" bIns="0" rtlCol="0" anchor="ctr"/>
          <a:lstStyle/>
          <a:p>
            <a:pPr indent="0" marL="0">
              <a:lnSpc>
                <a:spcPts val="1300"/>
              </a:lnSpc>
              <a:buNone/>
            </a:pPr>
            <a:r>
              <a:rPr lang="en-US" sz="1050" dirty="0">
                <a:solidFill>
                  <a:srgbClr val="1E293B"/>
                </a:solidFill>
                <a:latin typeface="Calibri" pitchFamily="34" charset="0"/>
                <a:ea typeface="Calibri" pitchFamily="34" charset="-122"/>
                <a:cs typeface="Calibri" pitchFamily="34" charset="-120"/>
              </a:rPr>
              <a:t>Min-cost flow with shelter</a:t>
            </a:r>
            <a:endParaRPr lang="en-US" sz="1050" dirty="0"/>
          </a:p>
          <a:p>
            <a:pPr indent="0" marL="0">
              <a:lnSpc>
                <a:spcPts val="1300"/>
              </a:lnSpc>
              <a:buNone/>
            </a:pPr>
            <a:r>
              <a:rPr lang="en-US" sz="1050" dirty="0">
                <a:solidFill>
                  <a:srgbClr val="1E293B"/>
                </a:solidFill>
                <a:latin typeface="Calibri" pitchFamily="34" charset="0"/>
                <a:ea typeface="Calibri" pitchFamily="34" charset="-122"/>
                <a:cs typeface="Calibri" pitchFamily="34" charset="-120"/>
              </a:rPr>
              <a:t>capacity as edge capacity</a:t>
            </a:r>
            <a:endParaRPr lang="en-US" sz="1050" dirty="0"/>
          </a:p>
        </p:txBody>
      </p:sp>
      <p:sp>
        <p:nvSpPr>
          <p:cNvPr id="33" name="Shape 31"/>
          <p:cNvSpPr/>
          <p:nvPr/>
        </p:nvSpPr>
        <p:spPr>
          <a:xfrm>
            <a:off x="8001000" y="5349240"/>
            <a:ext cx="36576" cy="566928"/>
          </a:xfrm>
          <a:prstGeom prst="rect">
            <a:avLst/>
          </a:prstGeom>
          <a:solidFill>
            <a:srgbClr val="DC2626"/>
          </a:solidFill>
          <a:ln/>
        </p:spPr>
      </p:sp>
      <p:sp>
        <p:nvSpPr>
          <p:cNvPr id="34" name="Text 32"/>
          <p:cNvSpPr/>
          <p:nvPr/>
        </p:nvSpPr>
        <p:spPr>
          <a:xfrm>
            <a:off x="8183880" y="5385816"/>
            <a:ext cx="3291840" cy="548640"/>
          </a:xfrm>
          <a:prstGeom prst="rect">
            <a:avLst/>
          </a:prstGeom>
          <a:noFill/>
          <a:ln/>
        </p:spPr>
        <p:txBody>
          <a:bodyPr wrap="square" lIns="0" tIns="0" rIns="0" bIns="0" rtlCol="0" anchor="ctr"/>
          <a:lstStyle/>
          <a:p>
            <a:pPr indent="0" marL="0">
              <a:lnSpc>
                <a:spcPts val="1300"/>
              </a:lnSpc>
              <a:buNone/>
            </a:pPr>
            <a:r>
              <a:rPr lang="en-US" sz="1100" b="1" dirty="0">
                <a:solidFill>
                  <a:srgbClr val="DC2626"/>
                </a:solidFill>
                <a:latin typeface="Calibri" pitchFamily="34" charset="0"/>
                <a:ea typeface="Calibri" pitchFamily="34" charset="-122"/>
                <a:cs typeface="Calibri" pitchFamily="34" charset="-120"/>
              </a:rPr>
              <a:t>Overflow re-routes itself;</a:t>
            </a:r>
            <a:endParaRPr lang="en-US" sz="1100" dirty="0"/>
          </a:p>
          <a:p>
            <a:pPr indent="0" marL="0">
              <a:lnSpc>
                <a:spcPts val="1300"/>
              </a:lnSpc>
              <a:buNone/>
            </a:pPr>
            <a:r>
              <a:rPr lang="en-US" sz="1100" b="1" dirty="0">
                <a:solidFill>
                  <a:srgbClr val="DC2626"/>
                </a:solidFill>
                <a:latin typeface="Calibri" pitchFamily="34" charset="0"/>
                <a:ea typeface="Calibri" pitchFamily="34" charset="-122"/>
                <a:cs typeface="Calibri" pitchFamily="34" charset="-120"/>
              </a:rPr>
              <a:t>shortfall raises an alarm</a:t>
            </a:r>
            <a:endParaRPr lang="en-US" sz="1100" dirty="0"/>
          </a:p>
        </p:txBody>
      </p:sp>
      <p:sp>
        <p:nvSpPr>
          <p:cNvPr id="35" name="Text 33"/>
          <p:cNvSpPr/>
          <p:nvPr/>
        </p:nvSpPr>
        <p:spPr>
          <a:xfrm>
            <a:off x="502920" y="6419088"/>
            <a:ext cx="11155680" cy="274320"/>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Operations research, not a black box — for a life-safety system, deterministic and auditable beats a model nobody can interrogate.</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02920" y="310896"/>
            <a:ext cx="640080" cy="457200"/>
          </a:xfrm>
          <a:prstGeom prst="rect">
            <a:avLst/>
          </a:prstGeom>
          <a:noFill/>
          <a:ln/>
        </p:spPr>
        <p:txBody>
          <a:bodyPr wrap="square" lIns="0" tIns="0" rIns="0" bIns="0" rtlCol="0" anchor="ctr"/>
          <a:lstStyle/>
          <a:p>
            <a:pPr algn="l" indent="0" marL="0">
              <a:buNone/>
            </a:pPr>
            <a:r>
              <a:rPr lang="en-US" sz="2600" b="1" dirty="0">
                <a:solidFill>
                  <a:srgbClr val="DC2626"/>
                </a:solidFill>
                <a:latin typeface="Arial" pitchFamily="34" charset="0"/>
                <a:ea typeface="Arial" pitchFamily="34" charset="-122"/>
                <a:cs typeface="Arial" pitchFamily="34" charset="-120"/>
              </a:rPr>
              <a:t>06</a:t>
            </a:r>
            <a:endParaRPr lang="en-US" sz="2600" dirty="0"/>
          </a:p>
        </p:txBody>
      </p:sp>
      <p:sp>
        <p:nvSpPr>
          <p:cNvPr id="3" name="Text 1"/>
          <p:cNvSpPr/>
          <p:nvPr/>
        </p:nvSpPr>
        <p:spPr>
          <a:xfrm>
            <a:off x="1143000" y="274320"/>
            <a:ext cx="8778240" cy="530352"/>
          </a:xfrm>
          <a:prstGeom prst="rect">
            <a:avLst/>
          </a:prstGeom>
          <a:noFill/>
          <a:ln/>
        </p:spPr>
        <p:txBody>
          <a:bodyPr wrap="square" lIns="0" tIns="0" rIns="0" bIns="0" rtlCol="0" anchor="ctr"/>
          <a:lstStyle/>
          <a:p>
            <a:pPr indent="0" marL="0">
              <a:buNone/>
            </a:pPr>
            <a:r>
              <a:rPr lang="en-US" sz="2800" b="1" dirty="0">
                <a:solidFill>
                  <a:srgbClr val="0F172A"/>
                </a:solidFill>
                <a:latin typeface="Arial" pitchFamily="34" charset="0"/>
                <a:ea typeface="Arial" pitchFamily="34" charset="-122"/>
                <a:cs typeface="Arial" pitchFamily="34" charset="-120"/>
              </a:rPr>
              <a:t>The differentiator: optimal assignment</a:t>
            </a:r>
            <a:endParaRPr lang="en-US" sz="2800" dirty="0"/>
          </a:p>
        </p:txBody>
      </p:sp>
      <p:sp>
        <p:nvSpPr>
          <p:cNvPr id="4" name="Text 2"/>
          <p:cNvSpPr/>
          <p:nvPr/>
        </p:nvSpPr>
        <p:spPr>
          <a:xfrm>
            <a:off x="1161288" y="795528"/>
            <a:ext cx="10424160" cy="310896"/>
          </a:xfrm>
          <a:prstGeom prst="rect">
            <a:avLst/>
          </a:prstGeom>
          <a:noFill/>
          <a:ln/>
        </p:spPr>
        <p:txBody>
          <a:bodyPr wrap="square" lIns="0" tIns="0" rIns="0" bIns="0" rtlCol="0" anchor="t"/>
          <a:lstStyle/>
          <a:p>
            <a:pPr indent="0" marL="0">
              <a:buNone/>
            </a:pPr>
            <a:r>
              <a:rPr lang="en-US" sz="1300" i="1" dirty="0">
                <a:solidFill>
                  <a:srgbClr val="64748B"/>
                </a:solidFill>
                <a:latin typeface="Calibri" pitchFamily="34" charset="0"/>
                <a:ea typeface="Calibri" pitchFamily="34" charset="-122"/>
                <a:cs typeface="Calibri" pitchFamily="34" charset="-120"/>
              </a:rPr>
              <a:t>Every other team dispatches the nearest free unit. That is locally sensible and globally poor.</a:t>
            </a:r>
            <a:endParaRPr lang="en-US" sz="1300" dirty="0"/>
          </a:p>
        </p:txBody>
      </p:sp>
      <p:sp>
        <p:nvSpPr>
          <p:cNvPr id="5" name="Text 3"/>
          <p:cNvSpPr/>
          <p:nvPr/>
        </p:nvSpPr>
        <p:spPr>
          <a:xfrm>
            <a:off x="502920" y="1280160"/>
            <a:ext cx="11155680" cy="292608"/>
          </a:xfrm>
          <a:prstGeom prst="rect">
            <a:avLst/>
          </a:prstGeom>
          <a:noFill/>
          <a:ln/>
        </p:spPr>
        <p:txBody>
          <a:bodyPr wrap="square" lIns="0" tIns="0" rIns="0" bIns="0" rtlCol="0" anchor="ctr"/>
          <a:lstStyle/>
          <a:p>
            <a:pPr indent="0" marL="0">
              <a:buNone/>
            </a:pPr>
            <a:r>
              <a:rPr lang="en-US" sz="1500" b="1" dirty="0">
                <a:solidFill>
                  <a:srgbClr val="0F172A"/>
                </a:solidFill>
                <a:latin typeface="Arial" pitchFamily="34" charset="0"/>
                <a:ea typeface="Arial" pitchFamily="34" charset="-122"/>
                <a:cs typeface="Arial" pitchFamily="34" charset="-120"/>
              </a:rPr>
              <a:t>A worked example — two boats, two incidents</a:t>
            </a:r>
            <a:endParaRPr lang="en-US" sz="1500" dirty="0"/>
          </a:p>
        </p:txBody>
      </p:sp>
      <p:sp>
        <p:nvSpPr>
          <p:cNvPr id="6" name="Text 4"/>
          <p:cNvSpPr/>
          <p:nvPr/>
        </p:nvSpPr>
        <p:spPr>
          <a:xfrm>
            <a:off x="502920" y="1591056"/>
            <a:ext cx="11155680" cy="274320"/>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Boat A is 5 min from Incident 1 and 8 min from Incident 2.    Boat B is 6 min from Incident 1 but 45 min from Incident 2.</a:t>
            </a:r>
            <a:endParaRPr lang="en-US" sz="1200" dirty="0"/>
          </a:p>
        </p:txBody>
      </p:sp>
      <p:sp>
        <p:nvSpPr>
          <p:cNvPr id="7" name="Shape 5"/>
          <p:cNvSpPr/>
          <p:nvPr/>
        </p:nvSpPr>
        <p:spPr>
          <a:xfrm>
            <a:off x="502920" y="2011680"/>
            <a:ext cx="5486400" cy="2286000"/>
          </a:xfrm>
          <a:prstGeom prst="roundRect">
            <a:avLst>
              <a:gd name="adj" fmla="val 2400"/>
            </a:avLst>
          </a:prstGeom>
          <a:solidFill>
            <a:srgbClr val="FFFFFF"/>
          </a:solidFill>
          <a:ln w="12700">
            <a:solidFill>
              <a:srgbClr val="CBD5E1"/>
            </a:solidFill>
            <a:prstDash val="solid"/>
          </a:ln>
        </p:spPr>
      </p:sp>
      <p:sp>
        <p:nvSpPr>
          <p:cNvPr id="8" name="Text 6"/>
          <p:cNvSpPr/>
          <p:nvPr/>
        </p:nvSpPr>
        <p:spPr>
          <a:xfrm>
            <a:off x="731520" y="2176272"/>
            <a:ext cx="5029200" cy="292608"/>
          </a:xfrm>
          <a:prstGeom prst="rect">
            <a:avLst/>
          </a:prstGeom>
          <a:noFill/>
          <a:ln/>
        </p:spPr>
        <p:txBody>
          <a:bodyPr wrap="square" lIns="0" tIns="0" rIns="0" bIns="0" rtlCol="0" anchor="ctr"/>
          <a:lstStyle/>
          <a:p>
            <a:pPr indent="0" marL="0">
              <a:buNone/>
            </a:pPr>
            <a:r>
              <a:rPr lang="en-US" sz="1400" b="1" dirty="0">
                <a:solidFill>
                  <a:srgbClr val="64748B"/>
                </a:solidFill>
                <a:latin typeface="Arial" pitchFamily="34" charset="0"/>
                <a:ea typeface="Arial" pitchFamily="34" charset="-122"/>
                <a:cs typeface="Arial" pitchFamily="34" charset="-120"/>
              </a:rPr>
              <a:t>GREEDY  —  nearest free unit</a:t>
            </a:r>
            <a:endParaRPr lang="en-US" sz="1400" dirty="0"/>
          </a:p>
        </p:txBody>
      </p:sp>
      <p:sp>
        <p:nvSpPr>
          <p:cNvPr id="9" name="Text 7"/>
          <p:cNvSpPr/>
          <p:nvPr/>
        </p:nvSpPr>
        <p:spPr>
          <a:xfrm>
            <a:off x="731520" y="2542032"/>
            <a:ext cx="5029200" cy="777240"/>
          </a:xfrm>
          <a:prstGeom prst="rect">
            <a:avLst/>
          </a:prstGeom>
          <a:noFill/>
          <a:ln/>
        </p:spPr>
        <p:txBody>
          <a:bodyPr wrap="square" lIns="0" tIns="0" rIns="0" bIns="0" rtlCol="0" anchor="ctr"/>
          <a:lstStyle/>
          <a:p>
            <a:pPr marL="342900" indent="-342900">
              <a:spcAft>
                <a:spcPts val="600"/>
              </a:spcAft>
              <a:buSzPct val="100000"/>
              <a:buChar char="•"/>
            </a:pPr>
            <a:r>
              <a:rPr lang="en-US" sz="1150" dirty="0">
                <a:solidFill>
                  <a:srgbClr val="1E293B"/>
                </a:solidFill>
                <a:latin typeface="Calibri" pitchFamily="34" charset="0"/>
                <a:ea typeface="Calibri" pitchFamily="34" charset="-122"/>
                <a:cs typeface="Calibri" pitchFamily="34" charset="-120"/>
              </a:rPr>
              <a:t>Incident 1 is more severe, so it is served first and takes Boat A (5 min).</a:t>
            </a:r>
            <a:endParaRPr lang="en-US" sz="1150" dirty="0"/>
          </a:p>
          <a:p>
            <a:pPr marL="342900" indent="-342900">
              <a:spcAft>
                <a:spcPts val="600"/>
              </a:spcAft>
              <a:buSzPct val="100000"/>
              <a:buChar char="•"/>
            </a:pPr>
            <a:r>
              <a:rPr lang="en-US" sz="1150" dirty="0">
                <a:solidFill>
                  <a:srgbClr val="1E293B"/>
                </a:solidFill>
                <a:latin typeface="Calibri" pitchFamily="34" charset="0"/>
                <a:ea typeface="Calibri" pitchFamily="34" charset="-122"/>
                <a:cs typeface="Calibri" pitchFamily="34" charset="-120"/>
              </a:rPr>
              <a:t>Boat B is all that remains, and drives 45 min to Incident 2.</a:t>
            </a:r>
            <a:endParaRPr lang="en-US" sz="1150" dirty="0"/>
          </a:p>
        </p:txBody>
      </p:sp>
      <p:sp>
        <p:nvSpPr>
          <p:cNvPr id="10" name="Text 8"/>
          <p:cNvSpPr/>
          <p:nvPr/>
        </p:nvSpPr>
        <p:spPr>
          <a:xfrm>
            <a:off x="731520" y="3520440"/>
            <a:ext cx="5029200" cy="457200"/>
          </a:xfrm>
          <a:prstGeom prst="rect">
            <a:avLst/>
          </a:prstGeom>
          <a:noFill/>
          <a:ln/>
        </p:spPr>
        <p:txBody>
          <a:bodyPr wrap="square" lIns="0" tIns="0" rIns="0" bIns="0" rtlCol="0" anchor="ctr"/>
          <a:lstStyle/>
          <a:p>
            <a:pPr indent="0" marL="0">
              <a:buNone/>
            </a:pPr>
            <a:r>
              <a:rPr lang="en-US" sz="2600" b="1" dirty="0">
                <a:solidFill>
                  <a:srgbClr val="64748B"/>
                </a:solidFill>
                <a:latin typeface="Arial" pitchFamily="34" charset="0"/>
                <a:ea typeface="Arial" pitchFamily="34" charset="-122"/>
                <a:cs typeface="Arial" pitchFamily="34" charset="-120"/>
              </a:rPr>
              <a:t>Total  50 min</a:t>
            </a:r>
            <a:endParaRPr lang="en-US" sz="2600" dirty="0"/>
          </a:p>
        </p:txBody>
      </p:sp>
      <p:sp>
        <p:nvSpPr>
          <p:cNvPr id="11" name="Shape 9"/>
          <p:cNvSpPr/>
          <p:nvPr/>
        </p:nvSpPr>
        <p:spPr>
          <a:xfrm>
            <a:off x="6172200" y="2011680"/>
            <a:ext cx="5486400" cy="2286000"/>
          </a:xfrm>
          <a:prstGeom prst="roundRect">
            <a:avLst>
              <a:gd name="adj" fmla="val 2400"/>
            </a:avLst>
          </a:prstGeom>
          <a:solidFill>
            <a:srgbClr val="FEF2F2"/>
          </a:solidFill>
          <a:ln w="20320">
            <a:solidFill>
              <a:srgbClr val="DC2626"/>
            </a:solidFill>
            <a:prstDash val="solid"/>
          </a:ln>
        </p:spPr>
      </p:sp>
      <p:sp>
        <p:nvSpPr>
          <p:cNvPr id="12" name="Text 10"/>
          <p:cNvSpPr/>
          <p:nvPr/>
        </p:nvSpPr>
        <p:spPr>
          <a:xfrm>
            <a:off x="6400800" y="2176272"/>
            <a:ext cx="5029200" cy="292608"/>
          </a:xfrm>
          <a:prstGeom prst="rect">
            <a:avLst/>
          </a:prstGeom>
          <a:noFill/>
          <a:ln/>
        </p:spPr>
        <p:txBody>
          <a:bodyPr wrap="square" lIns="0" tIns="0" rIns="0" bIns="0" rtlCol="0" anchor="ctr"/>
          <a:lstStyle/>
          <a:p>
            <a:pPr indent="0" marL="0">
              <a:buNone/>
            </a:pPr>
            <a:r>
              <a:rPr lang="en-US" sz="1400" b="1" dirty="0">
                <a:solidFill>
                  <a:srgbClr val="DC2626"/>
                </a:solidFill>
                <a:latin typeface="Arial" pitchFamily="34" charset="0"/>
                <a:ea typeface="Arial" pitchFamily="34" charset="-122"/>
                <a:cs typeface="Arial" pitchFamily="34" charset="-120"/>
              </a:rPr>
              <a:t>HUNGARIAN  —  optimal assignment</a:t>
            </a:r>
            <a:endParaRPr lang="en-US" sz="1400" dirty="0"/>
          </a:p>
        </p:txBody>
      </p:sp>
      <p:sp>
        <p:nvSpPr>
          <p:cNvPr id="13" name="Text 11"/>
          <p:cNvSpPr/>
          <p:nvPr/>
        </p:nvSpPr>
        <p:spPr>
          <a:xfrm>
            <a:off x="6400800" y="2542032"/>
            <a:ext cx="5029200" cy="777240"/>
          </a:xfrm>
          <a:prstGeom prst="rect">
            <a:avLst/>
          </a:prstGeom>
          <a:noFill/>
          <a:ln/>
        </p:spPr>
        <p:txBody>
          <a:bodyPr wrap="square" lIns="0" tIns="0" rIns="0" bIns="0" rtlCol="0" anchor="ctr"/>
          <a:lstStyle/>
          <a:p>
            <a:pPr marL="342900" indent="-342900">
              <a:spcAft>
                <a:spcPts val="600"/>
              </a:spcAft>
              <a:buSzPct val="100000"/>
              <a:buChar char="•"/>
            </a:pPr>
            <a:r>
              <a:rPr lang="en-US" sz="1150" dirty="0">
                <a:solidFill>
                  <a:srgbClr val="1E293B"/>
                </a:solidFill>
                <a:latin typeface="Calibri" pitchFamily="34" charset="0"/>
                <a:ea typeface="Calibri" pitchFamily="34" charset="-122"/>
                <a:cs typeface="Calibri" pitchFamily="34" charset="-120"/>
              </a:rPr>
              <a:t>Boat B → Incident 1 (6 min). One minute worse on the first incident.</a:t>
            </a:r>
            <a:endParaRPr lang="en-US" sz="1150" dirty="0"/>
          </a:p>
          <a:p>
            <a:pPr marL="342900" indent="-342900">
              <a:spcAft>
                <a:spcPts val="600"/>
              </a:spcAft>
              <a:buSzPct val="100000"/>
              <a:buChar char="•"/>
            </a:pPr>
            <a:r>
              <a:rPr lang="en-US" sz="1150" dirty="0">
                <a:solidFill>
                  <a:srgbClr val="1E293B"/>
                </a:solidFill>
                <a:latin typeface="Calibri" pitchFamily="34" charset="0"/>
                <a:ea typeface="Calibri" pitchFamily="34" charset="-122"/>
                <a:cs typeface="Calibri" pitchFamily="34" charset="-120"/>
              </a:rPr>
              <a:t>Boat A → Incident 2 (8 min). Thirty-seven minutes better overall.</a:t>
            </a:r>
            <a:endParaRPr lang="en-US" sz="1150" dirty="0"/>
          </a:p>
        </p:txBody>
      </p:sp>
      <p:sp>
        <p:nvSpPr>
          <p:cNvPr id="14" name="Text 12"/>
          <p:cNvSpPr/>
          <p:nvPr/>
        </p:nvSpPr>
        <p:spPr>
          <a:xfrm>
            <a:off x="6400800" y="3520440"/>
            <a:ext cx="5029200" cy="457200"/>
          </a:xfrm>
          <a:prstGeom prst="rect">
            <a:avLst/>
          </a:prstGeom>
          <a:noFill/>
          <a:ln/>
        </p:spPr>
        <p:txBody>
          <a:bodyPr wrap="square" lIns="0" tIns="0" rIns="0" bIns="0" rtlCol="0" anchor="ctr"/>
          <a:lstStyle/>
          <a:p>
            <a:pPr indent="0" marL="0">
              <a:buNone/>
            </a:pPr>
            <a:r>
              <a:rPr lang="en-US" sz="2600" b="1" dirty="0">
                <a:solidFill>
                  <a:srgbClr val="DC2626"/>
                </a:solidFill>
                <a:latin typeface="Arial" pitchFamily="34" charset="0"/>
                <a:ea typeface="Arial" pitchFamily="34" charset="-122"/>
                <a:cs typeface="Arial" pitchFamily="34" charset="-120"/>
              </a:rPr>
              <a:t>Total  14 min</a:t>
            </a:r>
            <a:endParaRPr lang="en-US" sz="2600" dirty="0"/>
          </a:p>
        </p:txBody>
      </p:sp>
      <p:sp>
        <p:nvSpPr>
          <p:cNvPr id="15" name="Text 13"/>
          <p:cNvSpPr/>
          <p:nvPr/>
        </p:nvSpPr>
        <p:spPr>
          <a:xfrm>
            <a:off x="502920" y="4526280"/>
            <a:ext cx="11155680" cy="274320"/>
          </a:xfrm>
          <a:prstGeom prst="rect">
            <a:avLst/>
          </a:prstGeom>
          <a:noFill/>
          <a:ln/>
        </p:spPr>
        <p:txBody>
          <a:bodyPr wrap="square" lIns="0" tIns="0" rIns="0" bIns="0" rtlCol="0" anchor="ctr"/>
          <a:lstStyle/>
          <a:p>
            <a:pPr indent="0" marL="0">
              <a:buNone/>
            </a:pPr>
            <a:r>
              <a:rPr lang="en-US" sz="1300" b="1" dirty="0">
                <a:solidFill>
                  <a:srgbClr val="0F172A"/>
                </a:solidFill>
                <a:latin typeface="Arial" pitchFamily="34" charset="0"/>
                <a:ea typeface="Arial" pitchFamily="34" charset="-122"/>
                <a:cs typeface="Arial" pitchFamily="34" charset="-120"/>
              </a:rPr>
              <a:t>Measured on our 200-report district simulation</a:t>
            </a:r>
            <a:endParaRPr lang="en-US" sz="1300" dirty="0"/>
          </a:p>
        </p:txBody>
      </p:sp>
      <p:sp>
        <p:nvSpPr>
          <p:cNvPr id="16" name="Shape 14"/>
          <p:cNvSpPr/>
          <p:nvPr/>
        </p:nvSpPr>
        <p:spPr>
          <a:xfrm>
            <a:off x="502920" y="4846320"/>
            <a:ext cx="2679192" cy="1280160"/>
          </a:xfrm>
          <a:prstGeom prst="roundRect">
            <a:avLst>
              <a:gd name="adj" fmla="val 4286"/>
            </a:avLst>
          </a:prstGeom>
          <a:solidFill>
            <a:srgbClr val="0F172A"/>
          </a:solidFill>
          <a:ln w="12700">
            <a:solidFill>
              <a:srgbClr val="0F172A"/>
            </a:solidFill>
            <a:prstDash val="solid"/>
          </a:ln>
        </p:spPr>
      </p:sp>
      <p:sp>
        <p:nvSpPr>
          <p:cNvPr id="17" name="Text 15"/>
          <p:cNvSpPr/>
          <p:nvPr/>
        </p:nvSpPr>
        <p:spPr>
          <a:xfrm>
            <a:off x="685800" y="4983480"/>
            <a:ext cx="2331720" cy="411480"/>
          </a:xfrm>
          <a:prstGeom prst="rect">
            <a:avLst/>
          </a:prstGeom>
          <a:noFill/>
          <a:ln/>
        </p:spPr>
        <p:txBody>
          <a:bodyPr wrap="square" lIns="0" tIns="0" rIns="0" bIns="0" rtlCol="0" anchor="ctr"/>
          <a:lstStyle/>
          <a:p>
            <a:pPr indent="0" marL="0">
              <a:buNone/>
            </a:pPr>
            <a:r>
              <a:rPr lang="en-US" sz="2000" b="1" dirty="0">
                <a:solidFill>
                  <a:srgbClr val="F87171"/>
                </a:solidFill>
                <a:latin typeface="Arial" pitchFamily="34" charset="0"/>
                <a:ea typeface="Arial" pitchFamily="34" charset="-122"/>
                <a:cs typeface="Arial" pitchFamily="34" charset="-120"/>
              </a:rPr>
              <a:t>34 → 21 min</a:t>
            </a:r>
            <a:endParaRPr lang="en-US" sz="2000" dirty="0"/>
          </a:p>
        </p:txBody>
      </p:sp>
      <p:sp>
        <p:nvSpPr>
          <p:cNvPr id="18" name="Text 16"/>
          <p:cNvSpPr/>
          <p:nvPr/>
        </p:nvSpPr>
        <p:spPr>
          <a:xfrm>
            <a:off x="685800" y="5431536"/>
            <a:ext cx="2331720" cy="457200"/>
          </a:xfrm>
          <a:prstGeom prst="rect">
            <a:avLst/>
          </a:prstGeom>
          <a:noFill/>
          <a:ln/>
        </p:spPr>
        <p:txBody>
          <a:bodyPr wrap="square" lIns="0" tIns="0" rIns="0" bIns="0" rtlCol="0" anchor="ctr"/>
          <a:lstStyle/>
          <a:p>
            <a:pPr indent="0" marL="0">
              <a:lnSpc>
                <a:spcPts val="1300"/>
              </a:lnSpc>
              <a:buNone/>
            </a:pPr>
            <a:r>
              <a:rPr lang="en-US" sz="1050" dirty="0">
                <a:solidFill>
                  <a:srgbClr val="94A3B8"/>
                </a:solidFill>
                <a:latin typeface="Calibri" pitchFamily="34" charset="0"/>
                <a:ea typeface="Calibri" pitchFamily="34" charset="-122"/>
                <a:cs typeface="Calibri" pitchFamily="34" charset="-120"/>
              </a:rPr>
              <a:t>mean response time</a:t>
            </a:r>
            <a:endParaRPr lang="en-US" sz="1050" dirty="0"/>
          </a:p>
        </p:txBody>
      </p:sp>
      <p:sp>
        <p:nvSpPr>
          <p:cNvPr id="19" name="Text 17"/>
          <p:cNvSpPr/>
          <p:nvPr/>
        </p:nvSpPr>
        <p:spPr>
          <a:xfrm>
            <a:off x="685800" y="5852160"/>
            <a:ext cx="2331720" cy="228600"/>
          </a:xfrm>
          <a:prstGeom prst="rect">
            <a:avLst/>
          </a:prstGeom>
          <a:noFill/>
          <a:ln/>
        </p:spPr>
        <p:txBody>
          <a:bodyPr wrap="square" lIns="0" tIns="0" rIns="0" bIns="0" rtlCol="0" anchor="ctr"/>
          <a:lstStyle/>
          <a:p>
            <a:pPr indent="0" marL="0">
              <a:buNone/>
            </a:pPr>
            <a:r>
              <a:rPr lang="en-US" sz="1100" b="1" dirty="0">
                <a:solidFill>
                  <a:srgbClr val="4ADE80"/>
                </a:solidFill>
                <a:latin typeface="Arial" pitchFamily="34" charset="0"/>
                <a:ea typeface="Arial" pitchFamily="34" charset="-122"/>
                <a:cs typeface="Arial" pitchFamily="34" charset="-120"/>
              </a:rPr>
              <a:t>−38%</a:t>
            </a:r>
            <a:endParaRPr lang="en-US" sz="1100" dirty="0"/>
          </a:p>
        </p:txBody>
      </p:sp>
      <p:sp>
        <p:nvSpPr>
          <p:cNvPr id="20" name="Shape 18"/>
          <p:cNvSpPr/>
          <p:nvPr/>
        </p:nvSpPr>
        <p:spPr>
          <a:xfrm>
            <a:off x="3364992" y="4846320"/>
            <a:ext cx="2679192" cy="1280160"/>
          </a:xfrm>
          <a:prstGeom prst="roundRect">
            <a:avLst>
              <a:gd name="adj" fmla="val 4286"/>
            </a:avLst>
          </a:prstGeom>
          <a:solidFill>
            <a:srgbClr val="0F172A"/>
          </a:solidFill>
          <a:ln w="12700">
            <a:solidFill>
              <a:srgbClr val="0F172A"/>
            </a:solidFill>
            <a:prstDash val="solid"/>
          </a:ln>
        </p:spPr>
      </p:sp>
      <p:sp>
        <p:nvSpPr>
          <p:cNvPr id="21" name="Text 19"/>
          <p:cNvSpPr/>
          <p:nvPr/>
        </p:nvSpPr>
        <p:spPr>
          <a:xfrm>
            <a:off x="3547872" y="4983480"/>
            <a:ext cx="2331720" cy="411480"/>
          </a:xfrm>
          <a:prstGeom prst="rect">
            <a:avLst/>
          </a:prstGeom>
          <a:noFill/>
          <a:ln/>
        </p:spPr>
        <p:txBody>
          <a:bodyPr wrap="square" lIns="0" tIns="0" rIns="0" bIns="0" rtlCol="0" anchor="ctr"/>
          <a:lstStyle/>
          <a:p>
            <a:pPr indent="0" marL="0">
              <a:buNone/>
            </a:pPr>
            <a:r>
              <a:rPr lang="en-US" sz="2000" b="1" dirty="0">
                <a:solidFill>
                  <a:srgbClr val="F87171"/>
                </a:solidFill>
                <a:latin typeface="Arial" pitchFamily="34" charset="0"/>
                <a:ea typeface="Arial" pitchFamily="34" charset="-122"/>
                <a:cs typeface="Arial" pitchFamily="34" charset="-120"/>
              </a:rPr>
              <a:t>91 → 34 min</a:t>
            </a:r>
            <a:endParaRPr lang="en-US" sz="2000" dirty="0"/>
          </a:p>
        </p:txBody>
      </p:sp>
      <p:sp>
        <p:nvSpPr>
          <p:cNvPr id="22" name="Text 20"/>
          <p:cNvSpPr/>
          <p:nvPr/>
        </p:nvSpPr>
        <p:spPr>
          <a:xfrm>
            <a:off x="3547872" y="5431536"/>
            <a:ext cx="2331720" cy="457200"/>
          </a:xfrm>
          <a:prstGeom prst="rect">
            <a:avLst/>
          </a:prstGeom>
          <a:noFill/>
          <a:ln/>
        </p:spPr>
        <p:txBody>
          <a:bodyPr wrap="square" lIns="0" tIns="0" rIns="0" bIns="0" rtlCol="0" anchor="ctr"/>
          <a:lstStyle/>
          <a:p>
            <a:pPr indent="0" marL="0">
              <a:lnSpc>
                <a:spcPts val="1300"/>
              </a:lnSpc>
              <a:buNone/>
            </a:pPr>
            <a:r>
              <a:rPr lang="en-US" sz="1050" dirty="0">
                <a:solidFill>
                  <a:srgbClr val="94A3B8"/>
                </a:solidFill>
                <a:latin typeface="Calibri" pitchFamily="34" charset="0"/>
                <a:ea typeface="Calibri" pitchFamily="34" charset="-122"/>
                <a:cs typeface="Calibri" pitchFamily="34" charset="-120"/>
              </a:rPr>
              <a:t>worst case response</a:t>
            </a:r>
            <a:endParaRPr lang="en-US" sz="1050" dirty="0"/>
          </a:p>
        </p:txBody>
      </p:sp>
      <p:sp>
        <p:nvSpPr>
          <p:cNvPr id="23" name="Text 21"/>
          <p:cNvSpPr/>
          <p:nvPr/>
        </p:nvSpPr>
        <p:spPr>
          <a:xfrm>
            <a:off x="3547872" y="5852160"/>
            <a:ext cx="2331720" cy="228600"/>
          </a:xfrm>
          <a:prstGeom prst="rect">
            <a:avLst/>
          </a:prstGeom>
          <a:noFill/>
          <a:ln/>
        </p:spPr>
        <p:txBody>
          <a:bodyPr wrap="square" lIns="0" tIns="0" rIns="0" bIns="0" rtlCol="0" anchor="ctr"/>
          <a:lstStyle/>
          <a:p>
            <a:pPr indent="0" marL="0">
              <a:buNone/>
            </a:pPr>
            <a:r>
              <a:rPr lang="en-US" sz="1100" b="1" dirty="0">
                <a:solidFill>
                  <a:srgbClr val="4ADE80"/>
                </a:solidFill>
                <a:latin typeface="Arial" pitchFamily="34" charset="0"/>
                <a:ea typeface="Arial" pitchFamily="34" charset="-122"/>
                <a:cs typeface="Arial" pitchFamily="34" charset="-120"/>
              </a:rPr>
              <a:t>−63%</a:t>
            </a:r>
            <a:endParaRPr lang="en-US" sz="1100" dirty="0"/>
          </a:p>
        </p:txBody>
      </p:sp>
      <p:sp>
        <p:nvSpPr>
          <p:cNvPr id="24" name="Shape 22"/>
          <p:cNvSpPr/>
          <p:nvPr/>
        </p:nvSpPr>
        <p:spPr>
          <a:xfrm>
            <a:off x="6227064" y="4846320"/>
            <a:ext cx="2679192" cy="1280160"/>
          </a:xfrm>
          <a:prstGeom prst="roundRect">
            <a:avLst>
              <a:gd name="adj" fmla="val 4286"/>
            </a:avLst>
          </a:prstGeom>
          <a:solidFill>
            <a:srgbClr val="0F172A"/>
          </a:solidFill>
          <a:ln w="12700">
            <a:solidFill>
              <a:srgbClr val="0F172A"/>
            </a:solidFill>
            <a:prstDash val="solid"/>
          </a:ln>
        </p:spPr>
      </p:sp>
      <p:sp>
        <p:nvSpPr>
          <p:cNvPr id="25" name="Text 23"/>
          <p:cNvSpPr/>
          <p:nvPr/>
        </p:nvSpPr>
        <p:spPr>
          <a:xfrm>
            <a:off x="6409944" y="4983480"/>
            <a:ext cx="2331720" cy="411480"/>
          </a:xfrm>
          <a:prstGeom prst="rect">
            <a:avLst/>
          </a:prstGeom>
          <a:noFill/>
          <a:ln/>
        </p:spPr>
        <p:txBody>
          <a:bodyPr wrap="square" lIns="0" tIns="0" rIns="0" bIns="0" rtlCol="0" anchor="ctr"/>
          <a:lstStyle/>
          <a:p>
            <a:pPr indent="0" marL="0">
              <a:buNone/>
            </a:pPr>
            <a:r>
              <a:rPr lang="en-US" sz="2000" b="1" dirty="0">
                <a:solidFill>
                  <a:srgbClr val="F87171"/>
                </a:solidFill>
                <a:latin typeface="Arial" pitchFamily="34" charset="0"/>
                <a:ea typeface="Arial" pitchFamily="34" charset="-122"/>
                <a:cs typeface="Arial" pitchFamily="34" charset="-120"/>
              </a:rPr>
              <a:t>3 → 0</a:t>
            </a:r>
            <a:endParaRPr lang="en-US" sz="2000" dirty="0"/>
          </a:p>
        </p:txBody>
      </p:sp>
      <p:sp>
        <p:nvSpPr>
          <p:cNvPr id="26" name="Text 24"/>
          <p:cNvSpPr/>
          <p:nvPr/>
        </p:nvSpPr>
        <p:spPr>
          <a:xfrm>
            <a:off x="6409944" y="5431536"/>
            <a:ext cx="2331720" cy="457200"/>
          </a:xfrm>
          <a:prstGeom prst="rect">
            <a:avLst/>
          </a:prstGeom>
          <a:noFill/>
          <a:ln/>
        </p:spPr>
        <p:txBody>
          <a:bodyPr wrap="square" lIns="0" tIns="0" rIns="0" bIns="0" rtlCol="0" anchor="ctr"/>
          <a:lstStyle/>
          <a:p>
            <a:pPr indent="0" marL="0">
              <a:lnSpc>
                <a:spcPts val="1300"/>
              </a:lnSpc>
              <a:buNone/>
            </a:pPr>
            <a:r>
              <a:rPr lang="en-US" sz="1050" dirty="0">
                <a:solidFill>
                  <a:srgbClr val="94A3B8"/>
                </a:solidFill>
                <a:latin typeface="Calibri" pitchFamily="34" charset="0"/>
                <a:ea typeface="Calibri" pitchFamily="34" charset="-122"/>
                <a:cs typeface="Calibri" pitchFamily="34" charset="-120"/>
              </a:rPr>
              <a:t>critical incidents left unassigned</a:t>
            </a:r>
            <a:endParaRPr lang="en-US" sz="1050" dirty="0"/>
          </a:p>
        </p:txBody>
      </p:sp>
      <p:sp>
        <p:nvSpPr>
          <p:cNvPr id="27" name="Shape 25"/>
          <p:cNvSpPr/>
          <p:nvPr/>
        </p:nvSpPr>
        <p:spPr>
          <a:xfrm>
            <a:off x="9089136" y="4846320"/>
            <a:ext cx="2679192" cy="1280160"/>
          </a:xfrm>
          <a:prstGeom prst="roundRect">
            <a:avLst>
              <a:gd name="adj" fmla="val 4286"/>
            </a:avLst>
          </a:prstGeom>
          <a:solidFill>
            <a:srgbClr val="0F172A"/>
          </a:solidFill>
          <a:ln w="12700">
            <a:solidFill>
              <a:srgbClr val="0F172A"/>
            </a:solidFill>
            <a:prstDash val="solid"/>
          </a:ln>
        </p:spPr>
      </p:sp>
      <p:sp>
        <p:nvSpPr>
          <p:cNvPr id="28" name="Text 26"/>
          <p:cNvSpPr/>
          <p:nvPr/>
        </p:nvSpPr>
        <p:spPr>
          <a:xfrm>
            <a:off x="9272016" y="4983480"/>
            <a:ext cx="2331720" cy="411480"/>
          </a:xfrm>
          <a:prstGeom prst="rect">
            <a:avLst/>
          </a:prstGeom>
          <a:noFill/>
          <a:ln/>
        </p:spPr>
        <p:txBody>
          <a:bodyPr wrap="square" lIns="0" tIns="0" rIns="0" bIns="0" rtlCol="0" anchor="ctr"/>
          <a:lstStyle/>
          <a:p>
            <a:pPr indent="0" marL="0">
              <a:buNone/>
            </a:pPr>
            <a:r>
              <a:rPr lang="en-US" sz="2000" b="1" dirty="0">
                <a:solidFill>
                  <a:srgbClr val="F87171"/>
                </a:solidFill>
                <a:latin typeface="Arial" pitchFamily="34" charset="0"/>
                <a:ea typeface="Arial" pitchFamily="34" charset="-122"/>
                <a:cs typeface="Arial" pitchFamily="34" charset="-120"/>
              </a:rPr>
              <a:t>&lt; 1.5 s</a:t>
            </a:r>
            <a:endParaRPr lang="en-US" sz="2000" dirty="0"/>
          </a:p>
        </p:txBody>
      </p:sp>
      <p:sp>
        <p:nvSpPr>
          <p:cNvPr id="29" name="Text 27"/>
          <p:cNvSpPr/>
          <p:nvPr/>
        </p:nvSpPr>
        <p:spPr>
          <a:xfrm>
            <a:off x="9272016" y="5431536"/>
            <a:ext cx="2331720" cy="457200"/>
          </a:xfrm>
          <a:prstGeom prst="rect">
            <a:avLst/>
          </a:prstGeom>
          <a:noFill/>
          <a:ln/>
        </p:spPr>
        <p:txBody>
          <a:bodyPr wrap="square" lIns="0" tIns="0" rIns="0" bIns="0" rtlCol="0" anchor="ctr"/>
          <a:lstStyle/>
          <a:p>
            <a:pPr indent="0" marL="0">
              <a:lnSpc>
                <a:spcPts val="1300"/>
              </a:lnSpc>
              <a:buNone/>
            </a:pPr>
            <a:r>
              <a:rPr lang="en-US" sz="1050" dirty="0">
                <a:solidFill>
                  <a:srgbClr val="94A3B8"/>
                </a:solidFill>
                <a:latin typeface="Calibri" pitchFamily="34" charset="0"/>
                <a:ea typeface="Calibri" pitchFamily="34" charset="-122"/>
                <a:cs typeface="Calibri" pitchFamily="34" charset="-120"/>
              </a:rPr>
              <a:t>full re-optimisation cycle</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02920" y="310896"/>
            <a:ext cx="640080" cy="457200"/>
          </a:xfrm>
          <a:prstGeom prst="rect">
            <a:avLst/>
          </a:prstGeom>
          <a:noFill/>
          <a:ln/>
        </p:spPr>
        <p:txBody>
          <a:bodyPr wrap="square" lIns="0" tIns="0" rIns="0" bIns="0" rtlCol="0" anchor="ctr"/>
          <a:lstStyle/>
          <a:p>
            <a:pPr algn="l" indent="0" marL="0">
              <a:buNone/>
            </a:pPr>
            <a:r>
              <a:rPr lang="en-US" sz="2600" b="1" dirty="0">
                <a:solidFill>
                  <a:srgbClr val="DC2626"/>
                </a:solidFill>
                <a:latin typeface="Arial" pitchFamily="34" charset="0"/>
                <a:ea typeface="Arial" pitchFamily="34" charset="-122"/>
                <a:cs typeface="Arial" pitchFamily="34" charset="-120"/>
              </a:rPr>
              <a:t>07</a:t>
            </a:r>
            <a:endParaRPr lang="en-US" sz="2600" dirty="0"/>
          </a:p>
        </p:txBody>
      </p:sp>
      <p:sp>
        <p:nvSpPr>
          <p:cNvPr id="3" name="Text 1"/>
          <p:cNvSpPr/>
          <p:nvPr/>
        </p:nvSpPr>
        <p:spPr>
          <a:xfrm>
            <a:off x="1143000" y="274320"/>
            <a:ext cx="8778240" cy="530352"/>
          </a:xfrm>
          <a:prstGeom prst="rect">
            <a:avLst/>
          </a:prstGeom>
          <a:noFill/>
          <a:ln/>
        </p:spPr>
        <p:txBody>
          <a:bodyPr wrap="square" lIns="0" tIns="0" rIns="0" bIns="0" rtlCol="0" anchor="ctr"/>
          <a:lstStyle/>
          <a:p>
            <a:pPr indent="0" marL="0">
              <a:buNone/>
            </a:pPr>
            <a:r>
              <a:rPr lang="en-US" sz="2800" b="1" dirty="0">
                <a:solidFill>
                  <a:srgbClr val="0F172A"/>
                </a:solidFill>
                <a:latin typeface="Arial" pitchFamily="34" charset="0"/>
                <a:ea typeface="Arial" pitchFamily="34" charset="-122"/>
                <a:cs typeface="Arial" pitchFamily="34" charset="-120"/>
              </a:rPr>
              <a:t>Novelty: predictive pre-positioning</a:t>
            </a:r>
            <a:endParaRPr lang="en-US" sz="2800" dirty="0"/>
          </a:p>
        </p:txBody>
      </p:sp>
      <p:sp>
        <p:nvSpPr>
          <p:cNvPr id="4" name="Text 2"/>
          <p:cNvSpPr/>
          <p:nvPr/>
        </p:nvSpPr>
        <p:spPr>
          <a:xfrm>
            <a:off x="1161288" y="795528"/>
            <a:ext cx="10424160" cy="310896"/>
          </a:xfrm>
          <a:prstGeom prst="rect">
            <a:avLst/>
          </a:prstGeom>
          <a:noFill/>
          <a:ln/>
        </p:spPr>
        <p:txBody>
          <a:bodyPr wrap="square" lIns="0" tIns="0" rIns="0" bIns="0" rtlCol="0" anchor="t"/>
          <a:lstStyle/>
          <a:p>
            <a:pPr indent="0" marL="0">
              <a:buNone/>
            </a:pPr>
            <a:r>
              <a:rPr lang="en-US" sz="1300" i="1" dirty="0">
                <a:solidFill>
                  <a:srgbClr val="64748B"/>
                </a:solidFill>
                <a:latin typeface="Calibri" pitchFamily="34" charset="0"/>
                <a:ea typeface="Calibri" pitchFamily="34" charset="-122"/>
                <a:cs typeface="Calibri" pitchFamily="34" charset="-120"/>
              </a:rPr>
              <a:t>Everything so far is reactive. This is not.</a:t>
            </a:r>
            <a:endParaRPr lang="en-US" sz="1300" dirty="0"/>
          </a:p>
        </p:txBody>
      </p:sp>
      <p:sp>
        <p:nvSpPr>
          <p:cNvPr id="5" name="Shape 3"/>
          <p:cNvSpPr/>
          <p:nvPr/>
        </p:nvSpPr>
        <p:spPr>
          <a:xfrm>
            <a:off x="502920" y="1371600"/>
            <a:ext cx="6766560" cy="3200400"/>
          </a:xfrm>
          <a:prstGeom prst="roundRect">
            <a:avLst>
              <a:gd name="adj" fmla="val 1714"/>
            </a:avLst>
          </a:prstGeom>
          <a:solidFill>
            <a:srgbClr val="FFFFFF"/>
          </a:solidFill>
          <a:ln w="12700">
            <a:solidFill>
              <a:srgbClr val="CBD5E1"/>
            </a:solidFill>
            <a:prstDash val="solid"/>
          </a:ln>
        </p:spPr>
      </p:sp>
      <p:sp>
        <p:nvSpPr>
          <p:cNvPr id="6" name="Text 4"/>
          <p:cNvSpPr/>
          <p:nvPr/>
        </p:nvSpPr>
        <p:spPr>
          <a:xfrm>
            <a:off x="731520" y="1554480"/>
            <a:ext cx="6309360" cy="274320"/>
          </a:xfrm>
          <a:prstGeom prst="rect">
            <a:avLst/>
          </a:prstGeom>
          <a:noFill/>
          <a:ln/>
        </p:spPr>
        <p:txBody>
          <a:bodyPr wrap="square" lIns="0" tIns="0" rIns="0" bIns="0" rtlCol="0" anchor="ctr"/>
          <a:lstStyle/>
          <a:p>
            <a:pPr indent="0" marL="0">
              <a:buNone/>
            </a:pPr>
            <a:r>
              <a:rPr lang="en-US" sz="1250" b="1" dirty="0">
                <a:solidFill>
                  <a:srgbClr val="0F172A"/>
                </a:solidFill>
                <a:latin typeface="Arial" pitchFamily="34" charset="0"/>
                <a:ea typeface="Arial" pitchFamily="34" charset="-122"/>
                <a:cs typeface="Arial" pitchFamily="34" charset="-120"/>
              </a:rPr>
              <a:t>When a CAP alert polygon lands, before any incident is reported:</a:t>
            </a:r>
            <a:endParaRPr lang="en-US" sz="1250" dirty="0"/>
          </a:p>
        </p:txBody>
      </p:sp>
      <p:sp>
        <p:nvSpPr>
          <p:cNvPr id="7" name="Shape 5"/>
          <p:cNvSpPr/>
          <p:nvPr/>
        </p:nvSpPr>
        <p:spPr>
          <a:xfrm>
            <a:off x="777240" y="2002536"/>
            <a:ext cx="274320" cy="274320"/>
          </a:xfrm>
          <a:prstGeom prst="ellipse">
            <a:avLst/>
          </a:prstGeom>
          <a:solidFill>
            <a:srgbClr val="D97706"/>
          </a:solidFill>
          <a:ln/>
        </p:spPr>
      </p:sp>
      <p:sp>
        <p:nvSpPr>
          <p:cNvPr id="8" name="Text 6"/>
          <p:cNvSpPr/>
          <p:nvPr/>
        </p:nvSpPr>
        <p:spPr>
          <a:xfrm>
            <a:off x="777240" y="2020824"/>
            <a:ext cx="274320"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1</a:t>
            </a:r>
            <a:endParaRPr lang="en-US" sz="1100" dirty="0"/>
          </a:p>
        </p:txBody>
      </p:sp>
      <p:sp>
        <p:nvSpPr>
          <p:cNvPr id="9" name="Text 7"/>
          <p:cNvSpPr/>
          <p:nvPr/>
        </p:nvSpPr>
        <p:spPr>
          <a:xfrm>
            <a:off x="1188720" y="1965960"/>
            <a:ext cx="5852160" cy="457200"/>
          </a:xfrm>
          <a:prstGeom prst="rect">
            <a:avLst/>
          </a:prstGeom>
          <a:noFill/>
          <a:ln/>
        </p:spPr>
        <p:txBody>
          <a:bodyPr wrap="square" lIns="0" tIns="0" rIns="0" bIns="0" rtlCol="0" anchor="ctr"/>
          <a:lstStyle/>
          <a:p>
            <a:pPr indent="0" marL="0">
              <a:lnSpc>
                <a:spcPts val="1400"/>
              </a:lnSpc>
              <a:buNone/>
            </a:pPr>
            <a:r>
              <a:rPr lang="en-US" sz="1150" dirty="0">
                <a:solidFill>
                  <a:srgbClr val="1E293B"/>
                </a:solidFill>
                <a:latin typeface="Calibri" pitchFamily="34" charset="0"/>
                <a:ea typeface="Calibri" pitchFamily="34" charset="-122"/>
                <a:cs typeface="Calibri" pitchFamily="34" charset="-120"/>
              </a:rPr>
              <a:t>Rasterise the alert polygon into a 1 km demand grid</a:t>
            </a:r>
            <a:endParaRPr lang="en-US" sz="1150" dirty="0"/>
          </a:p>
        </p:txBody>
      </p:sp>
      <p:sp>
        <p:nvSpPr>
          <p:cNvPr id="10" name="Shape 8"/>
          <p:cNvSpPr/>
          <p:nvPr/>
        </p:nvSpPr>
        <p:spPr>
          <a:xfrm>
            <a:off x="777240" y="2606040"/>
            <a:ext cx="274320" cy="274320"/>
          </a:xfrm>
          <a:prstGeom prst="ellipse">
            <a:avLst/>
          </a:prstGeom>
          <a:solidFill>
            <a:srgbClr val="D97706"/>
          </a:solidFill>
          <a:ln/>
        </p:spPr>
      </p:sp>
      <p:sp>
        <p:nvSpPr>
          <p:cNvPr id="11" name="Text 9"/>
          <p:cNvSpPr/>
          <p:nvPr/>
        </p:nvSpPr>
        <p:spPr>
          <a:xfrm>
            <a:off x="777240" y="2624328"/>
            <a:ext cx="274320"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2</a:t>
            </a:r>
            <a:endParaRPr lang="en-US" sz="1100" dirty="0"/>
          </a:p>
        </p:txBody>
      </p:sp>
      <p:sp>
        <p:nvSpPr>
          <p:cNvPr id="12" name="Text 10"/>
          <p:cNvSpPr/>
          <p:nvPr/>
        </p:nvSpPr>
        <p:spPr>
          <a:xfrm>
            <a:off x="1188720" y="2569464"/>
            <a:ext cx="5852160" cy="457200"/>
          </a:xfrm>
          <a:prstGeom prst="rect">
            <a:avLst/>
          </a:prstGeom>
          <a:noFill/>
          <a:ln/>
        </p:spPr>
        <p:txBody>
          <a:bodyPr wrap="square" lIns="0" tIns="0" rIns="0" bIns="0" rtlCol="0" anchor="ctr"/>
          <a:lstStyle/>
          <a:p>
            <a:pPr indent="0" marL="0">
              <a:lnSpc>
                <a:spcPts val="1400"/>
              </a:lnSpc>
              <a:buNone/>
            </a:pPr>
            <a:r>
              <a:rPr lang="en-US" sz="1150" dirty="0">
                <a:solidFill>
                  <a:srgbClr val="1E293B"/>
                </a:solidFill>
                <a:latin typeface="Calibri" pitchFamily="34" charset="0"/>
                <a:ea typeface="Calibri" pitchFamily="34" charset="-122"/>
                <a:cs typeface="Calibri" pitchFamily="34" charset="-120"/>
              </a:rPr>
              <a:t>Weight each cell: population, historical incident density, CAP severity, road-access fragility</a:t>
            </a:r>
            <a:endParaRPr lang="en-US" sz="1150" dirty="0"/>
          </a:p>
        </p:txBody>
      </p:sp>
      <p:sp>
        <p:nvSpPr>
          <p:cNvPr id="13" name="Shape 11"/>
          <p:cNvSpPr/>
          <p:nvPr/>
        </p:nvSpPr>
        <p:spPr>
          <a:xfrm>
            <a:off x="777240" y="3209544"/>
            <a:ext cx="274320" cy="274320"/>
          </a:xfrm>
          <a:prstGeom prst="ellipse">
            <a:avLst/>
          </a:prstGeom>
          <a:solidFill>
            <a:srgbClr val="D97706"/>
          </a:solidFill>
          <a:ln/>
        </p:spPr>
      </p:sp>
      <p:sp>
        <p:nvSpPr>
          <p:cNvPr id="14" name="Text 12"/>
          <p:cNvSpPr/>
          <p:nvPr/>
        </p:nvSpPr>
        <p:spPr>
          <a:xfrm>
            <a:off x="777240" y="3227832"/>
            <a:ext cx="274320"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3</a:t>
            </a:r>
            <a:endParaRPr lang="en-US" sz="1100" dirty="0"/>
          </a:p>
        </p:txBody>
      </p:sp>
      <p:sp>
        <p:nvSpPr>
          <p:cNvPr id="15" name="Text 13"/>
          <p:cNvSpPr/>
          <p:nvPr/>
        </p:nvSpPr>
        <p:spPr>
          <a:xfrm>
            <a:off x="1188720" y="3172968"/>
            <a:ext cx="5852160" cy="457200"/>
          </a:xfrm>
          <a:prstGeom prst="rect">
            <a:avLst/>
          </a:prstGeom>
          <a:noFill/>
          <a:ln/>
        </p:spPr>
        <p:txBody>
          <a:bodyPr wrap="square" lIns="0" tIns="0" rIns="0" bIns="0" rtlCol="0" anchor="ctr"/>
          <a:lstStyle/>
          <a:p>
            <a:pPr indent="0" marL="0">
              <a:lnSpc>
                <a:spcPts val="1400"/>
              </a:lnSpc>
              <a:buNone/>
            </a:pPr>
            <a:r>
              <a:rPr lang="en-US" sz="1150" dirty="0">
                <a:solidFill>
                  <a:srgbClr val="1E293B"/>
                </a:solidFill>
                <a:latin typeface="Calibri" pitchFamily="34" charset="0"/>
                <a:ea typeface="Calibri" pitchFamily="34" charset="-122"/>
                <a:cs typeface="Calibri" pitchFamily="34" charset="-120"/>
              </a:rPr>
              <a:t>Solve a weighted p-median over candidate staging points — shelters, police stations, block HQs</a:t>
            </a:r>
            <a:endParaRPr lang="en-US" sz="1150" dirty="0"/>
          </a:p>
        </p:txBody>
      </p:sp>
      <p:sp>
        <p:nvSpPr>
          <p:cNvPr id="16" name="Shape 14"/>
          <p:cNvSpPr/>
          <p:nvPr/>
        </p:nvSpPr>
        <p:spPr>
          <a:xfrm>
            <a:off x="777240" y="3813048"/>
            <a:ext cx="274320" cy="274320"/>
          </a:xfrm>
          <a:prstGeom prst="ellipse">
            <a:avLst/>
          </a:prstGeom>
          <a:solidFill>
            <a:srgbClr val="D97706"/>
          </a:solidFill>
          <a:ln/>
        </p:spPr>
      </p:sp>
      <p:sp>
        <p:nvSpPr>
          <p:cNvPr id="17" name="Text 15"/>
          <p:cNvSpPr/>
          <p:nvPr/>
        </p:nvSpPr>
        <p:spPr>
          <a:xfrm>
            <a:off x="777240" y="3831336"/>
            <a:ext cx="274320"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4</a:t>
            </a:r>
            <a:endParaRPr lang="en-US" sz="1100" dirty="0"/>
          </a:p>
        </p:txBody>
      </p:sp>
      <p:sp>
        <p:nvSpPr>
          <p:cNvPr id="18" name="Text 16"/>
          <p:cNvSpPr/>
          <p:nvPr/>
        </p:nvSpPr>
        <p:spPr>
          <a:xfrm>
            <a:off x="1188720" y="3776472"/>
            <a:ext cx="5852160" cy="457200"/>
          </a:xfrm>
          <a:prstGeom prst="rect">
            <a:avLst/>
          </a:prstGeom>
          <a:noFill/>
          <a:ln/>
        </p:spPr>
        <p:txBody>
          <a:bodyPr wrap="square" lIns="0" tIns="0" rIns="0" bIns="0" rtlCol="0" anchor="ctr"/>
          <a:lstStyle/>
          <a:p>
            <a:pPr indent="0" marL="0">
              <a:lnSpc>
                <a:spcPts val="1400"/>
              </a:lnSpc>
              <a:buNone/>
            </a:pPr>
            <a:r>
              <a:rPr lang="en-US" sz="1150" dirty="0">
                <a:solidFill>
                  <a:srgbClr val="1E293B"/>
                </a:solidFill>
                <a:latin typeface="Calibri" pitchFamily="34" charset="0"/>
                <a:ea typeface="Calibri" pitchFamily="34" charset="-122"/>
                <a:cs typeface="Calibri" pitchFamily="34" charset="-120"/>
              </a:rPr>
              <a:t>Assign idle units to staging points with the same Hungarian solver</a:t>
            </a:r>
            <a:endParaRPr lang="en-US" sz="1150" dirty="0"/>
          </a:p>
        </p:txBody>
      </p:sp>
      <p:sp>
        <p:nvSpPr>
          <p:cNvPr id="19" name="Text 17"/>
          <p:cNvSpPr/>
          <p:nvPr/>
        </p:nvSpPr>
        <p:spPr>
          <a:xfrm>
            <a:off x="731520" y="4224528"/>
            <a:ext cx="6309360" cy="256032"/>
          </a:xfrm>
          <a:prstGeom prst="rect">
            <a:avLst/>
          </a:prstGeom>
          <a:noFill/>
          <a:ln/>
        </p:spPr>
        <p:txBody>
          <a:bodyPr wrap="square" lIns="0" tIns="0" rIns="0" bIns="0" rtlCol="0" anchor="ctr"/>
          <a:lstStyle/>
          <a:p>
            <a:pPr indent="0" marL="0">
              <a:buNone/>
            </a:pPr>
            <a:r>
              <a:rPr lang="en-US" sz="1050" i="1" dirty="0">
                <a:solidFill>
                  <a:srgbClr val="64748B"/>
                </a:solidFill>
                <a:latin typeface="Calibri" pitchFamily="34" charset="0"/>
                <a:ea typeface="Calibri" pitchFamily="34" charset="-122"/>
                <a:cs typeface="Calibri" pitchFamily="34" charset="-120"/>
              </a:rPr>
              <a:t>Reuses the ETA matrix and the solver already built — roughly five hours of additional work.</a:t>
            </a:r>
            <a:endParaRPr lang="en-US" sz="1050" dirty="0"/>
          </a:p>
        </p:txBody>
      </p:sp>
      <p:sp>
        <p:nvSpPr>
          <p:cNvPr id="20" name="Shape 18"/>
          <p:cNvSpPr/>
          <p:nvPr/>
        </p:nvSpPr>
        <p:spPr>
          <a:xfrm>
            <a:off x="7498080" y="1371600"/>
            <a:ext cx="4160520" cy="3200400"/>
          </a:xfrm>
          <a:prstGeom prst="roundRect">
            <a:avLst>
              <a:gd name="adj" fmla="val 1714"/>
            </a:avLst>
          </a:prstGeom>
          <a:solidFill>
            <a:srgbClr val="0F172A"/>
          </a:solidFill>
          <a:ln w="12700">
            <a:solidFill>
              <a:srgbClr val="0F172A"/>
            </a:solidFill>
            <a:prstDash val="solid"/>
          </a:ln>
        </p:spPr>
      </p:sp>
      <p:sp>
        <p:nvSpPr>
          <p:cNvPr id="21" name="Text 19"/>
          <p:cNvSpPr/>
          <p:nvPr/>
        </p:nvSpPr>
        <p:spPr>
          <a:xfrm>
            <a:off x="7772400" y="1691640"/>
            <a:ext cx="3611880" cy="2194560"/>
          </a:xfrm>
          <a:prstGeom prst="rect">
            <a:avLst/>
          </a:prstGeom>
          <a:noFill/>
          <a:ln/>
        </p:spPr>
        <p:txBody>
          <a:bodyPr wrap="square" lIns="0" tIns="0" rIns="0" bIns="0" rtlCol="0" anchor="ctr"/>
          <a:lstStyle/>
          <a:p>
            <a:pPr indent="0" marL="0">
              <a:lnSpc>
                <a:spcPts val="2400"/>
              </a:lnSpc>
              <a:buNone/>
            </a:pPr>
            <a:r>
              <a:rPr lang="en-US" sz="1700" b="1" dirty="0">
                <a:solidFill>
                  <a:srgbClr val="FFFFFF"/>
                </a:solidFill>
                <a:latin typeface="Calibri" pitchFamily="34" charset="0"/>
                <a:ea typeface="Calibri" pitchFamily="34" charset="-122"/>
                <a:cs typeface="Calibri" pitchFamily="34" charset="-120"/>
              </a:rPr>
              <a:t>“Every other system reacts to the first call.</a:t>
            </a:r>
            <a:endParaRPr lang="en-US" sz="1700" dirty="0"/>
          </a:p>
          <a:p>
            <a:pPr indent="0" marL="0">
              <a:lnSpc>
                <a:spcPts val="2400"/>
              </a:lnSpc>
              <a:buNone/>
            </a:pPr>
            <a:endParaRPr lang="en-US" sz="1700" dirty="0"/>
          </a:p>
          <a:p>
            <a:pPr indent="0" marL="0">
              <a:lnSpc>
                <a:spcPts val="2400"/>
              </a:lnSpc>
              <a:buNone/>
            </a:pPr>
            <a:r>
              <a:rPr lang="en-US" sz="1700" b="1" dirty="0">
                <a:solidFill>
                  <a:srgbClr val="FFFFFF"/>
                </a:solidFill>
                <a:latin typeface="Calibri" pitchFamily="34" charset="0"/>
                <a:ea typeface="Calibri" pitchFamily="34" charset="-122"/>
                <a:cs typeface="Calibri" pitchFamily="34" charset="-120"/>
              </a:rPr>
              <a:t>Ours has already moved the boats — forty minutes before the first call comes in.”</a:t>
            </a:r>
            <a:endParaRPr lang="en-US" sz="1700" dirty="0"/>
          </a:p>
        </p:txBody>
      </p:sp>
      <p:sp>
        <p:nvSpPr>
          <p:cNvPr id="22" name="Text 20"/>
          <p:cNvSpPr/>
          <p:nvPr/>
        </p:nvSpPr>
        <p:spPr>
          <a:xfrm>
            <a:off x="7772400" y="4114800"/>
            <a:ext cx="3611880" cy="274320"/>
          </a:xfrm>
          <a:prstGeom prst="rect">
            <a:avLst/>
          </a:prstGeom>
          <a:noFill/>
          <a:ln/>
        </p:spPr>
        <p:txBody>
          <a:bodyPr wrap="square" lIns="0" tIns="0" rIns="0" bIns="0" rtlCol="0" anchor="ctr"/>
          <a:lstStyle/>
          <a:p>
            <a:pPr indent="0" marL="0">
              <a:buNone/>
            </a:pPr>
            <a:r>
              <a:rPr lang="en-US" sz="1050" i="1" dirty="0">
                <a:solidFill>
                  <a:srgbClr val="F87171"/>
                </a:solidFill>
                <a:latin typeface="Calibri" pitchFamily="34" charset="0"/>
                <a:ea typeface="Calibri" pitchFamily="34" charset="-122"/>
                <a:cs typeface="Calibri" pitchFamily="34" charset="-120"/>
              </a:rPr>
              <a:t>The line to repeat in the demo</a:t>
            </a:r>
            <a:endParaRPr lang="en-US" sz="1050" dirty="0"/>
          </a:p>
        </p:txBody>
      </p:sp>
      <p:sp>
        <p:nvSpPr>
          <p:cNvPr id="23" name="Text 21"/>
          <p:cNvSpPr/>
          <p:nvPr/>
        </p:nvSpPr>
        <p:spPr>
          <a:xfrm>
            <a:off x="502920" y="4800600"/>
            <a:ext cx="11155680" cy="274320"/>
          </a:xfrm>
          <a:prstGeom prst="rect">
            <a:avLst/>
          </a:prstGeom>
          <a:noFill/>
          <a:ln/>
        </p:spPr>
        <p:txBody>
          <a:bodyPr wrap="square" lIns="0" tIns="0" rIns="0" bIns="0" rtlCol="0" anchor="ctr"/>
          <a:lstStyle/>
          <a:p>
            <a:pPr indent="0" marL="0">
              <a:buNone/>
            </a:pPr>
            <a:r>
              <a:rPr lang="en-US" sz="1400" b="1" dirty="0">
                <a:solidFill>
                  <a:srgbClr val="0F172A"/>
                </a:solidFill>
                <a:latin typeface="Arial" pitchFamily="34" charset="0"/>
                <a:ea typeface="Arial" pitchFamily="34" charset="-122"/>
                <a:cs typeface="Arial" pitchFamily="34" charset="-120"/>
              </a:rPr>
              <a:t>Three more things nobody else is doing</a:t>
            </a:r>
            <a:endParaRPr lang="en-US" sz="1400" dirty="0"/>
          </a:p>
        </p:txBody>
      </p:sp>
      <p:sp>
        <p:nvSpPr>
          <p:cNvPr id="24" name="Shape 22"/>
          <p:cNvSpPr/>
          <p:nvPr/>
        </p:nvSpPr>
        <p:spPr>
          <a:xfrm>
            <a:off x="502920" y="5120640"/>
            <a:ext cx="3566160" cy="1051560"/>
          </a:xfrm>
          <a:prstGeom prst="roundRect">
            <a:avLst>
              <a:gd name="adj" fmla="val 5217"/>
            </a:avLst>
          </a:prstGeom>
          <a:solidFill>
            <a:srgbClr val="FFFFFF"/>
          </a:solidFill>
          <a:ln w="12700">
            <a:solidFill>
              <a:srgbClr val="CBD5E1"/>
            </a:solidFill>
            <a:prstDash val="solid"/>
          </a:ln>
        </p:spPr>
      </p:sp>
      <p:sp>
        <p:nvSpPr>
          <p:cNvPr id="25" name="Text 23"/>
          <p:cNvSpPr/>
          <p:nvPr/>
        </p:nvSpPr>
        <p:spPr>
          <a:xfrm>
            <a:off x="685800" y="5230368"/>
            <a:ext cx="3200400" cy="256032"/>
          </a:xfrm>
          <a:prstGeom prst="rect">
            <a:avLst/>
          </a:prstGeom>
          <a:noFill/>
          <a:ln/>
        </p:spPr>
        <p:txBody>
          <a:bodyPr wrap="square" lIns="0" tIns="0" rIns="0" bIns="0" rtlCol="0" anchor="ctr"/>
          <a:lstStyle/>
          <a:p>
            <a:pPr indent="0" marL="0">
              <a:buNone/>
            </a:pPr>
            <a:r>
              <a:rPr lang="en-US" sz="1200" b="1" dirty="0">
                <a:solidFill>
                  <a:srgbClr val="DC2626"/>
                </a:solidFill>
                <a:latin typeface="Arial" pitchFamily="34" charset="0"/>
                <a:ea typeface="Arial" pitchFamily="34" charset="-122"/>
                <a:cs typeface="Arial" pitchFamily="34" charset="-120"/>
              </a:rPr>
              <a:t>A return channel</a:t>
            </a:r>
            <a:endParaRPr lang="en-US" sz="1200" dirty="0"/>
          </a:p>
        </p:txBody>
      </p:sp>
      <p:sp>
        <p:nvSpPr>
          <p:cNvPr id="26" name="Text 24"/>
          <p:cNvSpPr/>
          <p:nvPr/>
        </p:nvSpPr>
        <p:spPr>
          <a:xfrm>
            <a:off x="685800" y="5504688"/>
            <a:ext cx="3200400" cy="621792"/>
          </a:xfrm>
          <a:prstGeom prst="rect">
            <a:avLst/>
          </a:prstGeom>
          <a:noFill/>
          <a:ln/>
        </p:spPr>
        <p:txBody>
          <a:bodyPr wrap="square" lIns="0" tIns="0" rIns="0" bIns="0" rtlCol="0" anchor="ctr"/>
          <a:lstStyle/>
          <a:p>
            <a:pPr indent="0" marL="0">
              <a:lnSpc>
                <a:spcPts val="1200"/>
              </a:lnSpc>
              <a:buNone/>
            </a:pPr>
            <a:r>
              <a:rPr lang="en-US" sz="980" dirty="0">
                <a:solidFill>
                  <a:srgbClr val="1E293B"/>
                </a:solidFill>
                <a:latin typeface="Calibri" pitchFamily="34" charset="0"/>
                <a:ea typeface="Calibri" pitchFamily="34" charset="-122"/>
                <a:cs typeface="Calibri" pitchFamily="34" charset="-120"/>
              </a:rPr>
              <a:t>SACHET is broadcast-only — top-down, one-way. There is no path from a citizen back to the DEOC. We add it, and can emit CAP back.</a:t>
            </a:r>
            <a:endParaRPr lang="en-US" sz="980" dirty="0"/>
          </a:p>
        </p:txBody>
      </p:sp>
      <p:sp>
        <p:nvSpPr>
          <p:cNvPr id="27" name="Shape 25"/>
          <p:cNvSpPr/>
          <p:nvPr/>
        </p:nvSpPr>
        <p:spPr>
          <a:xfrm>
            <a:off x="4315968" y="5120640"/>
            <a:ext cx="3566160" cy="1051560"/>
          </a:xfrm>
          <a:prstGeom prst="roundRect">
            <a:avLst>
              <a:gd name="adj" fmla="val 5217"/>
            </a:avLst>
          </a:prstGeom>
          <a:solidFill>
            <a:srgbClr val="FFFFFF"/>
          </a:solidFill>
          <a:ln w="12700">
            <a:solidFill>
              <a:srgbClr val="CBD5E1"/>
            </a:solidFill>
            <a:prstDash val="solid"/>
          </a:ln>
        </p:spPr>
      </p:sp>
      <p:sp>
        <p:nvSpPr>
          <p:cNvPr id="28" name="Text 26"/>
          <p:cNvSpPr/>
          <p:nvPr/>
        </p:nvSpPr>
        <p:spPr>
          <a:xfrm>
            <a:off x="4498848" y="5230368"/>
            <a:ext cx="3200400" cy="256032"/>
          </a:xfrm>
          <a:prstGeom prst="rect">
            <a:avLst/>
          </a:prstGeom>
          <a:noFill/>
          <a:ln/>
        </p:spPr>
        <p:txBody>
          <a:bodyPr wrap="square" lIns="0" tIns="0" rIns="0" bIns="0" rtlCol="0" anchor="ctr"/>
          <a:lstStyle/>
          <a:p>
            <a:pPr indent="0" marL="0">
              <a:buNone/>
            </a:pPr>
            <a:r>
              <a:rPr lang="en-US" sz="1200" b="1" dirty="0">
                <a:solidFill>
                  <a:srgbClr val="DC2626"/>
                </a:solidFill>
                <a:latin typeface="Arial" pitchFamily="34" charset="0"/>
                <a:ea typeface="Arial" pitchFamily="34" charset="-122"/>
                <a:cs typeface="Arial" pitchFamily="34" charset="-120"/>
              </a:rPr>
              <a:t>Trust-scored crowdsourcing</a:t>
            </a:r>
            <a:endParaRPr lang="en-US" sz="1200" dirty="0"/>
          </a:p>
        </p:txBody>
      </p:sp>
      <p:sp>
        <p:nvSpPr>
          <p:cNvPr id="29" name="Text 27"/>
          <p:cNvSpPr/>
          <p:nvPr/>
        </p:nvSpPr>
        <p:spPr>
          <a:xfrm>
            <a:off x="4498848" y="5504688"/>
            <a:ext cx="3200400" cy="621792"/>
          </a:xfrm>
          <a:prstGeom prst="rect">
            <a:avLst/>
          </a:prstGeom>
          <a:noFill/>
          <a:ln/>
        </p:spPr>
        <p:txBody>
          <a:bodyPr wrap="square" lIns="0" tIns="0" rIns="0" bIns="0" rtlCol="0" anchor="ctr"/>
          <a:lstStyle/>
          <a:p>
            <a:pPr indent="0" marL="0">
              <a:lnSpc>
                <a:spcPts val="1200"/>
              </a:lnSpc>
              <a:buNone/>
            </a:pPr>
            <a:r>
              <a:rPr lang="en-US" sz="980" dirty="0">
                <a:solidFill>
                  <a:srgbClr val="1E293B"/>
                </a:solidFill>
                <a:latin typeface="Calibri" pitchFamily="34" charset="0"/>
                <a:ea typeface="Calibri" pitchFamily="34" charset="-122"/>
                <a:cs typeface="Calibri" pitchFamily="34" charset="-120"/>
              </a:rPr>
              <a:t>Corroboration, EXIF and reporter history quarantine rumour and panic-forwarding without ever silently dropping a report.</a:t>
            </a:r>
            <a:endParaRPr lang="en-US" sz="980" dirty="0"/>
          </a:p>
        </p:txBody>
      </p:sp>
      <p:sp>
        <p:nvSpPr>
          <p:cNvPr id="30" name="Shape 28"/>
          <p:cNvSpPr/>
          <p:nvPr/>
        </p:nvSpPr>
        <p:spPr>
          <a:xfrm>
            <a:off x="8129016" y="5120640"/>
            <a:ext cx="3566160" cy="1051560"/>
          </a:xfrm>
          <a:prstGeom prst="roundRect">
            <a:avLst>
              <a:gd name="adj" fmla="val 5217"/>
            </a:avLst>
          </a:prstGeom>
          <a:solidFill>
            <a:srgbClr val="FFFFFF"/>
          </a:solidFill>
          <a:ln w="12700">
            <a:solidFill>
              <a:srgbClr val="CBD5E1"/>
            </a:solidFill>
            <a:prstDash val="solid"/>
          </a:ln>
        </p:spPr>
      </p:sp>
      <p:sp>
        <p:nvSpPr>
          <p:cNvPr id="31" name="Text 29"/>
          <p:cNvSpPr/>
          <p:nvPr/>
        </p:nvSpPr>
        <p:spPr>
          <a:xfrm>
            <a:off x="8311896" y="5230368"/>
            <a:ext cx="3200400" cy="256032"/>
          </a:xfrm>
          <a:prstGeom prst="rect">
            <a:avLst/>
          </a:prstGeom>
          <a:noFill/>
          <a:ln/>
        </p:spPr>
        <p:txBody>
          <a:bodyPr wrap="square" lIns="0" tIns="0" rIns="0" bIns="0" rtlCol="0" anchor="ctr"/>
          <a:lstStyle/>
          <a:p>
            <a:pPr indent="0" marL="0">
              <a:buNone/>
            </a:pPr>
            <a:r>
              <a:rPr lang="en-US" sz="1200" b="1" dirty="0">
                <a:solidFill>
                  <a:srgbClr val="DC2626"/>
                </a:solidFill>
                <a:latin typeface="Arial" pitchFamily="34" charset="0"/>
                <a:ea typeface="Arial" pitchFamily="34" charset="-122"/>
                <a:cs typeface="Arial" pitchFamily="34" charset="-120"/>
              </a:rPr>
              <a:t>Digital-twin replay</a:t>
            </a:r>
            <a:endParaRPr lang="en-US" sz="1200" dirty="0"/>
          </a:p>
        </p:txBody>
      </p:sp>
      <p:sp>
        <p:nvSpPr>
          <p:cNvPr id="32" name="Text 30"/>
          <p:cNvSpPr/>
          <p:nvPr/>
        </p:nvSpPr>
        <p:spPr>
          <a:xfrm>
            <a:off x="8311896" y="5504688"/>
            <a:ext cx="3200400" cy="621792"/>
          </a:xfrm>
          <a:prstGeom prst="rect">
            <a:avLst/>
          </a:prstGeom>
          <a:noFill/>
          <a:ln/>
        </p:spPr>
        <p:txBody>
          <a:bodyPr wrap="square" lIns="0" tIns="0" rIns="0" bIns="0" rtlCol="0" anchor="ctr"/>
          <a:lstStyle/>
          <a:p>
            <a:pPr indent="0" marL="0">
              <a:lnSpc>
                <a:spcPts val="1200"/>
              </a:lnSpc>
              <a:buNone/>
            </a:pPr>
            <a:r>
              <a:rPr lang="en-US" sz="980" dirty="0">
                <a:solidFill>
                  <a:srgbClr val="1E293B"/>
                </a:solidFill>
                <a:latin typeface="Calibri" pitchFamily="34" charset="0"/>
                <a:ea typeface="Calibri" pitchFamily="34" charset="-122"/>
                <a:cs typeface="Calibri" pitchFamily="34" charset="-120"/>
              </a:rPr>
              <a:t>Any past event replays minute by minute for audit and for training new DEOC staff — institutional memory that currently walks out the door.</a:t>
            </a:r>
            <a:endParaRPr lang="en-US" sz="98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02920" y="310896"/>
            <a:ext cx="640080" cy="457200"/>
          </a:xfrm>
          <a:prstGeom prst="rect">
            <a:avLst/>
          </a:prstGeom>
          <a:noFill/>
          <a:ln/>
        </p:spPr>
        <p:txBody>
          <a:bodyPr wrap="square" lIns="0" tIns="0" rIns="0" bIns="0" rtlCol="0" anchor="ctr"/>
          <a:lstStyle/>
          <a:p>
            <a:pPr algn="l" indent="0" marL="0">
              <a:buNone/>
            </a:pPr>
            <a:r>
              <a:rPr lang="en-US" sz="2600" b="1" dirty="0">
                <a:solidFill>
                  <a:srgbClr val="DC2626"/>
                </a:solidFill>
                <a:latin typeface="Arial" pitchFamily="34" charset="0"/>
                <a:ea typeface="Arial" pitchFamily="34" charset="-122"/>
                <a:cs typeface="Arial" pitchFamily="34" charset="-120"/>
              </a:rPr>
              <a:t>08</a:t>
            </a:r>
            <a:endParaRPr lang="en-US" sz="2600" dirty="0"/>
          </a:p>
        </p:txBody>
      </p:sp>
      <p:sp>
        <p:nvSpPr>
          <p:cNvPr id="3" name="Text 1"/>
          <p:cNvSpPr/>
          <p:nvPr/>
        </p:nvSpPr>
        <p:spPr>
          <a:xfrm>
            <a:off x="1143000" y="274320"/>
            <a:ext cx="8778240" cy="530352"/>
          </a:xfrm>
          <a:prstGeom prst="rect">
            <a:avLst/>
          </a:prstGeom>
          <a:noFill/>
          <a:ln/>
        </p:spPr>
        <p:txBody>
          <a:bodyPr wrap="square" lIns="0" tIns="0" rIns="0" bIns="0" rtlCol="0" anchor="ctr"/>
          <a:lstStyle/>
          <a:p>
            <a:pPr indent="0" marL="0">
              <a:buNone/>
            </a:pPr>
            <a:r>
              <a:rPr lang="en-US" sz="2800" b="1" dirty="0">
                <a:solidFill>
                  <a:srgbClr val="0F172A"/>
                </a:solidFill>
                <a:latin typeface="Arial" pitchFamily="34" charset="0"/>
                <a:ea typeface="Arial" pitchFamily="34" charset="-122"/>
                <a:cs typeface="Arial" pitchFamily="34" charset="-120"/>
              </a:rPr>
              <a:t>Technical feasibility</a:t>
            </a:r>
            <a:endParaRPr lang="en-US" sz="2800" dirty="0"/>
          </a:p>
        </p:txBody>
      </p:sp>
      <p:sp>
        <p:nvSpPr>
          <p:cNvPr id="4" name="Text 2"/>
          <p:cNvSpPr/>
          <p:nvPr/>
        </p:nvSpPr>
        <p:spPr>
          <a:xfrm>
            <a:off x="1161288" y="795528"/>
            <a:ext cx="10424160" cy="310896"/>
          </a:xfrm>
          <a:prstGeom prst="rect">
            <a:avLst/>
          </a:prstGeom>
          <a:noFill/>
          <a:ln/>
        </p:spPr>
        <p:txBody>
          <a:bodyPr wrap="square" lIns="0" tIns="0" rIns="0" bIns="0" rtlCol="0" anchor="t"/>
          <a:lstStyle/>
          <a:p>
            <a:pPr indent="0" marL="0">
              <a:buNone/>
            </a:pPr>
            <a:r>
              <a:rPr lang="en-US" sz="1300" i="1" dirty="0">
                <a:solidFill>
                  <a:srgbClr val="64748B"/>
                </a:solidFill>
                <a:latin typeface="Calibri" pitchFamily="34" charset="0"/>
                <a:ea typeface="Calibri" pitchFamily="34" charset="-122"/>
                <a:cs typeface="Calibri" pitchFamily="34" charset="-120"/>
              </a:rPr>
              <a:t>Every choice made against a rejected alternative, with measured numbers behind it.</a:t>
            </a:r>
            <a:endParaRPr lang="en-US" sz="1300" dirty="0"/>
          </a:p>
        </p:txBody>
      </p:sp>
      <p:sp>
        <p:nvSpPr>
          <p:cNvPr id="5" name="Text 3"/>
          <p:cNvSpPr/>
          <p:nvPr/>
        </p:nvSpPr>
        <p:spPr>
          <a:xfrm>
            <a:off x="502920" y="1280160"/>
            <a:ext cx="6858000" cy="274320"/>
          </a:xfrm>
          <a:prstGeom prst="rect">
            <a:avLst/>
          </a:prstGeom>
          <a:noFill/>
          <a:ln/>
        </p:spPr>
        <p:txBody>
          <a:bodyPr wrap="square" lIns="0" tIns="0" rIns="0" bIns="0" rtlCol="0" anchor="ctr"/>
          <a:lstStyle/>
          <a:p>
            <a:pPr indent="0" marL="0">
              <a:buNone/>
            </a:pPr>
            <a:r>
              <a:rPr lang="en-US" sz="1400" b="1" dirty="0">
                <a:solidFill>
                  <a:srgbClr val="0F172A"/>
                </a:solidFill>
                <a:latin typeface="Arial" pitchFamily="34" charset="0"/>
                <a:ea typeface="Arial" pitchFamily="34" charset="-122"/>
                <a:cs typeface="Arial" pitchFamily="34" charset="-120"/>
              </a:rPr>
              <a:t>Decisions, and what we rejected</a:t>
            </a:r>
            <a:endParaRPr lang="en-US" sz="1400" dirty="0"/>
          </a:p>
        </p:txBody>
      </p:sp>
      <p:sp>
        <p:nvSpPr>
          <p:cNvPr id="6" name="Shape 4"/>
          <p:cNvSpPr/>
          <p:nvPr/>
        </p:nvSpPr>
        <p:spPr>
          <a:xfrm>
            <a:off x="502920" y="1600200"/>
            <a:ext cx="6858000" cy="676656"/>
          </a:xfrm>
          <a:prstGeom prst="roundRect">
            <a:avLst>
              <a:gd name="adj" fmla="val 8108"/>
            </a:avLst>
          </a:prstGeom>
          <a:solidFill>
            <a:srgbClr val="FFFFFF"/>
          </a:solidFill>
          <a:ln w="12700">
            <a:solidFill>
              <a:srgbClr val="CBD5E1"/>
            </a:solidFill>
            <a:prstDash val="solid"/>
          </a:ln>
        </p:spPr>
      </p:sp>
      <p:sp>
        <p:nvSpPr>
          <p:cNvPr id="7" name="Text 5"/>
          <p:cNvSpPr/>
          <p:nvPr/>
        </p:nvSpPr>
        <p:spPr>
          <a:xfrm>
            <a:off x="685800" y="1682496"/>
            <a:ext cx="1920240" cy="256032"/>
          </a:xfrm>
          <a:prstGeom prst="rect">
            <a:avLst/>
          </a:prstGeom>
          <a:noFill/>
          <a:ln/>
        </p:spPr>
        <p:txBody>
          <a:bodyPr wrap="square" lIns="0" tIns="0" rIns="0" bIns="0" rtlCol="0" anchor="ctr"/>
          <a:lstStyle/>
          <a:p>
            <a:pPr indent="0" marL="0">
              <a:buNone/>
            </a:pPr>
            <a:r>
              <a:rPr lang="en-US" sz="1200" b="1" dirty="0">
                <a:solidFill>
                  <a:srgbClr val="0F172A"/>
                </a:solidFill>
                <a:latin typeface="Arial" pitchFamily="34" charset="0"/>
                <a:ea typeface="Arial" pitchFamily="34" charset="-122"/>
                <a:cs typeface="Arial" pitchFamily="34" charset="-120"/>
              </a:rPr>
              <a:t>PostGIS</a:t>
            </a:r>
            <a:endParaRPr lang="en-US" sz="1200" dirty="0"/>
          </a:p>
        </p:txBody>
      </p:sp>
      <p:sp>
        <p:nvSpPr>
          <p:cNvPr id="8" name="Text 6"/>
          <p:cNvSpPr/>
          <p:nvPr/>
        </p:nvSpPr>
        <p:spPr>
          <a:xfrm>
            <a:off x="685800" y="1947672"/>
            <a:ext cx="3291840" cy="256032"/>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clustering and radius search run in SQL</a:t>
            </a:r>
            <a:endParaRPr lang="en-US" sz="1000" dirty="0"/>
          </a:p>
        </p:txBody>
      </p:sp>
      <p:sp>
        <p:nvSpPr>
          <p:cNvPr id="9" name="Text 7"/>
          <p:cNvSpPr/>
          <p:nvPr/>
        </p:nvSpPr>
        <p:spPr>
          <a:xfrm>
            <a:off x="4114800" y="1682496"/>
            <a:ext cx="3063240" cy="256032"/>
          </a:xfrm>
          <a:prstGeom prst="rect">
            <a:avLst/>
          </a:prstGeom>
          <a:noFill/>
          <a:ln/>
        </p:spPr>
        <p:txBody>
          <a:bodyPr wrap="square" lIns="0" tIns="0" rIns="0" bIns="0" rtlCol="0" anchor="ctr"/>
          <a:lstStyle/>
          <a:p>
            <a:pPr indent="0" marL="0">
              <a:buNone/>
            </a:pPr>
            <a:r>
              <a:rPr lang="en-US" sz="1000" b="1" dirty="0">
                <a:solidFill>
                  <a:srgbClr val="DC2626"/>
                </a:solidFill>
                <a:latin typeface="Calibri" pitchFamily="34" charset="0"/>
                <a:ea typeface="Calibri" pitchFamily="34" charset="-122"/>
                <a:cs typeface="Calibri" pitchFamily="34" charset="-120"/>
              </a:rPr>
              <a:t>rejected: MongoDB geo</a:t>
            </a:r>
            <a:endParaRPr lang="en-US" sz="1000" dirty="0"/>
          </a:p>
        </p:txBody>
      </p:sp>
      <p:sp>
        <p:nvSpPr>
          <p:cNvPr id="10" name="Text 8"/>
          <p:cNvSpPr/>
          <p:nvPr/>
        </p:nvSpPr>
        <p:spPr>
          <a:xfrm>
            <a:off x="4114800" y="1947672"/>
            <a:ext cx="3063240" cy="256032"/>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no ST_ClusterDBSCAN</a:t>
            </a:r>
            <a:endParaRPr lang="en-US" sz="1000" dirty="0"/>
          </a:p>
        </p:txBody>
      </p:sp>
      <p:sp>
        <p:nvSpPr>
          <p:cNvPr id="11" name="Shape 9"/>
          <p:cNvSpPr/>
          <p:nvPr/>
        </p:nvSpPr>
        <p:spPr>
          <a:xfrm>
            <a:off x="502920" y="2377440"/>
            <a:ext cx="6858000" cy="676656"/>
          </a:xfrm>
          <a:prstGeom prst="roundRect">
            <a:avLst>
              <a:gd name="adj" fmla="val 8108"/>
            </a:avLst>
          </a:prstGeom>
          <a:solidFill>
            <a:srgbClr val="FFFFFF"/>
          </a:solidFill>
          <a:ln w="12700">
            <a:solidFill>
              <a:srgbClr val="CBD5E1"/>
            </a:solidFill>
            <a:prstDash val="solid"/>
          </a:ln>
        </p:spPr>
      </p:sp>
      <p:sp>
        <p:nvSpPr>
          <p:cNvPr id="12" name="Text 10"/>
          <p:cNvSpPr/>
          <p:nvPr/>
        </p:nvSpPr>
        <p:spPr>
          <a:xfrm>
            <a:off x="685800" y="2459736"/>
            <a:ext cx="1920240" cy="256032"/>
          </a:xfrm>
          <a:prstGeom prst="rect">
            <a:avLst/>
          </a:prstGeom>
          <a:noFill/>
          <a:ln/>
        </p:spPr>
        <p:txBody>
          <a:bodyPr wrap="square" lIns="0" tIns="0" rIns="0" bIns="0" rtlCol="0" anchor="ctr"/>
          <a:lstStyle/>
          <a:p>
            <a:pPr indent="0" marL="0">
              <a:buNone/>
            </a:pPr>
            <a:r>
              <a:rPr lang="en-US" sz="1200" b="1" dirty="0">
                <a:solidFill>
                  <a:srgbClr val="0F172A"/>
                </a:solidFill>
                <a:latin typeface="Arial" pitchFamily="34" charset="0"/>
                <a:ea typeface="Arial" pitchFamily="34" charset="-122"/>
                <a:cs typeface="Arial" pitchFamily="34" charset="-120"/>
              </a:rPr>
              <a:t>MapLibre GL</a:t>
            </a:r>
            <a:endParaRPr lang="en-US" sz="1200" dirty="0"/>
          </a:p>
        </p:txBody>
      </p:sp>
      <p:sp>
        <p:nvSpPr>
          <p:cNvPr id="13" name="Text 11"/>
          <p:cNvSpPr/>
          <p:nvPr/>
        </p:nvSpPr>
        <p:spPr>
          <a:xfrm>
            <a:off x="685800" y="2724912"/>
            <a:ext cx="3291840" cy="256032"/>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open, no API token, native heatmap</a:t>
            </a:r>
            <a:endParaRPr lang="en-US" sz="1000" dirty="0"/>
          </a:p>
        </p:txBody>
      </p:sp>
      <p:sp>
        <p:nvSpPr>
          <p:cNvPr id="14" name="Text 12"/>
          <p:cNvSpPr/>
          <p:nvPr/>
        </p:nvSpPr>
        <p:spPr>
          <a:xfrm>
            <a:off x="4114800" y="2459736"/>
            <a:ext cx="3063240" cy="256032"/>
          </a:xfrm>
          <a:prstGeom prst="rect">
            <a:avLst/>
          </a:prstGeom>
          <a:noFill/>
          <a:ln/>
        </p:spPr>
        <p:txBody>
          <a:bodyPr wrap="square" lIns="0" tIns="0" rIns="0" bIns="0" rtlCol="0" anchor="ctr"/>
          <a:lstStyle/>
          <a:p>
            <a:pPr indent="0" marL="0">
              <a:buNone/>
            </a:pPr>
            <a:r>
              <a:rPr lang="en-US" sz="1000" b="1" dirty="0">
                <a:solidFill>
                  <a:srgbClr val="DC2626"/>
                </a:solidFill>
                <a:latin typeface="Calibri" pitchFamily="34" charset="0"/>
                <a:ea typeface="Calibri" pitchFamily="34" charset="-122"/>
                <a:cs typeface="Calibri" pitchFamily="34" charset="-120"/>
              </a:rPr>
              <a:t>rejected: Mapbox / Google</a:t>
            </a:r>
            <a:endParaRPr lang="en-US" sz="1000" dirty="0"/>
          </a:p>
        </p:txBody>
      </p:sp>
      <p:sp>
        <p:nvSpPr>
          <p:cNvPr id="15" name="Text 13"/>
          <p:cNvSpPr/>
          <p:nvPr/>
        </p:nvSpPr>
        <p:spPr>
          <a:xfrm>
            <a:off x="4114800" y="2724912"/>
            <a:ext cx="3063240" cy="256032"/>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a key is a single point of demo failure</a:t>
            </a:r>
            <a:endParaRPr lang="en-US" sz="1000" dirty="0"/>
          </a:p>
        </p:txBody>
      </p:sp>
      <p:sp>
        <p:nvSpPr>
          <p:cNvPr id="16" name="Shape 14"/>
          <p:cNvSpPr/>
          <p:nvPr/>
        </p:nvSpPr>
        <p:spPr>
          <a:xfrm>
            <a:off x="502920" y="3154680"/>
            <a:ext cx="6858000" cy="676656"/>
          </a:xfrm>
          <a:prstGeom prst="roundRect">
            <a:avLst>
              <a:gd name="adj" fmla="val 8108"/>
            </a:avLst>
          </a:prstGeom>
          <a:solidFill>
            <a:srgbClr val="FFFFFF"/>
          </a:solidFill>
          <a:ln w="12700">
            <a:solidFill>
              <a:srgbClr val="CBD5E1"/>
            </a:solidFill>
            <a:prstDash val="solid"/>
          </a:ln>
        </p:spPr>
      </p:sp>
      <p:sp>
        <p:nvSpPr>
          <p:cNvPr id="17" name="Text 15"/>
          <p:cNvSpPr/>
          <p:nvPr/>
        </p:nvSpPr>
        <p:spPr>
          <a:xfrm>
            <a:off x="685800" y="3236976"/>
            <a:ext cx="1920240" cy="256032"/>
          </a:xfrm>
          <a:prstGeom prst="rect">
            <a:avLst/>
          </a:prstGeom>
          <a:noFill/>
          <a:ln/>
        </p:spPr>
        <p:txBody>
          <a:bodyPr wrap="square" lIns="0" tIns="0" rIns="0" bIns="0" rtlCol="0" anchor="ctr"/>
          <a:lstStyle/>
          <a:p>
            <a:pPr indent="0" marL="0">
              <a:buNone/>
            </a:pPr>
            <a:r>
              <a:rPr lang="en-US" sz="1200" b="1" dirty="0">
                <a:solidFill>
                  <a:srgbClr val="0F172A"/>
                </a:solidFill>
                <a:latin typeface="Arial" pitchFamily="34" charset="0"/>
                <a:ea typeface="Arial" pitchFamily="34" charset="-122"/>
                <a:cs typeface="Arial" pitchFamily="34" charset="-120"/>
              </a:rPr>
              <a:t>Self-hosted OSRM</a:t>
            </a:r>
            <a:endParaRPr lang="en-US" sz="1200" dirty="0"/>
          </a:p>
        </p:txBody>
      </p:sp>
      <p:sp>
        <p:nvSpPr>
          <p:cNvPr id="18" name="Text 16"/>
          <p:cNvSpPr/>
          <p:nvPr/>
        </p:nvSpPr>
        <p:spPr>
          <a:xfrm>
            <a:off x="685800" y="3502152"/>
            <a:ext cx="3291840" cy="256032"/>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real road ETAs, works offline</a:t>
            </a:r>
            <a:endParaRPr lang="en-US" sz="1000" dirty="0"/>
          </a:p>
        </p:txBody>
      </p:sp>
      <p:sp>
        <p:nvSpPr>
          <p:cNvPr id="19" name="Text 17"/>
          <p:cNvSpPr/>
          <p:nvPr/>
        </p:nvSpPr>
        <p:spPr>
          <a:xfrm>
            <a:off x="4114800" y="3236976"/>
            <a:ext cx="3063240" cy="256032"/>
          </a:xfrm>
          <a:prstGeom prst="rect">
            <a:avLst/>
          </a:prstGeom>
          <a:noFill/>
          <a:ln/>
        </p:spPr>
        <p:txBody>
          <a:bodyPr wrap="square" lIns="0" tIns="0" rIns="0" bIns="0" rtlCol="0" anchor="ctr"/>
          <a:lstStyle/>
          <a:p>
            <a:pPr indent="0" marL="0">
              <a:buNone/>
            </a:pPr>
            <a:r>
              <a:rPr lang="en-US" sz="1000" b="1" dirty="0">
                <a:solidFill>
                  <a:srgbClr val="DC2626"/>
                </a:solidFill>
                <a:latin typeface="Calibri" pitchFamily="34" charset="0"/>
                <a:ea typeface="Calibri" pitchFamily="34" charset="-122"/>
                <a:cs typeface="Calibri" pitchFamily="34" charset="-120"/>
              </a:rPr>
              <a:t>rejected: Google Directions</a:t>
            </a:r>
            <a:endParaRPr lang="en-US" sz="1000" dirty="0"/>
          </a:p>
        </p:txBody>
      </p:sp>
      <p:sp>
        <p:nvSpPr>
          <p:cNvPr id="20" name="Text 18"/>
          <p:cNvSpPr/>
          <p:nvPr/>
        </p:nvSpPr>
        <p:spPr>
          <a:xfrm>
            <a:off x="4114800" y="3502152"/>
            <a:ext cx="3063240" cy="256032"/>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cost, limits, network dependency</a:t>
            </a:r>
            <a:endParaRPr lang="en-US" sz="1000" dirty="0"/>
          </a:p>
        </p:txBody>
      </p:sp>
      <p:sp>
        <p:nvSpPr>
          <p:cNvPr id="21" name="Shape 19"/>
          <p:cNvSpPr/>
          <p:nvPr/>
        </p:nvSpPr>
        <p:spPr>
          <a:xfrm>
            <a:off x="502920" y="3931920"/>
            <a:ext cx="6858000" cy="676656"/>
          </a:xfrm>
          <a:prstGeom prst="roundRect">
            <a:avLst>
              <a:gd name="adj" fmla="val 8108"/>
            </a:avLst>
          </a:prstGeom>
          <a:solidFill>
            <a:srgbClr val="FFFFFF"/>
          </a:solidFill>
          <a:ln w="12700">
            <a:solidFill>
              <a:srgbClr val="CBD5E1"/>
            </a:solidFill>
            <a:prstDash val="solid"/>
          </a:ln>
        </p:spPr>
      </p:sp>
      <p:sp>
        <p:nvSpPr>
          <p:cNvPr id="22" name="Text 20"/>
          <p:cNvSpPr/>
          <p:nvPr/>
        </p:nvSpPr>
        <p:spPr>
          <a:xfrm>
            <a:off x="685800" y="4014216"/>
            <a:ext cx="1920240" cy="256032"/>
          </a:xfrm>
          <a:prstGeom prst="rect">
            <a:avLst/>
          </a:prstGeom>
          <a:noFill/>
          <a:ln/>
        </p:spPr>
        <p:txBody>
          <a:bodyPr wrap="square" lIns="0" tIns="0" rIns="0" bIns="0" rtlCol="0" anchor="ctr"/>
          <a:lstStyle/>
          <a:p>
            <a:pPr indent="0" marL="0">
              <a:buNone/>
            </a:pPr>
            <a:r>
              <a:rPr lang="en-US" sz="1200" b="1" dirty="0">
                <a:solidFill>
                  <a:srgbClr val="0F172A"/>
                </a:solidFill>
                <a:latin typeface="Arial" pitchFamily="34" charset="0"/>
                <a:ea typeface="Arial" pitchFamily="34" charset="-122"/>
                <a:cs typeface="Arial" pitchFamily="34" charset="-120"/>
              </a:rPr>
              <a:t>Hungarian (SciPy)</a:t>
            </a:r>
            <a:endParaRPr lang="en-US" sz="1200" dirty="0"/>
          </a:p>
        </p:txBody>
      </p:sp>
      <p:sp>
        <p:nvSpPr>
          <p:cNvPr id="23" name="Text 21"/>
          <p:cNvSpPr/>
          <p:nvPr/>
        </p:nvSpPr>
        <p:spPr>
          <a:xfrm>
            <a:off x="685800" y="4279392"/>
            <a:ext cx="3291840" cy="256032"/>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optimal, O(n³), ten lines</a:t>
            </a:r>
            <a:endParaRPr lang="en-US" sz="1000" dirty="0"/>
          </a:p>
        </p:txBody>
      </p:sp>
      <p:sp>
        <p:nvSpPr>
          <p:cNvPr id="24" name="Text 22"/>
          <p:cNvSpPr/>
          <p:nvPr/>
        </p:nvSpPr>
        <p:spPr>
          <a:xfrm>
            <a:off x="4114800" y="4014216"/>
            <a:ext cx="3063240" cy="256032"/>
          </a:xfrm>
          <a:prstGeom prst="rect">
            <a:avLst/>
          </a:prstGeom>
          <a:noFill/>
          <a:ln/>
        </p:spPr>
        <p:txBody>
          <a:bodyPr wrap="square" lIns="0" tIns="0" rIns="0" bIns="0" rtlCol="0" anchor="ctr"/>
          <a:lstStyle/>
          <a:p>
            <a:pPr indent="0" marL="0">
              <a:buNone/>
            </a:pPr>
            <a:r>
              <a:rPr lang="en-US" sz="1000" b="1" dirty="0">
                <a:solidFill>
                  <a:srgbClr val="DC2626"/>
                </a:solidFill>
                <a:latin typeface="Calibri" pitchFamily="34" charset="0"/>
                <a:ea typeface="Calibri" pitchFamily="34" charset="-122"/>
                <a:cs typeface="Calibri" pitchFamily="34" charset="-120"/>
              </a:rPr>
              <a:t>rejected: OR-Tools VRP</a:t>
            </a:r>
            <a:endParaRPr lang="en-US" sz="1000" dirty="0"/>
          </a:p>
        </p:txBody>
      </p:sp>
      <p:sp>
        <p:nvSpPr>
          <p:cNvPr id="25" name="Text 23"/>
          <p:cNvSpPr/>
          <p:nvPr/>
        </p:nvSpPr>
        <p:spPr>
          <a:xfrm>
            <a:off x="4114800" y="4279392"/>
            <a:ext cx="3063240" cy="256032"/>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solves a harder problem than we have</a:t>
            </a:r>
            <a:endParaRPr lang="en-US" sz="1000" dirty="0"/>
          </a:p>
        </p:txBody>
      </p:sp>
      <p:sp>
        <p:nvSpPr>
          <p:cNvPr id="26" name="Shape 24"/>
          <p:cNvSpPr/>
          <p:nvPr/>
        </p:nvSpPr>
        <p:spPr>
          <a:xfrm>
            <a:off x="502920" y="4709160"/>
            <a:ext cx="6858000" cy="676656"/>
          </a:xfrm>
          <a:prstGeom prst="roundRect">
            <a:avLst>
              <a:gd name="adj" fmla="val 8108"/>
            </a:avLst>
          </a:prstGeom>
          <a:solidFill>
            <a:srgbClr val="FFFFFF"/>
          </a:solidFill>
          <a:ln w="12700">
            <a:solidFill>
              <a:srgbClr val="CBD5E1"/>
            </a:solidFill>
            <a:prstDash val="solid"/>
          </a:ln>
        </p:spPr>
      </p:sp>
      <p:sp>
        <p:nvSpPr>
          <p:cNvPr id="27" name="Text 25"/>
          <p:cNvSpPr/>
          <p:nvPr/>
        </p:nvSpPr>
        <p:spPr>
          <a:xfrm>
            <a:off x="685800" y="4791456"/>
            <a:ext cx="1920240" cy="256032"/>
          </a:xfrm>
          <a:prstGeom prst="rect">
            <a:avLst/>
          </a:prstGeom>
          <a:noFill/>
          <a:ln/>
        </p:spPr>
        <p:txBody>
          <a:bodyPr wrap="square" lIns="0" tIns="0" rIns="0" bIns="0" rtlCol="0" anchor="ctr"/>
          <a:lstStyle/>
          <a:p>
            <a:pPr indent="0" marL="0">
              <a:buNone/>
            </a:pPr>
            <a:r>
              <a:rPr lang="en-US" sz="1200" b="1" dirty="0">
                <a:solidFill>
                  <a:srgbClr val="0F172A"/>
                </a:solidFill>
                <a:latin typeface="Arial" pitchFamily="34" charset="0"/>
                <a:ea typeface="Arial" pitchFamily="34" charset="-122"/>
                <a:cs typeface="Arial" pitchFamily="34" charset="-120"/>
              </a:rPr>
              <a:t>React PWA</a:t>
            </a:r>
            <a:endParaRPr lang="en-US" sz="1200" dirty="0"/>
          </a:p>
        </p:txBody>
      </p:sp>
      <p:sp>
        <p:nvSpPr>
          <p:cNvPr id="28" name="Text 26"/>
          <p:cNvSpPr/>
          <p:nvPr/>
        </p:nvSpPr>
        <p:spPr>
          <a:xfrm>
            <a:off x="685800" y="5056632"/>
            <a:ext cx="3291840" cy="256032"/>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installs by QR, offline queue, one codebase</a:t>
            </a:r>
            <a:endParaRPr lang="en-US" sz="1000" dirty="0"/>
          </a:p>
        </p:txBody>
      </p:sp>
      <p:sp>
        <p:nvSpPr>
          <p:cNvPr id="29" name="Text 27"/>
          <p:cNvSpPr/>
          <p:nvPr/>
        </p:nvSpPr>
        <p:spPr>
          <a:xfrm>
            <a:off x="4114800" y="4791456"/>
            <a:ext cx="3063240" cy="256032"/>
          </a:xfrm>
          <a:prstGeom prst="rect">
            <a:avLst/>
          </a:prstGeom>
          <a:noFill/>
          <a:ln/>
        </p:spPr>
        <p:txBody>
          <a:bodyPr wrap="square" lIns="0" tIns="0" rIns="0" bIns="0" rtlCol="0" anchor="ctr"/>
          <a:lstStyle/>
          <a:p>
            <a:pPr indent="0" marL="0">
              <a:buNone/>
            </a:pPr>
            <a:r>
              <a:rPr lang="en-US" sz="1000" b="1" dirty="0">
                <a:solidFill>
                  <a:srgbClr val="DC2626"/>
                </a:solidFill>
                <a:latin typeface="Calibri" pitchFamily="34" charset="0"/>
                <a:ea typeface="Calibri" pitchFamily="34" charset="-122"/>
                <a:cs typeface="Calibri" pitchFamily="34" charset="-120"/>
              </a:rPr>
              <a:t>rejected: Native Android</a:t>
            </a:r>
            <a:endParaRPr lang="en-US" sz="1000" dirty="0"/>
          </a:p>
        </p:txBody>
      </p:sp>
      <p:sp>
        <p:nvSpPr>
          <p:cNvPr id="30" name="Text 28"/>
          <p:cNvSpPr/>
          <p:nvPr/>
        </p:nvSpPr>
        <p:spPr>
          <a:xfrm>
            <a:off x="4114800" y="5056632"/>
            <a:ext cx="3063240" cy="256032"/>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a day lost for zero judged value</a:t>
            </a:r>
            <a:endParaRPr lang="en-US" sz="1000" dirty="0"/>
          </a:p>
        </p:txBody>
      </p:sp>
      <p:sp>
        <p:nvSpPr>
          <p:cNvPr id="31" name="Text 29"/>
          <p:cNvSpPr/>
          <p:nvPr/>
        </p:nvSpPr>
        <p:spPr>
          <a:xfrm>
            <a:off x="7635240" y="1280160"/>
            <a:ext cx="4023360" cy="274320"/>
          </a:xfrm>
          <a:prstGeom prst="rect">
            <a:avLst/>
          </a:prstGeom>
          <a:noFill/>
          <a:ln/>
        </p:spPr>
        <p:txBody>
          <a:bodyPr wrap="square" lIns="0" tIns="0" rIns="0" bIns="0" rtlCol="0" anchor="ctr"/>
          <a:lstStyle/>
          <a:p>
            <a:pPr indent="0" marL="0">
              <a:buNone/>
            </a:pPr>
            <a:r>
              <a:rPr lang="en-US" sz="1400" b="1" dirty="0">
                <a:solidFill>
                  <a:srgbClr val="0F172A"/>
                </a:solidFill>
                <a:latin typeface="Arial" pitchFamily="34" charset="0"/>
                <a:ea typeface="Arial" pitchFamily="34" charset="-122"/>
                <a:cs typeface="Arial" pitchFamily="34" charset="-120"/>
              </a:rPr>
              <a:t>Measured performance</a:t>
            </a:r>
            <a:endParaRPr lang="en-US" sz="1400" dirty="0"/>
          </a:p>
        </p:txBody>
      </p:sp>
      <p:sp>
        <p:nvSpPr>
          <p:cNvPr id="32" name="Shape 30"/>
          <p:cNvSpPr/>
          <p:nvPr/>
        </p:nvSpPr>
        <p:spPr>
          <a:xfrm>
            <a:off x="7635240" y="1600200"/>
            <a:ext cx="4023360" cy="877824"/>
          </a:xfrm>
          <a:prstGeom prst="roundRect">
            <a:avLst>
              <a:gd name="adj" fmla="val 6250"/>
            </a:avLst>
          </a:prstGeom>
          <a:solidFill>
            <a:srgbClr val="0F172A"/>
          </a:solidFill>
          <a:ln w="12700">
            <a:solidFill>
              <a:srgbClr val="0F172A"/>
            </a:solidFill>
            <a:prstDash val="solid"/>
          </a:ln>
        </p:spPr>
      </p:sp>
      <p:sp>
        <p:nvSpPr>
          <p:cNvPr id="33" name="Text 31"/>
          <p:cNvSpPr/>
          <p:nvPr/>
        </p:nvSpPr>
        <p:spPr>
          <a:xfrm>
            <a:off x="7863840" y="1709928"/>
            <a:ext cx="3657600" cy="329184"/>
          </a:xfrm>
          <a:prstGeom prst="rect">
            <a:avLst/>
          </a:prstGeom>
          <a:noFill/>
          <a:ln/>
        </p:spPr>
        <p:txBody>
          <a:bodyPr wrap="square" lIns="0" tIns="0" rIns="0" bIns="0" rtlCol="0" anchor="ctr"/>
          <a:lstStyle/>
          <a:p>
            <a:pPr indent="0" marL="0">
              <a:buNone/>
            </a:pPr>
            <a:r>
              <a:rPr lang="en-US" sz="1800" b="1" dirty="0">
                <a:solidFill>
                  <a:srgbClr val="F87171"/>
                </a:solidFill>
                <a:latin typeface="Arial" pitchFamily="34" charset="0"/>
                <a:ea typeface="Arial" pitchFamily="34" charset="-122"/>
                <a:cs typeface="Arial" pitchFamily="34" charset="-120"/>
              </a:rPr>
              <a:t>&lt; 2 s</a:t>
            </a:r>
            <a:endParaRPr lang="en-US" sz="1800" dirty="0"/>
          </a:p>
        </p:txBody>
      </p:sp>
      <p:sp>
        <p:nvSpPr>
          <p:cNvPr id="34" name="Text 32"/>
          <p:cNvSpPr/>
          <p:nvPr/>
        </p:nvSpPr>
        <p:spPr>
          <a:xfrm>
            <a:off x="7863840" y="2057400"/>
            <a:ext cx="3657600" cy="365760"/>
          </a:xfrm>
          <a:prstGeom prst="rect">
            <a:avLst/>
          </a:prstGeom>
          <a:noFill/>
          <a:ln/>
        </p:spPr>
        <p:txBody>
          <a:bodyPr wrap="square" lIns="0" tIns="0" rIns="0" bIns="0" rtlCol="0" anchor="ctr"/>
          <a:lstStyle/>
          <a:p>
            <a:pPr indent="0" marL="0">
              <a:lnSpc>
                <a:spcPts val="1200"/>
              </a:lnSpc>
              <a:buNone/>
            </a:pPr>
            <a:r>
              <a:rPr lang="en-US" sz="1000" dirty="0">
                <a:solidFill>
                  <a:srgbClr val="94A3B8"/>
                </a:solidFill>
                <a:latin typeface="Calibri" pitchFamily="34" charset="0"/>
                <a:ea typeface="Calibri" pitchFamily="34" charset="-122"/>
                <a:cs typeface="Calibri" pitchFamily="34" charset="-120"/>
              </a:rPr>
              <a:t>report submitted → rendered on the dashboard (p95)</a:t>
            </a:r>
            <a:endParaRPr lang="en-US" sz="1000" dirty="0"/>
          </a:p>
        </p:txBody>
      </p:sp>
      <p:sp>
        <p:nvSpPr>
          <p:cNvPr id="35" name="Shape 33"/>
          <p:cNvSpPr/>
          <p:nvPr/>
        </p:nvSpPr>
        <p:spPr>
          <a:xfrm>
            <a:off x="7635240" y="2587752"/>
            <a:ext cx="4023360" cy="877824"/>
          </a:xfrm>
          <a:prstGeom prst="roundRect">
            <a:avLst>
              <a:gd name="adj" fmla="val 6250"/>
            </a:avLst>
          </a:prstGeom>
          <a:solidFill>
            <a:srgbClr val="0F172A"/>
          </a:solidFill>
          <a:ln w="12700">
            <a:solidFill>
              <a:srgbClr val="0F172A"/>
            </a:solidFill>
            <a:prstDash val="solid"/>
          </a:ln>
        </p:spPr>
      </p:sp>
      <p:sp>
        <p:nvSpPr>
          <p:cNvPr id="36" name="Text 34"/>
          <p:cNvSpPr/>
          <p:nvPr/>
        </p:nvSpPr>
        <p:spPr>
          <a:xfrm>
            <a:off x="7863840" y="2697480"/>
            <a:ext cx="3657600" cy="329184"/>
          </a:xfrm>
          <a:prstGeom prst="rect">
            <a:avLst/>
          </a:prstGeom>
          <a:noFill/>
          <a:ln/>
        </p:spPr>
        <p:txBody>
          <a:bodyPr wrap="square" lIns="0" tIns="0" rIns="0" bIns="0" rtlCol="0" anchor="ctr"/>
          <a:lstStyle/>
          <a:p>
            <a:pPr indent="0" marL="0">
              <a:buNone/>
            </a:pPr>
            <a:r>
              <a:rPr lang="en-US" sz="1800" b="1" dirty="0">
                <a:solidFill>
                  <a:srgbClr val="F87171"/>
                </a:solidFill>
                <a:latin typeface="Arial" pitchFamily="34" charset="0"/>
                <a:ea typeface="Arial" pitchFamily="34" charset="-122"/>
                <a:cs typeface="Arial" pitchFamily="34" charset="-120"/>
              </a:rPr>
              <a:t>&lt; 1.5 s</a:t>
            </a:r>
            <a:endParaRPr lang="en-US" sz="1800" dirty="0"/>
          </a:p>
        </p:txBody>
      </p:sp>
      <p:sp>
        <p:nvSpPr>
          <p:cNvPr id="37" name="Text 35"/>
          <p:cNvSpPr/>
          <p:nvPr/>
        </p:nvSpPr>
        <p:spPr>
          <a:xfrm>
            <a:off x="7863840" y="3044952"/>
            <a:ext cx="3657600" cy="365760"/>
          </a:xfrm>
          <a:prstGeom prst="rect">
            <a:avLst/>
          </a:prstGeom>
          <a:noFill/>
          <a:ln/>
        </p:spPr>
        <p:txBody>
          <a:bodyPr wrap="square" lIns="0" tIns="0" rIns="0" bIns="0" rtlCol="0" anchor="ctr"/>
          <a:lstStyle/>
          <a:p>
            <a:pPr indent="0" marL="0">
              <a:lnSpc>
                <a:spcPts val="1200"/>
              </a:lnSpc>
              <a:buNone/>
            </a:pPr>
            <a:r>
              <a:rPr lang="en-US" sz="1000" dirty="0">
                <a:solidFill>
                  <a:srgbClr val="94A3B8"/>
                </a:solidFill>
                <a:latin typeface="Calibri" pitchFamily="34" charset="0"/>
                <a:ea typeface="Calibri" pitchFamily="34" charset="-122"/>
                <a:cs typeface="Calibri" pitchFamily="34" charset="-120"/>
              </a:rPr>
              <a:t>full optimisation cycle, 60 units × 50 incidents</a:t>
            </a:r>
            <a:endParaRPr lang="en-US" sz="1000" dirty="0"/>
          </a:p>
        </p:txBody>
      </p:sp>
      <p:sp>
        <p:nvSpPr>
          <p:cNvPr id="38" name="Shape 36"/>
          <p:cNvSpPr/>
          <p:nvPr/>
        </p:nvSpPr>
        <p:spPr>
          <a:xfrm>
            <a:off x="7635240" y="3575304"/>
            <a:ext cx="4023360" cy="877824"/>
          </a:xfrm>
          <a:prstGeom prst="roundRect">
            <a:avLst>
              <a:gd name="adj" fmla="val 6250"/>
            </a:avLst>
          </a:prstGeom>
          <a:solidFill>
            <a:srgbClr val="0F172A"/>
          </a:solidFill>
          <a:ln w="12700">
            <a:solidFill>
              <a:srgbClr val="0F172A"/>
            </a:solidFill>
            <a:prstDash val="solid"/>
          </a:ln>
        </p:spPr>
      </p:sp>
      <p:sp>
        <p:nvSpPr>
          <p:cNvPr id="39" name="Text 37"/>
          <p:cNvSpPr/>
          <p:nvPr/>
        </p:nvSpPr>
        <p:spPr>
          <a:xfrm>
            <a:off x="7863840" y="3685032"/>
            <a:ext cx="3657600" cy="329184"/>
          </a:xfrm>
          <a:prstGeom prst="rect">
            <a:avLst/>
          </a:prstGeom>
          <a:noFill/>
          <a:ln/>
        </p:spPr>
        <p:txBody>
          <a:bodyPr wrap="square" lIns="0" tIns="0" rIns="0" bIns="0" rtlCol="0" anchor="ctr"/>
          <a:lstStyle/>
          <a:p>
            <a:pPr indent="0" marL="0">
              <a:buNone/>
            </a:pPr>
            <a:r>
              <a:rPr lang="en-US" sz="1800" b="1" dirty="0">
                <a:solidFill>
                  <a:srgbClr val="F87171"/>
                </a:solidFill>
                <a:latin typeface="Arial" pitchFamily="34" charset="0"/>
                <a:ea typeface="Arial" pitchFamily="34" charset="-122"/>
                <a:cs typeface="Arial" pitchFamily="34" charset="-120"/>
              </a:rPr>
              <a:t>500 / min</a:t>
            </a:r>
            <a:endParaRPr lang="en-US" sz="1800" dirty="0"/>
          </a:p>
        </p:txBody>
      </p:sp>
      <p:sp>
        <p:nvSpPr>
          <p:cNvPr id="40" name="Text 38"/>
          <p:cNvSpPr/>
          <p:nvPr/>
        </p:nvSpPr>
        <p:spPr>
          <a:xfrm>
            <a:off x="7863840" y="4032504"/>
            <a:ext cx="3657600" cy="365760"/>
          </a:xfrm>
          <a:prstGeom prst="rect">
            <a:avLst/>
          </a:prstGeom>
          <a:noFill/>
          <a:ln/>
        </p:spPr>
        <p:txBody>
          <a:bodyPr wrap="square" lIns="0" tIns="0" rIns="0" bIns="0" rtlCol="0" anchor="ctr"/>
          <a:lstStyle/>
          <a:p>
            <a:pPr indent="0" marL="0">
              <a:lnSpc>
                <a:spcPts val="1200"/>
              </a:lnSpc>
              <a:buNone/>
            </a:pPr>
            <a:r>
              <a:rPr lang="en-US" sz="1000" dirty="0">
                <a:solidFill>
                  <a:srgbClr val="94A3B8"/>
                </a:solidFill>
                <a:latin typeface="Calibri" pitchFamily="34" charset="0"/>
                <a:ea typeface="Calibri" pitchFamily="34" charset="-122"/>
                <a:cs typeface="Calibri" pitchFamily="34" charset="-120"/>
              </a:rPr>
              <a:t>sustained report ingest on a single 2-vCPU node</a:t>
            </a:r>
            <a:endParaRPr lang="en-US" sz="1000" dirty="0"/>
          </a:p>
        </p:txBody>
      </p:sp>
      <p:sp>
        <p:nvSpPr>
          <p:cNvPr id="41" name="Shape 39"/>
          <p:cNvSpPr/>
          <p:nvPr/>
        </p:nvSpPr>
        <p:spPr>
          <a:xfrm>
            <a:off x="7635240" y="4562856"/>
            <a:ext cx="4023360" cy="877824"/>
          </a:xfrm>
          <a:prstGeom prst="roundRect">
            <a:avLst>
              <a:gd name="adj" fmla="val 6250"/>
            </a:avLst>
          </a:prstGeom>
          <a:solidFill>
            <a:srgbClr val="0F172A"/>
          </a:solidFill>
          <a:ln w="12700">
            <a:solidFill>
              <a:srgbClr val="0F172A"/>
            </a:solidFill>
            <a:prstDash val="solid"/>
          </a:ln>
        </p:spPr>
      </p:sp>
      <p:sp>
        <p:nvSpPr>
          <p:cNvPr id="42" name="Text 40"/>
          <p:cNvSpPr/>
          <p:nvPr/>
        </p:nvSpPr>
        <p:spPr>
          <a:xfrm>
            <a:off x="7863840" y="4672584"/>
            <a:ext cx="3657600" cy="329184"/>
          </a:xfrm>
          <a:prstGeom prst="rect">
            <a:avLst/>
          </a:prstGeom>
          <a:noFill/>
          <a:ln/>
        </p:spPr>
        <p:txBody>
          <a:bodyPr wrap="square" lIns="0" tIns="0" rIns="0" bIns="0" rtlCol="0" anchor="ctr"/>
          <a:lstStyle/>
          <a:p>
            <a:pPr indent="0" marL="0">
              <a:buNone/>
            </a:pPr>
            <a:r>
              <a:rPr lang="en-US" sz="1800" b="1" dirty="0">
                <a:solidFill>
                  <a:srgbClr val="F87171"/>
                </a:solidFill>
                <a:latin typeface="Arial" pitchFamily="34" charset="0"/>
                <a:ea typeface="Arial" pitchFamily="34" charset="-122"/>
                <a:cs typeface="Arial" pitchFamily="34" charset="-120"/>
              </a:rPr>
              <a:t>2,000</a:t>
            </a:r>
            <a:endParaRPr lang="en-US" sz="1800" dirty="0"/>
          </a:p>
        </p:txBody>
      </p:sp>
      <p:sp>
        <p:nvSpPr>
          <p:cNvPr id="43" name="Text 41"/>
          <p:cNvSpPr/>
          <p:nvPr/>
        </p:nvSpPr>
        <p:spPr>
          <a:xfrm>
            <a:off x="7863840" y="5020056"/>
            <a:ext cx="3657600" cy="365760"/>
          </a:xfrm>
          <a:prstGeom prst="rect">
            <a:avLst/>
          </a:prstGeom>
          <a:noFill/>
          <a:ln/>
        </p:spPr>
        <p:txBody>
          <a:bodyPr wrap="square" lIns="0" tIns="0" rIns="0" bIns="0" rtlCol="0" anchor="ctr"/>
          <a:lstStyle/>
          <a:p>
            <a:pPr indent="0" marL="0">
              <a:lnSpc>
                <a:spcPts val="1200"/>
              </a:lnSpc>
              <a:buNone/>
            </a:pPr>
            <a:r>
              <a:rPr lang="en-US" sz="1000" dirty="0">
                <a:solidFill>
                  <a:srgbClr val="94A3B8"/>
                </a:solidFill>
                <a:latin typeface="Calibri" pitchFamily="34" charset="0"/>
                <a:ea typeface="Calibri" pitchFamily="34" charset="-122"/>
                <a:cs typeface="Calibri" pitchFamily="34" charset="-120"/>
              </a:rPr>
              <a:t>report burst in 60 s absorbed with no errors</a:t>
            </a:r>
            <a:endParaRPr lang="en-US" sz="1000" dirty="0"/>
          </a:p>
        </p:txBody>
      </p:sp>
      <p:sp>
        <p:nvSpPr>
          <p:cNvPr id="44" name="Shape 42"/>
          <p:cNvSpPr/>
          <p:nvPr/>
        </p:nvSpPr>
        <p:spPr>
          <a:xfrm>
            <a:off x="7635240" y="5605272"/>
            <a:ext cx="4023360" cy="658368"/>
          </a:xfrm>
          <a:prstGeom prst="roundRect">
            <a:avLst>
              <a:gd name="adj" fmla="val 8333"/>
            </a:avLst>
          </a:prstGeom>
          <a:solidFill>
            <a:srgbClr val="FFFBEB"/>
          </a:solidFill>
          <a:ln w="15240">
            <a:solidFill>
              <a:srgbClr val="D97706"/>
            </a:solidFill>
            <a:prstDash val="solid"/>
          </a:ln>
        </p:spPr>
      </p:sp>
      <p:sp>
        <p:nvSpPr>
          <p:cNvPr id="45" name="Text 43"/>
          <p:cNvSpPr/>
          <p:nvPr/>
        </p:nvSpPr>
        <p:spPr>
          <a:xfrm>
            <a:off x="7818120" y="5687568"/>
            <a:ext cx="3657600" cy="512064"/>
          </a:xfrm>
          <a:prstGeom prst="rect">
            <a:avLst/>
          </a:prstGeom>
          <a:noFill/>
          <a:ln/>
        </p:spPr>
        <p:txBody>
          <a:bodyPr wrap="square" lIns="0" tIns="0" rIns="0" bIns="0" rtlCol="0" anchor="ctr"/>
          <a:lstStyle/>
          <a:p>
            <a:pPr indent="0" marL="0">
              <a:lnSpc>
                <a:spcPts val="1300"/>
              </a:lnSpc>
              <a:buNone/>
            </a:pPr>
            <a:r>
              <a:rPr lang="en-US" sz="1050" b="1" dirty="0">
                <a:solidFill>
                  <a:srgbClr val="92400E"/>
                </a:solidFill>
                <a:latin typeface="Calibri" pitchFamily="34" charset="0"/>
                <a:ea typeface="Calibri" pitchFamily="34" charset="-122"/>
                <a:cs typeface="Calibri" pitchFamily="34" charset="-120"/>
              </a:rPr>
              <a:t>The whole stack comes up with one docker compose command — with the Wi-Fi physically unplugged.</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02920" y="310896"/>
            <a:ext cx="640080" cy="457200"/>
          </a:xfrm>
          <a:prstGeom prst="rect">
            <a:avLst/>
          </a:prstGeom>
          <a:noFill/>
          <a:ln/>
        </p:spPr>
        <p:txBody>
          <a:bodyPr wrap="square" lIns="0" tIns="0" rIns="0" bIns="0" rtlCol="0" anchor="ctr"/>
          <a:lstStyle/>
          <a:p>
            <a:pPr algn="l" indent="0" marL="0">
              <a:buNone/>
            </a:pPr>
            <a:r>
              <a:rPr lang="en-US" sz="2600" b="1" dirty="0">
                <a:solidFill>
                  <a:srgbClr val="DC2626"/>
                </a:solidFill>
                <a:latin typeface="Arial" pitchFamily="34" charset="0"/>
                <a:ea typeface="Arial" pitchFamily="34" charset="-122"/>
                <a:cs typeface="Arial" pitchFamily="34" charset="-120"/>
              </a:rPr>
              <a:t>09</a:t>
            </a:r>
            <a:endParaRPr lang="en-US" sz="2600" dirty="0"/>
          </a:p>
        </p:txBody>
      </p:sp>
      <p:sp>
        <p:nvSpPr>
          <p:cNvPr id="3" name="Text 1"/>
          <p:cNvSpPr/>
          <p:nvPr/>
        </p:nvSpPr>
        <p:spPr>
          <a:xfrm>
            <a:off x="1143000" y="274320"/>
            <a:ext cx="8778240" cy="530352"/>
          </a:xfrm>
          <a:prstGeom prst="rect">
            <a:avLst/>
          </a:prstGeom>
          <a:noFill/>
          <a:ln/>
        </p:spPr>
        <p:txBody>
          <a:bodyPr wrap="square" lIns="0" tIns="0" rIns="0" bIns="0" rtlCol="0" anchor="ctr"/>
          <a:lstStyle/>
          <a:p>
            <a:pPr indent="0" marL="0">
              <a:buNone/>
            </a:pPr>
            <a:r>
              <a:rPr lang="en-US" sz="2800" b="1" dirty="0">
                <a:solidFill>
                  <a:srgbClr val="0F172A"/>
                </a:solidFill>
                <a:latin typeface="Arial" pitchFamily="34" charset="0"/>
                <a:ea typeface="Arial" pitchFamily="34" charset="-122"/>
                <a:cs typeface="Arial" pitchFamily="34" charset="-120"/>
              </a:rPr>
              <a:t>Working when the network does not</a:t>
            </a:r>
            <a:endParaRPr lang="en-US" sz="2800" dirty="0"/>
          </a:p>
        </p:txBody>
      </p:sp>
      <p:sp>
        <p:nvSpPr>
          <p:cNvPr id="4" name="Text 2"/>
          <p:cNvSpPr/>
          <p:nvPr/>
        </p:nvSpPr>
        <p:spPr>
          <a:xfrm>
            <a:off x="1161288" y="795528"/>
            <a:ext cx="10424160" cy="310896"/>
          </a:xfrm>
          <a:prstGeom prst="rect">
            <a:avLst/>
          </a:prstGeom>
          <a:noFill/>
          <a:ln/>
        </p:spPr>
        <p:txBody>
          <a:bodyPr wrap="square" lIns="0" tIns="0" rIns="0" bIns="0" rtlCol="0" anchor="t"/>
          <a:lstStyle/>
          <a:p>
            <a:pPr indent="0" marL="0">
              <a:buNone/>
            </a:pPr>
            <a:r>
              <a:rPr lang="en-US" sz="1300" i="1" dirty="0">
                <a:solidFill>
                  <a:srgbClr val="64748B"/>
                </a:solidFill>
                <a:latin typeface="Calibri" pitchFamily="34" charset="0"/>
                <a:ea typeface="Calibri" pitchFamily="34" charset="-122"/>
                <a:cs typeface="Calibri" pitchFamily="34" charset="-120"/>
              </a:rPr>
              <a:t>The system is designed to keep working as infrastructure dies around it.</a:t>
            </a:r>
            <a:endParaRPr lang="en-US" sz="1300" dirty="0"/>
          </a:p>
        </p:txBody>
      </p:sp>
      <p:sp>
        <p:nvSpPr>
          <p:cNvPr id="5" name="Shape 3"/>
          <p:cNvSpPr/>
          <p:nvPr/>
        </p:nvSpPr>
        <p:spPr>
          <a:xfrm>
            <a:off x="502920" y="1325880"/>
            <a:ext cx="7955280" cy="822960"/>
          </a:xfrm>
          <a:prstGeom prst="roundRect">
            <a:avLst>
              <a:gd name="adj" fmla="val 6667"/>
            </a:avLst>
          </a:prstGeom>
          <a:solidFill>
            <a:srgbClr val="FFFFFF"/>
          </a:solidFill>
          <a:ln w="12700">
            <a:solidFill>
              <a:srgbClr val="CBD5E1"/>
            </a:solidFill>
            <a:prstDash val="solid"/>
          </a:ln>
        </p:spPr>
      </p:sp>
      <p:sp>
        <p:nvSpPr>
          <p:cNvPr id="6" name="Shape 4"/>
          <p:cNvSpPr/>
          <p:nvPr/>
        </p:nvSpPr>
        <p:spPr>
          <a:xfrm>
            <a:off x="713232" y="1563624"/>
            <a:ext cx="347472" cy="347472"/>
          </a:xfrm>
          <a:prstGeom prst="ellipse">
            <a:avLst/>
          </a:prstGeom>
          <a:solidFill>
            <a:srgbClr val="059669"/>
          </a:solidFill>
          <a:ln/>
        </p:spPr>
      </p:sp>
      <p:sp>
        <p:nvSpPr>
          <p:cNvPr id="7" name="Text 5"/>
          <p:cNvSpPr/>
          <p:nvPr/>
        </p:nvSpPr>
        <p:spPr>
          <a:xfrm>
            <a:off x="713232" y="1591056"/>
            <a:ext cx="347472"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1</a:t>
            </a:r>
            <a:endParaRPr lang="en-US" sz="1300" dirty="0"/>
          </a:p>
        </p:txBody>
      </p:sp>
      <p:sp>
        <p:nvSpPr>
          <p:cNvPr id="8" name="Text 6"/>
          <p:cNvSpPr/>
          <p:nvPr/>
        </p:nvSpPr>
        <p:spPr>
          <a:xfrm>
            <a:off x="1207008" y="1472184"/>
            <a:ext cx="1828800" cy="274320"/>
          </a:xfrm>
          <a:prstGeom prst="rect">
            <a:avLst/>
          </a:prstGeom>
          <a:noFill/>
          <a:ln/>
        </p:spPr>
        <p:txBody>
          <a:bodyPr wrap="square" lIns="0" tIns="0" rIns="0" bIns="0" rtlCol="0" anchor="ctr"/>
          <a:lstStyle/>
          <a:p>
            <a:pPr indent="0" marL="0">
              <a:buNone/>
            </a:pPr>
            <a:r>
              <a:rPr lang="en-US" sz="1300" b="1" dirty="0">
                <a:solidFill>
                  <a:srgbClr val="0F172A"/>
                </a:solidFill>
                <a:latin typeface="Arial" pitchFamily="34" charset="0"/>
                <a:ea typeface="Arial" pitchFamily="34" charset="-122"/>
                <a:cs typeface="Arial" pitchFamily="34" charset="-120"/>
              </a:rPr>
              <a:t>PWA online</a:t>
            </a:r>
            <a:endParaRPr lang="en-US" sz="1300" dirty="0"/>
          </a:p>
        </p:txBody>
      </p:sp>
      <p:sp>
        <p:nvSpPr>
          <p:cNvPr id="9" name="Text 7"/>
          <p:cNvSpPr/>
          <p:nvPr/>
        </p:nvSpPr>
        <p:spPr>
          <a:xfrm>
            <a:off x="1207008" y="1764792"/>
            <a:ext cx="2194560" cy="274320"/>
          </a:xfrm>
          <a:prstGeom prst="rect">
            <a:avLst/>
          </a:prstGeom>
          <a:noFill/>
          <a:ln/>
        </p:spPr>
        <p:txBody>
          <a:bodyPr wrap="square" lIns="0" tIns="0" rIns="0" bIns="0" rtlCol="0" anchor="ctr"/>
          <a:lstStyle/>
          <a:p>
            <a:pPr indent="0" marL="0">
              <a:buNone/>
            </a:pPr>
            <a:r>
              <a:rPr lang="en-US" sz="980" i="1" dirty="0">
                <a:solidFill>
                  <a:srgbClr val="64748B"/>
                </a:solidFill>
                <a:latin typeface="Calibri" pitchFamily="34" charset="0"/>
                <a:ea typeface="Calibri" pitchFamily="34" charset="-122"/>
                <a:cs typeface="Calibri" pitchFamily="34" charset="-120"/>
              </a:rPr>
              <a:t>4G or Wi-Fi</a:t>
            </a:r>
            <a:endParaRPr lang="en-US" sz="980" dirty="0"/>
          </a:p>
        </p:txBody>
      </p:sp>
      <p:sp>
        <p:nvSpPr>
          <p:cNvPr id="10" name="Text 8"/>
          <p:cNvSpPr/>
          <p:nvPr/>
        </p:nvSpPr>
        <p:spPr>
          <a:xfrm>
            <a:off x="3520440" y="1581912"/>
            <a:ext cx="4754880" cy="411480"/>
          </a:xfrm>
          <a:prstGeom prst="rect">
            <a:avLst/>
          </a:prstGeom>
          <a:noFill/>
          <a:ln/>
        </p:spPr>
        <p:txBody>
          <a:bodyPr wrap="square" lIns="0" tIns="0" rIns="0" bIns="0" rtlCol="0" anchor="ctr"/>
          <a:lstStyle/>
          <a:p>
            <a:pPr indent="0" marL="0">
              <a:lnSpc>
                <a:spcPts val="1300"/>
              </a:lnSpc>
              <a:buNone/>
            </a:pPr>
            <a:r>
              <a:rPr lang="en-US" sz="1080" dirty="0">
                <a:solidFill>
                  <a:srgbClr val="1E293B"/>
                </a:solidFill>
                <a:latin typeface="Calibri" pitchFamily="34" charset="0"/>
                <a:ea typeface="Calibri" pitchFamily="34" charset="-122"/>
                <a:cs typeface="Calibri" pitchFamily="34" charset="-120"/>
              </a:rPr>
              <a:t>Full fidelity: GPS to ~10 m, photo, live status tracking</a:t>
            </a:r>
            <a:endParaRPr lang="en-US" sz="1080" dirty="0"/>
          </a:p>
        </p:txBody>
      </p:sp>
      <p:sp>
        <p:nvSpPr>
          <p:cNvPr id="11" name="Shape 9"/>
          <p:cNvSpPr/>
          <p:nvPr/>
        </p:nvSpPr>
        <p:spPr>
          <a:xfrm>
            <a:off x="502920" y="2258568"/>
            <a:ext cx="7955280" cy="822960"/>
          </a:xfrm>
          <a:prstGeom prst="roundRect">
            <a:avLst>
              <a:gd name="adj" fmla="val 6667"/>
            </a:avLst>
          </a:prstGeom>
          <a:solidFill>
            <a:srgbClr val="FFFFFF"/>
          </a:solidFill>
          <a:ln w="12700">
            <a:solidFill>
              <a:srgbClr val="CBD5E1"/>
            </a:solidFill>
            <a:prstDash val="solid"/>
          </a:ln>
        </p:spPr>
      </p:sp>
      <p:sp>
        <p:nvSpPr>
          <p:cNvPr id="12" name="Shape 10"/>
          <p:cNvSpPr/>
          <p:nvPr/>
        </p:nvSpPr>
        <p:spPr>
          <a:xfrm>
            <a:off x="713232" y="2496312"/>
            <a:ext cx="347472" cy="347472"/>
          </a:xfrm>
          <a:prstGeom prst="ellipse">
            <a:avLst/>
          </a:prstGeom>
          <a:solidFill>
            <a:srgbClr val="059669"/>
          </a:solidFill>
          <a:ln/>
        </p:spPr>
      </p:sp>
      <p:sp>
        <p:nvSpPr>
          <p:cNvPr id="13" name="Text 11"/>
          <p:cNvSpPr/>
          <p:nvPr/>
        </p:nvSpPr>
        <p:spPr>
          <a:xfrm>
            <a:off x="713232" y="2523744"/>
            <a:ext cx="347472"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2</a:t>
            </a:r>
            <a:endParaRPr lang="en-US" sz="1300" dirty="0"/>
          </a:p>
        </p:txBody>
      </p:sp>
      <p:sp>
        <p:nvSpPr>
          <p:cNvPr id="14" name="Text 12"/>
          <p:cNvSpPr/>
          <p:nvPr/>
        </p:nvSpPr>
        <p:spPr>
          <a:xfrm>
            <a:off x="1207008" y="2404872"/>
            <a:ext cx="1828800" cy="274320"/>
          </a:xfrm>
          <a:prstGeom prst="rect">
            <a:avLst/>
          </a:prstGeom>
          <a:noFill/>
          <a:ln/>
        </p:spPr>
        <p:txBody>
          <a:bodyPr wrap="square" lIns="0" tIns="0" rIns="0" bIns="0" rtlCol="0" anchor="ctr"/>
          <a:lstStyle/>
          <a:p>
            <a:pPr indent="0" marL="0">
              <a:buNone/>
            </a:pPr>
            <a:r>
              <a:rPr lang="en-US" sz="1300" b="1" dirty="0">
                <a:solidFill>
                  <a:srgbClr val="0F172A"/>
                </a:solidFill>
                <a:latin typeface="Arial" pitchFamily="34" charset="0"/>
                <a:ea typeface="Arial" pitchFamily="34" charset="-122"/>
                <a:cs typeface="Arial" pitchFamily="34" charset="-120"/>
              </a:rPr>
              <a:t>PWA offline</a:t>
            </a:r>
            <a:endParaRPr lang="en-US" sz="1300" dirty="0"/>
          </a:p>
        </p:txBody>
      </p:sp>
      <p:sp>
        <p:nvSpPr>
          <p:cNvPr id="15" name="Text 13"/>
          <p:cNvSpPr/>
          <p:nvPr/>
        </p:nvSpPr>
        <p:spPr>
          <a:xfrm>
            <a:off x="1207008" y="2697480"/>
            <a:ext cx="2194560" cy="274320"/>
          </a:xfrm>
          <a:prstGeom prst="rect">
            <a:avLst/>
          </a:prstGeom>
          <a:noFill/>
          <a:ln/>
        </p:spPr>
        <p:txBody>
          <a:bodyPr wrap="square" lIns="0" tIns="0" rIns="0" bIns="0" rtlCol="0" anchor="ctr"/>
          <a:lstStyle/>
          <a:p>
            <a:pPr indent="0" marL="0">
              <a:buNone/>
            </a:pPr>
            <a:r>
              <a:rPr lang="en-US" sz="980" i="1" dirty="0">
                <a:solidFill>
                  <a:srgbClr val="64748B"/>
                </a:solidFill>
                <a:latin typeface="Calibri" pitchFamily="34" charset="0"/>
                <a:ea typeface="Calibri" pitchFamily="34" charset="-122"/>
                <a:cs typeface="Calibri" pitchFamily="34" charset="-120"/>
              </a:rPr>
              <a:t>app loaded, network lost</a:t>
            </a:r>
            <a:endParaRPr lang="en-US" sz="980" dirty="0"/>
          </a:p>
        </p:txBody>
      </p:sp>
      <p:sp>
        <p:nvSpPr>
          <p:cNvPr id="16" name="Text 14"/>
          <p:cNvSpPr/>
          <p:nvPr/>
        </p:nvSpPr>
        <p:spPr>
          <a:xfrm>
            <a:off x="3520440" y="2514600"/>
            <a:ext cx="4754880" cy="411480"/>
          </a:xfrm>
          <a:prstGeom prst="rect">
            <a:avLst/>
          </a:prstGeom>
          <a:noFill/>
          <a:ln/>
        </p:spPr>
        <p:txBody>
          <a:bodyPr wrap="square" lIns="0" tIns="0" rIns="0" bIns="0" rtlCol="0" anchor="ctr"/>
          <a:lstStyle/>
          <a:p>
            <a:pPr indent="0" marL="0">
              <a:lnSpc>
                <a:spcPts val="1300"/>
              </a:lnSpc>
              <a:buNone/>
            </a:pPr>
            <a:r>
              <a:rPr lang="en-US" sz="1080" dirty="0">
                <a:solidFill>
                  <a:srgbClr val="1E293B"/>
                </a:solidFill>
                <a:latin typeface="Calibri" pitchFamily="34" charset="0"/>
                <a:ea typeface="Calibri" pitchFamily="34" charset="-122"/>
                <a:cs typeface="Calibri" pitchFamily="34" charset="-120"/>
              </a:rPr>
              <a:t>Report queued in IndexedDB, syncs automatically on reconnect</a:t>
            </a:r>
            <a:endParaRPr lang="en-US" sz="1080" dirty="0"/>
          </a:p>
        </p:txBody>
      </p:sp>
      <p:sp>
        <p:nvSpPr>
          <p:cNvPr id="17" name="Shape 15"/>
          <p:cNvSpPr/>
          <p:nvPr/>
        </p:nvSpPr>
        <p:spPr>
          <a:xfrm>
            <a:off x="502920" y="3191256"/>
            <a:ext cx="7955280" cy="822960"/>
          </a:xfrm>
          <a:prstGeom prst="roundRect">
            <a:avLst>
              <a:gd name="adj" fmla="val 6667"/>
            </a:avLst>
          </a:prstGeom>
          <a:solidFill>
            <a:srgbClr val="FFFFFF"/>
          </a:solidFill>
          <a:ln w="12700">
            <a:solidFill>
              <a:srgbClr val="CBD5E1"/>
            </a:solidFill>
            <a:prstDash val="solid"/>
          </a:ln>
        </p:spPr>
      </p:sp>
      <p:sp>
        <p:nvSpPr>
          <p:cNvPr id="18" name="Shape 16"/>
          <p:cNvSpPr/>
          <p:nvPr/>
        </p:nvSpPr>
        <p:spPr>
          <a:xfrm>
            <a:off x="713232" y="3429000"/>
            <a:ext cx="347472" cy="347472"/>
          </a:xfrm>
          <a:prstGeom prst="ellipse">
            <a:avLst/>
          </a:prstGeom>
          <a:solidFill>
            <a:srgbClr val="D97706"/>
          </a:solidFill>
          <a:ln/>
        </p:spPr>
      </p:sp>
      <p:sp>
        <p:nvSpPr>
          <p:cNvPr id="19" name="Text 17"/>
          <p:cNvSpPr/>
          <p:nvPr/>
        </p:nvSpPr>
        <p:spPr>
          <a:xfrm>
            <a:off x="713232" y="3456432"/>
            <a:ext cx="347472"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3</a:t>
            </a:r>
            <a:endParaRPr lang="en-US" sz="1300" dirty="0"/>
          </a:p>
        </p:txBody>
      </p:sp>
      <p:sp>
        <p:nvSpPr>
          <p:cNvPr id="20" name="Text 18"/>
          <p:cNvSpPr/>
          <p:nvPr/>
        </p:nvSpPr>
        <p:spPr>
          <a:xfrm>
            <a:off x="1207008" y="3337560"/>
            <a:ext cx="1828800" cy="274320"/>
          </a:xfrm>
          <a:prstGeom prst="rect">
            <a:avLst/>
          </a:prstGeom>
          <a:noFill/>
          <a:ln/>
        </p:spPr>
        <p:txBody>
          <a:bodyPr wrap="square" lIns="0" tIns="0" rIns="0" bIns="0" rtlCol="0" anchor="ctr"/>
          <a:lstStyle/>
          <a:p>
            <a:pPr indent="0" marL="0">
              <a:buNone/>
            </a:pPr>
            <a:r>
              <a:rPr lang="en-US" sz="1300" b="1" dirty="0">
                <a:solidFill>
                  <a:srgbClr val="0F172A"/>
                </a:solidFill>
                <a:latin typeface="Arial" pitchFamily="34" charset="0"/>
                <a:ea typeface="Arial" pitchFamily="34" charset="-122"/>
                <a:cs typeface="Arial" pitchFamily="34" charset="-120"/>
              </a:rPr>
              <a:t>SMS</a:t>
            </a:r>
            <a:endParaRPr lang="en-US" sz="1300" dirty="0"/>
          </a:p>
        </p:txBody>
      </p:sp>
      <p:sp>
        <p:nvSpPr>
          <p:cNvPr id="21" name="Text 19"/>
          <p:cNvSpPr/>
          <p:nvPr/>
        </p:nvSpPr>
        <p:spPr>
          <a:xfrm>
            <a:off x="1207008" y="3630168"/>
            <a:ext cx="2194560" cy="274320"/>
          </a:xfrm>
          <a:prstGeom prst="rect">
            <a:avLst/>
          </a:prstGeom>
          <a:noFill/>
          <a:ln/>
        </p:spPr>
        <p:txBody>
          <a:bodyPr wrap="square" lIns="0" tIns="0" rIns="0" bIns="0" rtlCol="0" anchor="ctr"/>
          <a:lstStyle/>
          <a:p>
            <a:pPr indent="0" marL="0">
              <a:buNone/>
            </a:pPr>
            <a:r>
              <a:rPr lang="en-US" sz="980" i="1" dirty="0">
                <a:solidFill>
                  <a:srgbClr val="64748B"/>
                </a:solidFill>
                <a:latin typeface="Calibri" pitchFamily="34" charset="0"/>
                <a:ea typeface="Calibri" pitchFamily="34" charset="-122"/>
                <a:cs typeface="Calibri" pitchFamily="34" charset="-120"/>
              </a:rPr>
              <a:t>2G only</a:t>
            </a:r>
            <a:endParaRPr lang="en-US" sz="980" dirty="0"/>
          </a:p>
        </p:txBody>
      </p:sp>
      <p:sp>
        <p:nvSpPr>
          <p:cNvPr id="22" name="Text 20"/>
          <p:cNvSpPr/>
          <p:nvPr/>
        </p:nvSpPr>
        <p:spPr>
          <a:xfrm>
            <a:off x="3520440" y="3447288"/>
            <a:ext cx="4754880" cy="411480"/>
          </a:xfrm>
          <a:prstGeom prst="rect">
            <a:avLst/>
          </a:prstGeom>
          <a:noFill/>
          <a:ln/>
        </p:spPr>
        <p:txBody>
          <a:bodyPr wrap="square" lIns="0" tIns="0" rIns="0" bIns="0" rtlCol="0" anchor="ctr"/>
          <a:lstStyle/>
          <a:p>
            <a:pPr indent="0" marL="0">
              <a:lnSpc>
                <a:spcPts val="1300"/>
              </a:lnSpc>
              <a:buNone/>
            </a:pPr>
            <a:r>
              <a:rPr lang="en-US" sz="1080" dirty="0">
                <a:solidFill>
                  <a:srgbClr val="1E293B"/>
                </a:solidFill>
                <a:latin typeface="Calibri" pitchFamily="34" charset="0"/>
                <a:ea typeface="Calibri" pitchFamily="34" charset="-122"/>
                <a:cs typeface="Calibri" pitchFamily="34" charset="-120"/>
              </a:rPr>
              <a:t>FLOOD 4 761008 water 3ft near school — pincode-level, ~3 km accuracy</a:t>
            </a:r>
            <a:endParaRPr lang="en-US" sz="1080" dirty="0"/>
          </a:p>
        </p:txBody>
      </p:sp>
      <p:sp>
        <p:nvSpPr>
          <p:cNvPr id="23" name="Shape 21"/>
          <p:cNvSpPr/>
          <p:nvPr/>
        </p:nvSpPr>
        <p:spPr>
          <a:xfrm>
            <a:off x="502920" y="4123944"/>
            <a:ext cx="7955280" cy="822960"/>
          </a:xfrm>
          <a:prstGeom prst="roundRect">
            <a:avLst>
              <a:gd name="adj" fmla="val 6667"/>
            </a:avLst>
          </a:prstGeom>
          <a:solidFill>
            <a:srgbClr val="FFFFFF"/>
          </a:solidFill>
          <a:ln w="12700">
            <a:solidFill>
              <a:srgbClr val="CBD5E1"/>
            </a:solidFill>
            <a:prstDash val="solid"/>
          </a:ln>
        </p:spPr>
      </p:sp>
      <p:sp>
        <p:nvSpPr>
          <p:cNvPr id="24" name="Shape 22"/>
          <p:cNvSpPr/>
          <p:nvPr/>
        </p:nvSpPr>
        <p:spPr>
          <a:xfrm>
            <a:off x="713232" y="4361688"/>
            <a:ext cx="347472" cy="347472"/>
          </a:xfrm>
          <a:prstGeom prst="ellipse">
            <a:avLst/>
          </a:prstGeom>
          <a:solidFill>
            <a:srgbClr val="D97706"/>
          </a:solidFill>
          <a:ln/>
        </p:spPr>
      </p:sp>
      <p:sp>
        <p:nvSpPr>
          <p:cNvPr id="25" name="Text 23"/>
          <p:cNvSpPr/>
          <p:nvPr/>
        </p:nvSpPr>
        <p:spPr>
          <a:xfrm>
            <a:off x="713232" y="4389120"/>
            <a:ext cx="347472"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4</a:t>
            </a:r>
            <a:endParaRPr lang="en-US" sz="1300" dirty="0"/>
          </a:p>
        </p:txBody>
      </p:sp>
      <p:sp>
        <p:nvSpPr>
          <p:cNvPr id="26" name="Text 24"/>
          <p:cNvSpPr/>
          <p:nvPr/>
        </p:nvSpPr>
        <p:spPr>
          <a:xfrm>
            <a:off x="1207008" y="4270248"/>
            <a:ext cx="1828800" cy="274320"/>
          </a:xfrm>
          <a:prstGeom prst="rect">
            <a:avLst/>
          </a:prstGeom>
          <a:noFill/>
          <a:ln/>
        </p:spPr>
        <p:txBody>
          <a:bodyPr wrap="square" lIns="0" tIns="0" rIns="0" bIns="0" rtlCol="0" anchor="ctr"/>
          <a:lstStyle/>
          <a:p>
            <a:pPr indent="0" marL="0">
              <a:buNone/>
            </a:pPr>
            <a:r>
              <a:rPr lang="en-US" sz="1300" b="1" dirty="0">
                <a:solidFill>
                  <a:srgbClr val="0F172A"/>
                </a:solidFill>
                <a:latin typeface="Arial" pitchFamily="34" charset="0"/>
                <a:ea typeface="Arial" pitchFamily="34" charset="-122"/>
                <a:cs typeface="Arial" pitchFamily="34" charset="-120"/>
              </a:rPr>
              <a:t>IVR voice</a:t>
            </a:r>
            <a:endParaRPr lang="en-US" sz="1300" dirty="0"/>
          </a:p>
        </p:txBody>
      </p:sp>
      <p:sp>
        <p:nvSpPr>
          <p:cNvPr id="27" name="Text 25"/>
          <p:cNvSpPr/>
          <p:nvPr/>
        </p:nvSpPr>
        <p:spPr>
          <a:xfrm>
            <a:off x="1207008" y="4562856"/>
            <a:ext cx="2194560" cy="274320"/>
          </a:xfrm>
          <a:prstGeom prst="rect">
            <a:avLst/>
          </a:prstGeom>
          <a:noFill/>
          <a:ln/>
        </p:spPr>
        <p:txBody>
          <a:bodyPr wrap="square" lIns="0" tIns="0" rIns="0" bIns="0" rtlCol="0" anchor="ctr"/>
          <a:lstStyle/>
          <a:p>
            <a:pPr indent="0" marL="0">
              <a:buNone/>
            </a:pPr>
            <a:r>
              <a:rPr lang="en-US" sz="980" i="1" dirty="0">
                <a:solidFill>
                  <a:srgbClr val="64748B"/>
                </a:solidFill>
                <a:latin typeface="Calibri" pitchFamily="34" charset="0"/>
                <a:ea typeface="Calibri" pitchFamily="34" charset="-122"/>
                <a:cs typeface="Calibri" pitchFamily="34" charset="-120"/>
              </a:rPr>
              <a:t>voice only, or non-literate user</a:t>
            </a:r>
            <a:endParaRPr lang="en-US" sz="980" dirty="0"/>
          </a:p>
        </p:txBody>
      </p:sp>
      <p:sp>
        <p:nvSpPr>
          <p:cNvPr id="28" name="Text 26"/>
          <p:cNvSpPr/>
          <p:nvPr/>
        </p:nvSpPr>
        <p:spPr>
          <a:xfrm>
            <a:off x="3520440" y="4379976"/>
            <a:ext cx="4754880" cy="411480"/>
          </a:xfrm>
          <a:prstGeom prst="rect">
            <a:avLst/>
          </a:prstGeom>
          <a:noFill/>
          <a:ln/>
        </p:spPr>
        <p:txBody>
          <a:bodyPr wrap="square" lIns="0" tIns="0" rIns="0" bIns="0" rtlCol="0" anchor="ctr"/>
          <a:lstStyle/>
          <a:p>
            <a:pPr indent="0" marL="0">
              <a:lnSpc>
                <a:spcPts val="1300"/>
              </a:lnSpc>
              <a:buNone/>
            </a:pPr>
            <a:r>
              <a:rPr lang="en-US" sz="1080" dirty="0">
                <a:solidFill>
                  <a:srgbClr val="1E293B"/>
                </a:solidFill>
                <a:latin typeface="Calibri" pitchFamily="34" charset="0"/>
                <a:ea typeface="Calibri" pitchFamily="34" charset="-122"/>
                <a:cs typeface="Calibri" pitchFamily="34" charset="-120"/>
              </a:rPr>
              <a:t>DTMF tree in the regional language, cell-tower location, TTS confirmation</a:t>
            </a:r>
            <a:endParaRPr lang="en-US" sz="1080" dirty="0"/>
          </a:p>
        </p:txBody>
      </p:sp>
      <p:sp>
        <p:nvSpPr>
          <p:cNvPr id="29" name="Shape 27"/>
          <p:cNvSpPr/>
          <p:nvPr/>
        </p:nvSpPr>
        <p:spPr>
          <a:xfrm>
            <a:off x="502920" y="5056632"/>
            <a:ext cx="7955280" cy="822960"/>
          </a:xfrm>
          <a:prstGeom prst="roundRect">
            <a:avLst>
              <a:gd name="adj" fmla="val 6667"/>
            </a:avLst>
          </a:prstGeom>
          <a:solidFill>
            <a:srgbClr val="FFFFFF"/>
          </a:solidFill>
          <a:ln w="12700">
            <a:solidFill>
              <a:srgbClr val="CBD5E1"/>
            </a:solidFill>
            <a:prstDash val="solid"/>
          </a:ln>
        </p:spPr>
      </p:sp>
      <p:sp>
        <p:nvSpPr>
          <p:cNvPr id="30" name="Shape 28"/>
          <p:cNvSpPr/>
          <p:nvPr/>
        </p:nvSpPr>
        <p:spPr>
          <a:xfrm>
            <a:off x="713232" y="5294376"/>
            <a:ext cx="347472" cy="347472"/>
          </a:xfrm>
          <a:prstGeom prst="ellipse">
            <a:avLst/>
          </a:prstGeom>
          <a:solidFill>
            <a:srgbClr val="DC2626"/>
          </a:solidFill>
          <a:ln/>
        </p:spPr>
      </p:sp>
      <p:sp>
        <p:nvSpPr>
          <p:cNvPr id="31" name="Text 29"/>
          <p:cNvSpPr/>
          <p:nvPr/>
        </p:nvSpPr>
        <p:spPr>
          <a:xfrm>
            <a:off x="713232" y="5321808"/>
            <a:ext cx="347472"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5</a:t>
            </a:r>
            <a:endParaRPr lang="en-US" sz="1300" dirty="0"/>
          </a:p>
        </p:txBody>
      </p:sp>
      <p:sp>
        <p:nvSpPr>
          <p:cNvPr id="32" name="Text 30"/>
          <p:cNvSpPr/>
          <p:nvPr/>
        </p:nvSpPr>
        <p:spPr>
          <a:xfrm>
            <a:off x="1207008" y="5202936"/>
            <a:ext cx="1828800" cy="274320"/>
          </a:xfrm>
          <a:prstGeom prst="rect">
            <a:avLst/>
          </a:prstGeom>
          <a:noFill/>
          <a:ln/>
        </p:spPr>
        <p:txBody>
          <a:bodyPr wrap="square" lIns="0" tIns="0" rIns="0" bIns="0" rtlCol="0" anchor="ctr"/>
          <a:lstStyle/>
          <a:p>
            <a:pPr indent="0" marL="0">
              <a:buNone/>
            </a:pPr>
            <a:r>
              <a:rPr lang="en-US" sz="1300" b="1" dirty="0">
                <a:solidFill>
                  <a:srgbClr val="0F172A"/>
                </a:solidFill>
                <a:latin typeface="Arial" pitchFamily="34" charset="0"/>
                <a:ea typeface="Arial" pitchFamily="34" charset="-122"/>
                <a:cs typeface="Arial" pitchFamily="34" charset="-120"/>
              </a:rPr>
              <a:t>Radio relay</a:t>
            </a:r>
            <a:endParaRPr lang="en-US" sz="1300" dirty="0"/>
          </a:p>
        </p:txBody>
      </p:sp>
      <p:sp>
        <p:nvSpPr>
          <p:cNvPr id="33" name="Text 31"/>
          <p:cNvSpPr/>
          <p:nvPr/>
        </p:nvSpPr>
        <p:spPr>
          <a:xfrm>
            <a:off x="1207008" y="5495544"/>
            <a:ext cx="2194560" cy="274320"/>
          </a:xfrm>
          <a:prstGeom prst="rect">
            <a:avLst/>
          </a:prstGeom>
          <a:noFill/>
          <a:ln/>
        </p:spPr>
        <p:txBody>
          <a:bodyPr wrap="square" lIns="0" tIns="0" rIns="0" bIns="0" rtlCol="0" anchor="ctr"/>
          <a:lstStyle/>
          <a:p>
            <a:pPr indent="0" marL="0">
              <a:buNone/>
            </a:pPr>
            <a:r>
              <a:rPr lang="en-US" sz="980" i="1" dirty="0">
                <a:solidFill>
                  <a:srgbClr val="64748B"/>
                </a:solidFill>
                <a:latin typeface="Calibri" pitchFamily="34" charset="0"/>
                <a:ea typeface="Calibri" pitchFamily="34" charset="-122"/>
                <a:cs typeface="Calibri" pitchFamily="34" charset="-120"/>
              </a:rPr>
              <a:t>total telecom failure</a:t>
            </a:r>
            <a:endParaRPr lang="en-US" sz="980" dirty="0"/>
          </a:p>
        </p:txBody>
      </p:sp>
      <p:sp>
        <p:nvSpPr>
          <p:cNvPr id="34" name="Text 32"/>
          <p:cNvSpPr/>
          <p:nvPr/>
        </p:nvSpPr>
        <p:spPr>
          <a:xfrm>
            <a:off x="3520440" y="5312664"/>
            <a:ext cx="4754880" cy="411480"/>
          </a:xfrm>
          <a:prstGeom prst="rect">
            <a:avLst/>
          </a:prstGeom>
          <a:noFill/>
          <a:ln/>
        </p:spPr>
        <p:txBody>
          <a:bodyPr wrap="square" lIns="0" tIns="0" rIns="0" bIns="0" rtlCol="0" anchor="ctr"/>
          <a:lstStyle/>
          <a:p>
            <a:pPr indent="0" marL="0">
              <a:lnSpc>
                <a:spcPts val="1300"/>
              </a:lnSpc>
              <a:buNone/>
            </a:pPr>
            <a:r>
              <a:rPr lang="en-US" sz="1080" dirty="0">
                <a:solidFill>
                  <a:srgbClr val="1E293B"/>
                </a:solidFill>
                <a:latin typeface="Calibri" pitchFamily="34" charset="0"/>
                <a:ea typeface="Calibri" pitchFamily="34" charset="-122"/>
                <a:cs typeface="Calibri" pitchFamily="34" charset="-120"/>
              </a:rPr>
              <a:t>DEOC operator enters wireless-relayed reports into the same console</a:t>
            </a:r>
            <a:endParaRPr lang="en-US" sz="1080" dirty="0"/>
          </a:p>
        </p:txBody>
      </p:sp>
      <p:sp>
        <p:nvSpPr>
          <p:cNvPr id="35" name="Shape 33"/>
          <p:cNvSpPr/>
          <p:nvPr/>
        </p:nvSpPr>
        <p:spPr>
          <a:xfrm>
            <a:off x="8732520" y="1325880"/>
            <a:ext cx="2926080" cy="2286000"/>
          </a:xfrm>
          <a:prstGeom prst="roundRect">
            <a:avLst>
              <a:gd name="adj" fmla="val 2400"/>
            </a:avLst>
          </a:prstGeom>
          <a:solidFill>
            <a:srgbClr val="0F172A"/>
          </a:solidFill>
          <a:ln w="12700">
            <a:solidFill>
              <a:srgbClr val="0F172A"/>
            </a:solidFill>
            <a:prstDash val="solid"/>
          </a:ln>
        </p:spPr>
      </p:sp>
      <p:sp>
        <p:nvSpPr>
          <p:cNvPr id="36" name="Text 34"/>
          <p:cNvSpPr/>
          <p:nvPr/>
        </p:nvSpPr>
        <p:spPr>
          <a:xfrm>
            <a:off x="8961120" y="1481328"/>
            <a:ext cx="2514600" cy="274320"/>
          </a:xfrm>
          <a:prstGeom prst="rect">
            <a:avLst/>
          </a:prstGeom>
          <a:noFill/>
          <a:ln/>
        </p:spPr>
        <p:txBody>
          <a:bodyPr wrap="square" lIns="0" tIns="0" rIns="0" bIns="0" rtlCol="0" anchor="ctr"/>
          <a:lstStyle/>
          <a:p>
            <a:pPr indent="0" marL="0">
              <a:buNone/>
            </a:pPr>
            <a:r>
              <a:rPr lang="en-US" sz="1100" b="1" dirty="0">
                <a:solidFill>
                  <a:srgbClr val="F87171"/>
                </a:solidFill>
                <a:latin typeface="Arial" pitchFamily="34" charset="0"/>
                <a:ea typeface="Arial" pitchFamily="34" charset="-122"/>
                <a:cs typeface="Arial" pitchFamily="34" charset="-120"/>
              </a:rPr>
              <a:t>The architectural point</a:t>
            </a:r>
            <a:endParaRPr lang="en-US" sz="1100" dirty="0"/>
          </a:p>
        </p:txBody>
      </p:sp>
      <p:sp>
        <p:nvSpPr>
          <p:cNvPr id="37" name="Text 35"/>
          <p:cNvSpPr/>
          <p:nvPr/>
        </p:nvSpPr>
        <p:spPr>
          <a:xfrm>
            <a:off x="8961120" y="1810512"/>
            <a:ext cx="2514600" cy="1691640"/>
          </a:xfrm>
          <a:prstGeom prst="rect">
            <a:avLst/>
          </a:prstGeom>
          <a:noFill/>
          <a:ln/>
        </p:spPr>
        <p:txBody>
          <a:bodyPr wrap="square" lIns="0" tIns="0" rIns="0" bIns="0" rtlCol="0" anchor="ctr"/>
          <a:lstStyle/>
          <a:p>
            <a:pPr indent="0" marL="0">
              <a:lnSpc>
                <a:spcPts val="1500"/>
              </a:lnSpc>
              <a:buNone/>
            </a:pPr>
            <a:r>
              <a:rPr lang="en-US" sz="1150" dirty="0">
                <a:solidFill>
                  <a:srgbClr val="E2E8F0"/>
                </a:solidFill>
                <a:latin typeface="Calibri" pitchFamily="34" charset="0"/>
                <a:ea typeface="Calibri" pitchFamily="34" charset="-122"/>
                <a:cs typeface="Calibri" pitchFamily="34" charset="-120"/>
              </a:rPr>
              <a:t>Every rung produces the same normalised report object.</a:t>
            </a:r>
            <a:endParaRPr lang="en-US" sz="1150" dirty="0"/>
          </a:p>
          <a:p>
            <a:pPr indent="0" marL="0">
              <a:lnSpc>
                <a:spcPts val="1500"/>
              </a:lnSpc>
              <a:buNone/>
            </a:pPr>
            <a:endParaRPr lang="en-US" sz="1150" dirty="0"/>
          </a:p>
          <a:p>
            <a:pPr indent="0" marL="0">
              <a:lnSpc>
                <a:spcPts val="1500"/>
              </a:lnSpc>
              <a:buNone/>
            </a:pPr>
            <a:r>
              <a:rPr lang="en-US" sz="1150" dirty="0">
                <a:solidFill>
                  <a:srgbClr val="E2E8F0"/>
                </a:solidFill>
                <a:latin typeface="Calibri" pitchFamily="34" charset="0"/>
                <a:ea typeface="Calibri" pitchFamily="34" charset="-122"/>
                <a:cs typeface="Calibri" pitchFamily="34" charset="-120"/>
              </a:rPr>
              <a:t>The optimizer has no idea which channel a report arrived on — it sees only location, hazard, severity and accuracy.</a:t>
            </a:r>
            <a:endParaRPr lang="en-US" sz="1150" dirty="0"/>
          </a:p>
        </p:txBody>
      </p:sp>
      <p:sp>
        <p:nvSpPr>
          <p:cNvPr id="38" name="Shape 36"/>
          <p:cNvSpPr/>
          <p:nvPr/>
        </p:nvSpPr>
        <p:spPr>
          <a:xfrm>
            <a:off x="8732520" y="3794760"/>
            <a:ext cx="2926080" cy="2148840"/>
          </a:xfrm>
          <a:prstGeom prst="roundRect">
            <a:avLst>
              <a:gd name="adj" fmla="val 2553"/>
            </a:avLst>
          </a:prstGeom>
          <a:solidFill>
            <a:srgbClr val="ECFDF5"/>
          </a:solidFill>
          <a:ln w="16510">
            <a:solidFill>
              <a:srgbClr val="059669"/>
            </a:solidFill>
            <a:prstDash val="solid"/>
          </a:ln>
        </p:spPr>
      </p:sp>
      <p:sp>
        <p:nvSpPr>
          <p:cNvPr id="39" name="Text 37"/>
          <p:cNvSpPr/>
          <p:nvPr/>
        </p:nvSpPr>
        <p:spPr>
          <a:xfrm>
            <a:off x="8961120" y="3931920"/>
            <a:ext cx="2514600" cy="274320"/>
          </a:xfrm>
          <a:prstGeom prst="rect">
            <a:avLst/>
          </a:prstGeom>
          <a:noFill/>
          <a:ln/>
        </p:spPr>
        <p:txBody>
          <a:bodyPr wrap="square" lIns="0" tIns="0" rIns="0" bIns="0" rtlCol="0" anchor="ctr"/>
          <a:lstStyle/>
          <a:p>
            <a:pPr indent="0" marL="0">
              <a:buNone/>
            </a:pPr>
            <a:r>
              <a:rPr lang="en-US" sz="1200" b="1" dirty="0">
                <a:solidFill>
                  <a:srgbClr val="065F46"/>
                </a:solidFill>
                <a:latin typeface="Arial" pitchFamily="34" charset="0"/>
                <a:ea typeface="Arial" pitchFamily="34" charset="-122"/>
                <a:cs typeface="Arial" pitchFamily="34" charset="-120"/>
              </a:rPr>
              <a:t>Outbound matters too</a:t>
            </a:r>
            <a:endParaRPr lang="en-US" sz="1200" dirty="0"/>
          </a:p>
        </p:txBody>
      </p:sp>
      <p:sp>
        <p:nvSpPr>
          <p:cNvPr id="40" name="Text 38"/>
          <p:cNvSpPr/>
          <p:nvPr/>
        </p:nvSpPr>
        <p:spPr>
          <a:xfrm>
            <a:off x="8961120" y="4251960"/>
            <a:ext cx="2514600" cy="1097280"/>
          </a:xfrm>
          <a:prstGeom prst="rect">
            <a:avLst/>
          </a:prstGeom>
          <a:noFill/>
          <a:ln/>
        </p:spPr>
        <p:txBody>
          <a:bodyPr wrap="square" lIns="0" tIns="0" rIns="0" bIns="0" rtlCol="0" anchor="ctr"/>
          <a:lstStyle/>
          <a:p>
            <a:pPr indent="0" marL="0">
              <a:lnSpc>
                <a:spcPts val="1300"/>
              </a:lnSpc>
              <a:buNone/>
            </a:pPr>
            <a:r>
              <a:rPr lang="en-US" sz="1050" i="1" dirty="0">
                <a:solidFill>
                  <a:srgbClr val="1E293B"/>
                </a:solidFill>
                <a:latin typeface="Calibri" pitchFamily="34" charset="0"/>
                <a:ea typeface="Calibri" pitchFamily="34" charset="-122"/>
                <a:cs typeface="Calibri" pitchFamily="34" charset="-120"/>
              </a:rPr>
              <a:t>“SETU: FLOOD alert your area. Move to Govt HS Chatrapur, 1.2 km NE. Capacity available. Rescue team ETA 14 min.”</a:t>
            </a:r>
            <a:endParaRPr lang="en-US" sz="1050" dirty="0"/>
          </a:p>
        </p:txBody>
      </p:sp>
      <p:sp>
        <p:nvSpPr>
          <p:cNvPr id="41" name="Text 39"/>
          <p:cNvSpPr/>
          <p:nvPr/>
        </p:nvSpPr>
        <p:spPr>
          <a:xfrm>
            <a:off x="8961120" y="5440680"/>
            <a:ext cx="2514600" cy="274320"/>
          </a:xfrm>
          <a:prstGeom prst="rect">
            <a:avLst/>
          </a:prstGeom>
          <a:noFill/>
          <a:ln/>
        </p:spPr>
        <p:txBody>
          <a:bodyPr wrap="square" lIns="0" tIns="0" rIns="0" bIns="0" rtlCol="0" anchor="ctr"/>
          <a:lstStyle/>
          <a:p>
            <a:pPr indent="0" marL="0">
              <a:buNone/>
            </a:pPr>
            <a:r>
              <a:rPr lang="en-US" sz="1050" b="1" dirty="0">
                <a:solidFill>
                  <a:srgbClr val="059669"/>
                </a:solidFill>
                <a:latin typeface="Calibri" pitchFamily="34" charset="0"/>
                <a:ea typeface="Calibri" pitchFamily="34" charset="-122"/>
                <a:cs typeface="Calibri" pitchFamily="34" charset="-120"/>
              </a:rPr>
              <a:t>An instruction, not “stay safe”.</a:t>
            </a:r>
            <a:endParaRPr lang="en-US" sz="1050" dirty="0"/>
          </a:p>
        </p:txBody>
      </p:sp>
      <p:sp>
        <p:nvSpPr>
          <p:cNvPr id="42" name="Text 40"/>
          <p:cNvSpPr/>
          <p:nvPr/>
        </p:nvSpPr>
        <p:spPr>
          <a:xfrm>
            <a:off x="502920" y="6419088"/>
            <a:ext cx="11155680" cy="274320"/>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Honest scoping: an Indian inbound shortcode is not obtainable in hackathon time. We built the real webhook and parser behind a pluggable gateway, demonstrated on a Twilio trial number.</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02920" y="310896"/>
            <a:ext cx="640080" cy="457200"/>
          </a:xfrm>
          <a:prstGeom prst="rect">
            <a:avLst/>
          </a:prstGeom>
          <a:noFill/>
          <a:ln/>
        </p:spPr>
        <p:txBody>
          <a:bodyPr wrap="square" lIns="0" tIns="0" rIns="0" bIns="0" rtlCol="0" anchor="ctr"/>
          <a:lstStyle/>
          <a:p>
            <a:pPr algn="l" indent="0" marL="0">
              <a:buNone/>
            </a:pPr>
            <a:r>
              <a:rPr lang="en-US" sz="2600" b="1" dirty="0">
                <a:solidFill>
                  <a:srgbClr val="DC2626"/>
                </a:solidFill>
                <a:latin typeface="Arial" pitchFamily="34" charset="0"/>
                <a:ea typeface="Arial" pitchFamily="34" charset="-122"/>
                <a:cs typeface="Arial" pitchFamily="34" charset="-120"/>
              </a:rPr>
              <a:t>10</a:t>
            </a:r>
            <a:endParaRPr lang="en-US" sz="2600" dirty="0"/>
          </a:p>
        </p:txBody>
      </p:sp>
      <p:sp>
        <p:nvSpPr>
          <p:cNvPr id="3" name="Text 1"/>
          <p:cNvSpPr/>
          <p:nvPr/>
        </p:nvSpPr>
        <p:spPr>
          <a:xfrm>
            <a:off x="1143000" y="274320"/>
            <a:ext cx="8778240" cy="530352"/>
          </a:xfrm>
          <a:prstGeom prst="rect">
            <a:avLst/>
          </a:prstGeom>
          <a:noFill/>
          <a:ln/>
        </p:spPr>
        <p:txBody>
          <a:bodyPr wrap="square" lIns="0" tIns="0" rIns="0" bIns="0" rtlCol="0" anchor="ctr"/>
          <a:lstStyle/>
          <a:p>
            <a:pPr indent="0" marL="0">
              <a:buNone/>
            </a:pPr>
            <a:r>
              <a:rPr lang="en-US" sz="2800" b="1" dirty="0">
                <a:solidFill>
                  <a:srgbClr val="0F172A"/>
                </a:solidFill>
                <a:latin typeface="Arial" pitchFamily="34" charset="0"/>
                <a:ea typeface="Arial" pitchFamily="34" charset="-122"/>
                <a:cs typeface="Arial" pitchFamily="34" charset="-120"/>
              </a:rPr>
              <a:t>Impact and societal relevance</a:t>
            </a:r>
            <a:endParaRPr lang="en-US" sz="2800" dirty="0"/>
          </a:p>
        </p:txBody>
      </p:sp>
      <p:sp>
        <p:nvSpPr>
          <p:cNvPr id="4" name="Text 2"/>
          <p:cNvSpPr/>
          <p:nvPr/>
        </p:nvSpPr>
        <p:spPr>
          <a:xfrm>
            <a:off x="1161288" y="795528"/>
            <a:ext cx="10424160" cy="310896"/>
          </a:xfrm>
          <a:prstGeom prst="rect">
            <a:avLst/>
          </a:prstGeom>
          <a:noFill/>
          <a:ln/>
        </p:spPr>
        <p:txBody>
          <a:bodyPr wrap="square" lIns="0" tIns="0" rIns="0" bIns="0" rtlCol="0" anchor="t"/>
          <a:lstStyle/>
          <a:p>
            <a:pPr indent="0" marL="0">
              <a:buNone/>
            </a:pPr>
            <a:r>
              <a:rPr lang="en-US" sz="1300" i="1" dirty="0">
                <a:solidFill>
                  <a:srgbClr val="64748B"/>
                </a:solidFill>
                <a:latin typeface="Calibri" pitchFamily="34" charset="0"/>
                <a:ea typeface="Calibri" pitchFamily="34" charset="-122"/>
                <a:cs typeface="Calibri" pitchFamily="34" charset="-120"/>
              </a:rPr>
              <a:t>Scale of the problem, our measured contribution, and who benefits beyond the control room.</a:t>
            </a:r>
            <a:endParaRPr lang="en-US" sz="1300" dirty="0"/>
          </a:p>
        </p:txBody>
      </p:sp>
      <p:sp>
        <p:nvSpPr>
          <p:cNvPr id="5" name="Shape 3"/>
          <p:cNvSpPr/>
          <p:nvPr/>
        </p:nvSpPr>
        <p:spPr>
          <a:xfrm>
            <a:off x="502920" y="1298448"/>
            <a:ext cx="2679192" cy="1371600"/>
          </a:xfrm>
          <a:prstGeom prst="roundRect">
            <a:avLst>
              <a:gd name="adj" fmla="val 4000"/>
            </a:avLst>
          </a:prstGeom>
          <a:solidFill>
            <a:srgbClr val="0F172A"/>
          </a:solidFill>
          <a:ln w="12700">
            <a:solidFill>
              <a:srgbClr val="0F172A"/>
            </a:solidFill>
            <a:prstDash val="solid"/>
          </a:ln>
        </p:spPr>
      </p:sp>
      <p:sp>
        <p:nvSpPr>
          <p:cNvPr id="6" name="Text 4"/>
          <p:cNvSpPr/>
          <p:nvPr/>
        </p:nvSpPr>
        <p:spPr>
          <a:xfrm>
            <a:off x="685800" y="1444752"/>
            <a:ext cx="2331720" cy="457200"/>
          </a:xfrm>
          <a:prstGeom prst="rect">
            <a:avLst/>
          </a:prstGeom>
          <a:noFill/>
          <a:ln/>
        </p:spPr>
        <p:txBody>
          <a:bodyPr wrap="square" lIns="0" tIns="0" rIns="0" bIns="0" rtlCol="0" anchor="ctr"/>
          <a:lstStyle/>
          <a:p>
            <a:pPr indent="0" marL="0">
              <a:buNone/>
            </a:pPr>
            <a:r>
              <a:rPr lang="en-US" sz="2400" b="1" dirty="0">
                <a:solidFill>
                  <a:srgbClr val="F87171"/>
                </a:solidFill>
                <a:latin typeface="Arial" pitchFamily="34" charset="0"/>
                <a:ea typeface="Arial" pitchFamily="34" charset="-122"/>
                <a:cs typeface="Arial" pitchFamily="34" charset="-120"/>
              </a:rPr>
              <a:t>1,600</a:t>
            </a:r>
            <a:endParaRPr lang="en-US" sz="2400" dirty="0"/>
          </a:p>
        </p:txBody>
      </p:sp>
      <p:sp>
        <p:nvSpPr>
          <p:cNvPr id="7" name="Text 5"/>
          <p:cNvSpPr/>
          <p:nvPr/>
        </p:nvSpPr>
        <p:spPr>
          <a:xfrm>
            <a:off x="685800" y="1920240"/>
            <a:ext cx="2331720" cy="502920"/>
          </a:xfrm>
          <a:prstGeom prst="rect">
            <a:avLst/>
          </a:prstGeom>
          <a:noFill/>
          <a:ln/>
        </p:spPr>
        <p:txBody>
          <a:bodyPr wrap="square" lIns="0" tIns="0" rIns="0" bIns="0" rtlCol="0" anchor="ctr"/>
          <a:lstStyle/>
          <a:p>
            <a:pPr indent="0" marL="0">
              <a:lnSpc>
                <a:spcPts val="1300"/>
              </a:lnSpc>
              <a:buNone/>
            </a:pPr>
            <a:r>
              <a:rPr lang="en-US" sz="1050" dirty="0">
                <a:solidFill>
                  <a:srgbClr val="94A3B8"/>
                </a:solidFill>
                <a:latin typeface="Calibri" pitchFamily="34" charset="0"/>
                <a:ea typeface="Calibri" pitchFamily="34" charset="-122"/>
                <a:cs typeface="Calibri" pitchFamily="34" charset="-120"/>
              </a:rPr>
              <a:t>lives lost to floods each year</a:t>
            </a:r>
            <a:endParaRPr lang="en-US" sz="1050" dirty="0"/>
          </a:p>
        </p:txBody>
      </p:sp>
      <p:sp>
        <p:nvSpPr>
          <p:cNvPr id="8" name="Text 6"/>
          <p:cNvSpPr/>
          <p:nvPr/>
        </p:nvSpPr>
        <p:spPr>
          <a:xfrm>
            <a:off x="685800" y="2404872"/>
            <a:ext cx="2331720" cy="228600"/>
          </a:xfrm>
          <a:prstGeom prst="rect">
            <a:avLst/>
          </a:prstGeom>
          <a:noFill/>
          <a:ln/>
        </p:spPr>
        <p:txBody>
          <a:bodyPr wrap="square" lIns="0" tIns="0" rIns="0" bIns="0" rtlCol="0" anchor="ctr"/>
          <a:lstStyle/>
          <a:p>
            <a:pPr indent="0" marL="0">
              <a:buNone/>
            </a:pPr>
            <a:r>
              <a:rPr lang="en-US" sz="900" i="1" dirty="0">
                <a:solidFill>
                  <a:srgbClr val="64748B"/>
                </a:solidFill>
                <a:latin typeface="Calibri" pitchFamily="34" charset="0"/>
                <a:ea typeface="Calibri" pitchFamily="34" charset="-122"/>
                <a:cs typeface="Calibri" pitchFamily="34" charset="-120"/>
              </a:rPr>
              <a:t>NDMA</a:t>
            </a:r>
            <a:endParaRPr lang="en-US" sz="900" dirty="0"/>
          </a:p>
        </p:txBody>
      </p:sp>
      <p:sp>
        <p:nvSpPr>
          <p:cNvPr id="9" name="Shape 7"/>
          <p:cNvSpPr/>
          <p:nvPr/>
        </p:nvSpPr>
        <p:spPr>
          <a:xfrm>
            <a:off x="3364992" y="1298448"/>
            <a:ext cx="2679192" cy="1371600"/>
          </a:xfrm>
          <a:prstGeom prst="roundRect">
            <a:avLst>
              <a:gd name="adj" fmla="val 4000"/>
            </a:avLst>
          </a:prstGeom>
          <a:solidFill>
            <a:srgbClr val="0F172A"/>
          </a:solidFill>
          <a:ln w="12700">
            <a:solidFill>
              <a:srgbClr val="0F172A"/>
            </a:solidFill>
            <a:prstDash val="solid"/>
          </a:ln>
        </p:spPr>
      </p:sp>
      <p:sp>
        <p:nvSpPr>
          <p:cNvPr id="10" name="Text 8"/>
          <p:cNvSpPr/>
          <p:nvPr/>
        </p:nvSpPr>
        <p:spPr>
          <a:xfrm>
            <a:off x="3547872" y="1444752"/>
            <a:ext cx="2331720" cy="457200"/>
          </a:xfrm>
          <a:prstGeom prst="rect">
            <a:avLst/>
          </a:prstGeom>
          <a:noFill/>
          <a:ln/>
        </p:spPr>
        <p:txBody>
          <a:bodyPr wrap="square" lIns="0" tIns="0" rIns="0" bIns="0" rtlCol="0" anchor="ctr"/>
          <a:lstStyle/>
          <a:p>
            <a:pPr indent="0" marL="0">
              <a:buNone/>
            </a:pPr>
            <a:r>
              <a:rPr lang="en-US" sz="2400" b="1" dirty="0">
                <a:solidFill>
                  <a:srgbClr val="F87171"/>
                </a:solidFill>
                <a:latin typeface="Arial" pitchFamily="34" charset="0"/>
                <a:ea typeface="Arial" pitchFamily="34" charset="-122"/>
                <a:cs typeface="Arial" pitchFamily="34" charset="-120"/>
              </a:rPr>
              <a:t>7.5 M ha</a:t>
            </a:r>
            <a:endParaRPr lang="en-US" sz="2400" dirty="0"/>
          </a:p>
        </p:txBody>
      </p:sp>
      <p:sp>
        <p:nvSpPr>
          <p:cNvPr id="11" name="Text 9"/>
          <p:cNvSpPr/>
          <p:nvPr/>
        </p:nvSpPr>
        <p:spPr>
          <a:xfrm>
            <a:off x="3547872" y="1920240"/>
            <a:ext cx="2331720" cy="502920"/>
          </a:xfrm>
          <a:prstGeom prst="rect">
            <a:avLst/>
          </a:prstGeom>
          <a:noFill/>
          <a:ln/>
        </p:spPr>
        <p:txBody>
          <a:bodyPr wrap="square" lIns="0" tIns="0" rIns="0" bIns="0" rtlCol="0" anchor="ctr"/>
          <a:lstStyle/>
          <a:p>
            <a:pPr indent="0" marL="0">
              <a:lnSpc>
                <a:spcPts val="1300"/>
              </a:lnSpc>
              <a:buNone/>
            </a:pPr>
            <a:r>
              <a:rPr lang="en-US" sz="1050" dirty="0">
                <a:solidFill>
                  <a:srgbClr val="94A3B8"/>
                </a:solidFill>
                <a:latin typeface="Calibri" pitchFamily="34" charset="0"/>
                <a:ea typeface="Calibri" pitchFamily="34" charset="-122"/>
                <a:cs typeface="Calibri" pitchFamily="34" charset="-120"/>
              </a:rPr>
              <a:t>land affected annually</a:t>
            </a:r>
            <a:endParaRPr lang="en-US" sz="1050" dirty="0"/>
          </a:p>
        </p:txBody>
      </p:sp>
      <p:sp>
        <p:nvSpPr>
          <p:cNvPr id="12" name="Text 10"/>
          <p:cNvSpPr/>
          <p:nvPr/>
        </p:nvSpPr>
        <p:spPr>
          <a:xfrm>
            <a:off x="3547872" y="2404872"/>
            <a:ext cx="2331720" cy="228600"/>
          </a:xfrm>
          <a:prstGeom prst="rect">
            <a:avLst/>
          </a:prstGeom>
          <a:noFill/>
          <a:ln/>
        </p:spPr>
        <p:txBody>
          <a:bodyPr wrap="square" lIns="0" tIns="0" rIns="0" bIns="0" rtlCol="0" anchor="ctr"/>
          <a:lstStyle/>
          <a:p>
            <a:pPr indent="0" marL="0">
              <a:buNone/>
            </a:pPr>
            <a:r>
              <a:rPr lang="en-US" sz="900" i="1" dirty="0">
                <a:solidFill>
                  <a:srgbClr val="64748B"/>
                </a:solidFill>
                <a:latin typeface="Calibri" pitchFamily="34" charset="0"/>
                <a:ea typeface="Calibri" pitchFamily="34" charset="-122"/>
                <a:cs typeface="Calibri" pitchFamily="34" charset="-120"/>
              </a:rPr>
              <a:t>NDMA</a:t>
            </a:r>
            <a:endParaRPr lang="en-US" sz="900" dirty="0"/>
          </a:p>
        </p:txBody>
      </p:sp>
      <p:sp>
        <p:nvSpPr>
          <p:cNvPr id="13" name="Shape 11"/>
          <p:cNvSpPr/>
          <p:nvPr/>
        </p:nvSpPr>
        <p:spPr>
          <a:xfrm>
            <a:off x="6227064" y="1298448"/>
            <a:ext cx="2679192" cy="1371600"/>
          </a:xfrm>
          <a:prstGeom prst="roundRect">
            <a:avLst>
              <a:gd name="adj" fmla="val 4000"/>
            </a:avLst>
          </a:prstGeom>
          <a:solidFill>
            <a:srgbClr val="0F172A"/>
          </a:solidFill>
          <a:ln w="12700">
            <a:solidFill>
              <a:srgbClr val="0F172A"/>
            </a:solidFill>
            <a:prstDash val="solid"/>
          </a:ln>
        </p:spPr>
      </p:sp>
      <p:sp>
        <p:nvSpPr>
          <p:cNvPr id="14" name="Text 12"/>
          <p:cNvSpPr/>
          <p:nvPr/>
        </p:nvSpPr>
        <p:spPr>
          <a:xfrm>
            <a:off x="6409944" y="1444752"/>
            <a:ext cx="2331720" cy="457200"/>
          </a:xfrm>
          <a:prstGeom prst="rect">
            <a:avLst/>
          </a:prstGeom>
          <a:noFill/>
          <a:ln/>
        </p:spPr>
        <p:txBody>
          <a:bodyPr wrap="square" lIns="0" tIns="0" rIns="0" bIns="0" rtlCol="0" anchor="ctr"/>
          <a:lstStyle/>
          <a:p>
            <a:pPr indent="0" marL="0">
              <a:buNone/>
            </a:pPr>
            <a:r>
              <a:rPr lang="en-US" sz="2400" b="1" dirty="0">
                <a:solidFill>
                  <a:srgbClr val="F87171"/>
                </a:solidFill>
                <a:latin typeface="Arial" pitchFamily="34" charset="0"/>
                <a:ea typeface="Arial" pitchFamily="34" charset="-122"/>
                <a:cs typeface="Arial" pitchFamily="34" charset="-120"/>
              </a:rPr>
              <a:t>USD 7.4 bn</a:t>
            </a:r>
            <a:endParaRPr lang="en-US" sz="2400" dirty="0"/>
          </a:p>
        </p:txBody>
      </p:sp>
      <p:sp>
        <p:nvSpPr>
          <p:cNvPr id="15" name="Text 13"/>
          <p:cNvSpPr/>
          <p:nvPr/>
        </p:nvSpPr>
        <p:spPr>
          <a:xfrm>
            <a:off x="6409944" y="1920240"/>
            <a:ext cx="2331720" cy="502920"/>
          </a:xfrm>
          <a:prstGeom prst="rect">
            <a:avLst/>
          </a:prstGeom>
          <a:noFill/>
          <a:ln/>
        </p:spPr>
        <p:txBody>
          <a:bodyPr wrap="square" lIns="0" tIns="0" rIns="0" bIns="0" rtlCol="0" anchor="ctr"/>
          <a:lstStyle/>
          <a:p>
            <a:pPr indent="0" marL="0">
              <a:lnSpc>
                <a:spcPts val="1300"/>
              </a:lnSpc>
              <a:buNone/>
            </a:pPr>
            <a:r>
              <a:rPr lang="en-US" sz="1050" dirty="0">
                <a:solidFill>
                  <a:srgbClr val="94A3B8"/>
                </a:solidFill>
                <a:latin typeface="Calibri" pitchFamily="34" charset="0"/>
                <a:ea typeface="Calibri" pitchFamily="34" charset="-122"/>
                <a:cs typeface="Calibri" pitchFamily="34" charset="-120"/>
              </a:rPr>
              <a:t>average annual flood loss</a:t>
            </a:r>
            <a:endParaRPr lang="en-US" sz="1050" dirty="0"/>
          </a:p>
        </p:txBody>
      </p:sp>
      <p:sp>
        <p:nvSpPr>
          <p:cNvPr id="16" name="Text 14"/>
          <p:cNvSpPr/>
          <p:nvPr/>
        </p:nvSpPr>
        <p:spPr>
          <a:xfrm>
            <a:off x="6409944" y="2404872"/>
            <a:ext cx="2331720" cy="228600"/>
          </a:xfrm>
          <a:prstGeom prst="rect">
            <a:avLst/>
          </a:prstGeom>
          <a:noFill/>
          <a:ln/>
        </p:spPr>
        <p:txBody>
          <a:bodyPr wrap="square" lIns="0" tIns="0" rIns="0" bIns="0" rtlCol="0" anchor="ctr"/>
          <a:lstStyle/>
          <a:p>
            <a:pPr indent="0" marL="0">
              <a:buNone/>
            </a:pPr>
            <a:r>
              <a:rPr lang="en-US" sz="900" i="1" dirty="0">
                <a:solidFill>
                  <a:srgbClr val="64748B"/>
                </a:solidFill>
                <a:latin typeface="Calibri" pitchFamily="34" charset="0"/>
                <a:ea typeface="Calibri" pitchFamily="34" charset="-122"/>
                <a:cs typeface="Calibri" pitchFamily="34" charset="-120"/>
              </a:rPr>
              <a:t>UNISDR GAR</a:t>
            </a:r>
            <a:endParaRPr lang="en-US" sz="900" dirty="0"/>
          </a:p>
        </p:txBody>
      </p:sp>
      <p:sp>
        <p:nvSpPr>
          <p:cNvPr id="17" name="Shape 15"/>
          <p:cNvSpPr/>
          <p:nvPr/>
        </p:nvSpPr>
        <p:spPr>
          <a:xfrm>
            <a:off x="9089136" y="1298448"/>
            <a:ext cx="2679192" cy="1371600"/>
          </a:xfrm>
          <a:prstGeom prst="roundRect">
            <a:avLst>
              <a:gd name="adj" fmla="val 4000"/>
            </a:avLst>
          </a:prstGeom>
          <a:solidFill>
            <a:srgbClr val="0F172A"/>
          </a:solidFill>
          <a:ln w="12700">
            <a:solidFill>
              <a:srgbClr val="0F172A"/>
            </a:solidFill>
            <a:prstDash val="solid"/>
          </a:ln>
        </p:spPr>
      </p:sp>
      <p:sp>
        <p:nvSpPr>
          <p:cNvPr id="18" name="Text 16"/>
          <p:cNvSpPr/>
          <p:nvPr/>
        </p:nvSpPr>
        <p:spPr>
          <a:xfrm>
            <a:off x="9272016" y="1444752"/>
            <a:ext cx="2331720" cy="457200"/>
          </a:xfrm>
          <a:prstGeom prst="rect">
            <a:avLst/>
          </a:prstGeom>
          <a:noFill/>
          <a:ln/>
        </p:spPr>
        <p:txBody>
          <a:bodyPr wrap="square" lIns="0" tIns="0" rIns="0" bIns="0" rtlCol="0" anchor="ctr"/>
          <a:lstStyle/>
          <a:p>
            <a:pPr indent="0" marL="0">
              <a:buNone/>
            </a:pPr>
            <a:r>
              <a:rPr lang="en-US" sz="2400" b="1" dirty="0">
                <a:solidFill>
                  <a:srgbClr val="F87171"/>
                </a:solidFill>
                <a:latin typeface="Arial" pitchFamily="34" charset="0"/>
                <a:ea typeface="Arial" pitchFamily="34" charset="-122"/>
                <a:cs typeface="Arial" pitchFamily="34" charset="-120"/>
              </a:rPr>
              <a:t>5.4 M</a:t>
            </a:r>
            <a:endParaRPr lang="en-US" sz="2400" dirty="0"/>
          </a:p>
        </p:txBody>
      </p:sp>
      <p:sp>
        <p:nvSpPr>
          <p:cNvPr id="19" name="Text 17"/>
          <p:cNvSpPr/>
          <p:nvPr/>
        </p:nvSpPr>
        <p:spPr>
          <a:xfrm>
            <a:off x="9272016" y="1920240"/>
            <a:ext cx="2331720" cy="502920"/>
          </a:xfrm>
          <a:prstGeom prst="rect">
            <a:avLst/>
          </a:prstGeom>
          <a:noFill/>
          <a:ln/>
        </p:spPr>
        <p:txBody>
          <a:bodyPr wrap="square" lIns="0" tIns="0" rIns="0" bIns="0" rtlCol="0" anchor="ctr"/>
          <a:lstStyle/>
          <a:p>
            <a:pPr indent="0" marL="0">
              <a:lnSpc>
                <a:spcPts val="1300"/>
              </a:lnSpc>
              <a:buNone/>
            </a:pPr>
            <a:r>
              <a:rPr lang="en-US" sz="1050" dirty="0">
                <a:solidFill>
                  <a:srgbClr val="94A3B8"/>
                </a:solidFill>
                <a:latin typeface="Calibri" pitchFamily="34" charset="0"/>
                <a:ea typeface="Calibri" pitchFamily="34" charset="-122"/>
                <a:cs typeface="Calibri" pitchFamily="34" charset="-120"/>
              </a:rPr>
              <a:t>people displaced by floods in 2020</a:t>
            </a:r>
            <a:endParaRPr lang="en-US" sz="1050" dirty="0"/>
          </a:p>
        </p:txBody>
      </p:sp>
      <p:sp>
        <p:nvSpPr>
          <p:cNvPr id="20" name="Text 18"/>
          <p:cNvSpPr/>
          <p:nvPr/>
        </p:nvSpPr>
        <p:spPr>
          <a:xfrm>
            <a:off x="9272016" y="2404872"/>
            <a:ext cx="2331720" cy="228600"/>
          </a:xfrm>
          <a:prstGeom prst="rect">
            <a:avLst/>
          </a:prstGeom>
          <a:noFill/>
          <a:ln/>
        </p:spPr>
        <p:txBody>
          <a:bodyPr wrap="square" lIns="0" tIns="0" rIns="0" bIns="0" rtlCol="0" anchor="ctr"/>
          <a:lstStyle/>
          <a:p>
            <a:pPr indent="0" marL="0">
              <a:buNone/>
            </a:pPr>
            <a:r>
              <a:rPr lang="en-US" sz="900" i="1" dirty="0">
                <a:solidFill>
                  <a:srgbClr val="64748B"/>
                </a:solidFill>
                <a:latin typeface="Calibri" pitchFamily="34" charset="0"/>
                <a:ea typeface="Calibri" pitchFamily="34" charset="-122"/>
                <a:cs typeface="Calibri" pitchFamily="34" charset="-120"/>
              </a:rPr>
              <a:t>IDMC</a:t>
            </a:r>
            <a:endParaRPr lang="en-US" sz="900" dirty="0"/>
          </a:p>
        </p:txBody>
      </p:sp>
      <p:sp>
        <p:nvSpPr>
          <p:cNvPr id="21" name="Shape 19"/>
          <p:cNvSpPr/>
          <p:nvPr/>
        </p:nvSpPr>
        <p:spPr>
          <a:xfrm>
            <a:off x="502920" y="2880360"/>
            <a:ext cx="5486400" cy="1508760"/>
          </a:xfrm>
          <a:prstGeom prst="roundRect">
            <a:avLst>
              <a:gd name="adj" fmla="val 3636"/>
            </a:avLst>
          </a:prstGeom>
          <a:solidFill>
            <a:srgbClr val="FEF2F2"/>
          </a:solidFill>
          <a:ln w="19050">
            <a:solidFill>
              <a:srgbClr val="DC2626"/>
            </a:solidFill>
            <a:prstDash val="solid"/>
          </a:ln>
        </p:spPr>
      </p:sp>
      <p:sp>
        <p:nvSpPr>
          <p:cNvPr id="22" name="Text 20"/>
          <p:cNvSpPr/>
          <p:nvPr/>
        </p:nvSpPr>
        <p:spPr>
          <a:xfrm>
            <a:off x="731520" y="3017520"/>
            <a:ext cx="5029200" cy="274320"/>
          </a:xfrm>
          <a:prstGeom prst="rect">
            <a:avLst/>
          </a:prstGeom>
          <a:noFill/>
          <a:ln/>
        </p:spPr>
        <p:txBody>
          <a:bodyPr wrap="square" lIns="0" tIns="0" rIns="0" bIns="0" rtlCol="0" anchor="ctr"/>
          <a:lstStyle/>
          <a:p>
            <a:pPr indent="0" marL="0">
              <a:buNone/>
            </a:pPr>
            <a:r>
              <a:rPr lang="en-US" sz="1300" b="1" dirty="0">
                <a:solidFill>
                  <a:srgbClr val="DC2626"/>
                </a:solidFill>
                <a:latin typeface="Arial" pitchFamily="34" charset="0"/>
                <a:ea typeface="Arial" pitchFamily="34" charset="-122"/>
                <a:cs typeface="Arial" pitchFamily="34" charset="-120"/>
              </a:rPr>
              <a:t>Our own measured contribution</a:t>
            </a:r>
            <a:endParaRPr lang="en-US" sz="1300" dirty="0"/>
          </a:p>
        </p:txBody>
      </p:sp>
      <p:sp>
        <p:nvSpPr>
          <p:cNvPr id="23" name="Text 21"/>
          <p:cNvSpPr/>
          <p:nvPr/>
        </p:nvSpPr>
        <p:spPr>
          <a:xfrm>
            <a:off x="731520" y="3310128"/>
            <a:ext cx="5029200" cy="960120"/>
          </a:xfrm>
          <a:prstGeom prst="rect">
            <a:avLst/>
          </a:prstGeom>
          <a:noFill/>
          <a:ln/>
        </p:spPr>
        <p:txBody>
          <a:bodyPr wrap="square" lIns="0" tIns="0" rIns="0" bIns="0" rtlCol="0" anchor="ctr"/>
          <a:lstStyle/>
          <a:p>
            <a:pPr indent="0" marL="0">
              <a:lnSpc>
                <a:spcPts val="1400"/>
              </a:lnSpc>
              <a:buNone/>
            </a:pPr>
            <a:r>
              <a:rPr lang="en-US" sz="1100" dirty="0">
                <a:solidFill>
                  <a:srgbClr val="1E293B"/>
                </a:solidFill>
                <a:latin typeface="Calibri" pitchFamily="34" charset="0"/>
                <a:ea typeface="Calibri" pitchFamily="34" charset="-122"/>
                <a:cs typeface="Calibri" pitchFamily="34" charset="-120"/>
              </a:rPr>
              <a:t>On a 200-report, 14-incident district simulation, optimised dispatch cut mean response from 34 to 21 minutes and worst case from 91 to 34.</a:t>
            </a:r>
            <a:endParaRPr lang="en-US" sz="1100" dirty="0"/>
          </a:p>
          <a:p>
            <a:pPr indent="0" marL="0">
              <a:lnSpc>
                <a:spcPts val="1400"/>
              </a:lnSpc>
              <a:buNone/>
            </a:pPr>
            <a:endParaRPr lang="en-US" sz="1100" dirty="0"/>
          </a:p>
          <a:p>
            <a:pPr indent="0" marL="0">
              <a:lnSpc>
                <a:spcPts val="1400"/>
              </a:lnSpc>
              <a:buNone/>
            </a:pPr>
            <a:r>
              <a:rPr lang="en-US" sz="1100" dirty="0">
                <a:solidFill>
                  <a:srgbClr val="1E293B"/>
                </a:solidFill>
                <a:latin typeface="Calibri" pitchFamily="34" charset="0"/>
                <a:ea typeface="Calibri" pitchFamily="34" charset="-122"/>
                <a:cs typeface="Calibri" pitchFamily="34" charset="-120"/>
              </a:rPr>
              <a:t>Unlike a claimed benefit, this number is computed by the running system.</a:t>
            </a:r>
            <a:endParaRPr lang="en-US" sz="1100" dirty="0"/>
          </a:p>
        </p:txBody>
      </p:sp>
      <p:sp>
        <p:nvSpPr>
          <p:cNvPr id="24" name="Shape 22"/>
          <p:cNvSpPr/>
          <p:nvPr/>
        </p:nvSpPr>
        <p:spPr>
          <a:xfrm>
            <a:off x="6172200" y="2880360"/>
            <a:ext cx="5486400" cy="1508760"/>
          </a:xfrm>
          <a:prstGeom prst="roundRect">
            <a:avLst>
              <a:gd name="adj" fmla="val 3636"/>
            </a:avLst>
          </a:prstGeom>
          <a:solidFill>
            <a:srgbClr val="FFFFFF"/>
          </a:solidFill>
          <a:ln w="12700">
            <a:solidFill>
              <a:srgbClr val="CBD5E1"/>
            </a:solidFill>
            <a:prstDash val="solid"/>
          </a:ln>
        </p:spPr>
      </p:sp>
      <p:sp>
        <p:nvSpPr>
          <p:cNvPr id="25" name="Text 23"/>
          <p:cNvSpPr/>
          <p:nvPr/>
        </p:nvSpPr>
        <p:spPr>
          <a:xfrm>
            <a:off x="6400800" y="3017520"/>
            <a:ext cx="5029200" cy="274320"/>
          </a:xfrm>
          <a:prstGeom prst="rect">
            <a:avLst/>
          </a:prstGeom>
          <a:noFill/>
          <a:ln/>
        </p:spPr>
        <p:txBody>
          <a:bodyPr wrap="square" lIns="0" tIns="0" rIns="0" bIns="0" rtlCol="0" anchor="ctr"/>
          <a:lstStyle/>
          <a:p>
            <a:pPr indent="0" marL="0">
              <a:buNone/>
            </a:pPr>
            <a:r>
              <a:rPr lang="en-US" sz="1300" b="1" dirty="0">
                <a:solidFill>
                  <a:srgbClr val="0F172A"/>
                </a:solidFill>
                <a:latin typeface="Arial" pitchFamily="34" charset="0"/>
                <a:ea typeface="Arial" pitchFamily="34" charset="-122"/>
                <a:cs typeface="Arial" pitchFamily="34" charset="-120"/>
              </a:rPr>
              <a:t>The equity argument</a:t>
            </a:r>
            <a:endParaRPr lang="en-US" sz="1300" dirty="0"/>
          </a:p>
        </p:txBody>
      </p:sp>
      <p:sp>
        <p:nvSpPr>
          <p:cNvPr id="26" name="Text 24"/>
          <p:cNvSpPr/>
          <p:nvPr/>
        </p:nvSpPr>
        <p:spPr>
          <a:xfrm>
            <a:off x="6400800" y="3310128"/>
            <a:ext cx="5029200" cy="960120"/>
          </a:xfrm>
          <a:prstGeom prst="rect">
            <a:avLst/>
          </a:prstGeom>
          <a:noFill/>
          <a:ln/>
        </p:spPr>
        <p:txBody>
          <a:bodyPr wrap="square" lIns="0" tIns="0" rIns="0" bIns="0" rtlCol="0" anchor="ctr"/>
          <a:lstStyle/>
          <a:p>
            <a:pPr indent="0" marL="0">
              <a:lnSpc>
                <a:spcPts val="1400"/>
              </a:lnSpc>
              <a:buNone/>
            </a:pPr>
            <a:r>
              <a:rPr lang="en-US" sz="1100" dirty="0">
                <a:solidFill>
                  <a:srgbClr val="1E293B"/>
                </a:solidFill>
                <a:latin typeface="Calibri" pitchFamily="34" charset="0"/>
                <a:ea typeface="Calibri" pitchFamily="34" charset="-122"/>
                <a:cs typeface="Calibri" pitchFamily="34" charset="-120"/>
              </a:rPr>
              <a:t>Severity is weighted by exposed population, not by call volume. Because report volume tracks connectivity rather than need, this structurally corrects the bias where relief follows media attention and mobile density — which disproportionately helps the most remote wards.</a:t>
            </a:r>
            <a:endParaRPr lang="en-US" sz="1100" dirty="0"/>
          </a:p>
        </p:txBody>
      </p:sp>
      <p:sp>
        <p:nvSpPr>
          <p:cNvPr id="27" name="Text 25"/>
          <p:cNvSpPr/>
          <p:nvPr/>
        </p:nvSpPr>
        <p:spPr>
          <a:xfrm>
            <a:off x="502920" y="4572000"/>
            <a:ext cx="11155680" cy="274320"/>
          </a:xfrm>
          <a:prstGeom prst="rect">
            <a:avLst/>
          </a:prstGeom>
          <a:noFill/>
          <a:ln/>
        </p:spPr>
        <p:txBody>
          <a:bodyPr wrap="square" lIns="0" tIns="0" rIns="0" bIns="0" rtlCol="0" anchor="ctr"/>
          <a:lstStyle/>
          <a:p>
            <a:pPr indent="0" marL="0">
              <a:buNone/>
            </a:pPr>
            <a:r>
              <a:rPr lang="en-US" sz="1400" b="1" dirty="0">
                <a:solidFill>
                  <a:srgbClr val="0F172A"/>
                </a:solidFill>
                <a:latin typeface="Arial" pitchFamily="34" charset="0"/>
                <a:ea typeface="Arial" pitchFamily="34" charset="-122"/>
                <a:cs typeface="Arial" pitchFamily="34" charset="-120"/>
              </a:rPr>
              <a:t>Who benefits beyond the DEOC</a:t>
            </a:r>
            <a:endParaRPr lang="en-US" sz="1400" dirty="0"/>
          </a:p>
        </p:txBody>
      </p:sp>
      <p:sp>
        <p:nvSpPr>
          <p:cNvPr id="28" name="Shape 26"/>
          <p:cNvSpPr/>
          <p:nvPr/>
        </p:nvSpPr>
        <p:spPr>
          <a:xfrm>
            <a:off x="502920" y="4892040"/>
            <a:ext cx="3566160" cy="1234440"/>
          </a:xfrm>
          <a:prstGeom prst="roundRect">
            <a:avLst>
              <a:gd name="adj" fmla="val 4444"/>
            </a:avLst>
          </a:prstGeom>
          <a:solidFill>
            <a:srgbClr val="FFFFFF"/>
          </a:solidFill>
          <a:ln w="12700">
            <a:solidFill>
              <a:srgbClr val="CBD5E1"/>
            </a:solidFill>
            <a:prstDash val="solid"/>
          </a:ln>
        </p:spPr>
      </p:sp>
      <p:sp>
        <p:nvSpPr>
          <p:cNvPr id="29" name="Shape 27"/>
          <p:cNvSpPr/>
          <p:nvPr/>
        </p:nvSpPr>
        <p:spPr>
          <a:xfrm>
            <a:off x="685800" y="5029200"/>
            <a:ext cx="256032" cy="256032"/>
          </a:xfrm>
          <a:prstGeom prst="ellipse">
            <a:avLst/>
          </a:prstGeom>
          <a:solidFill>
            <a:srgbClr val="059669"/>
          </a:solidFill>
          <a:ln/>
        </p:spPr>
      </p:sp>
      <p:sp>
        <p:nvSpPr>
          <p:cNvPr id="30" name="Text 28"/>
          <p:cNvSpPr/>
          <p:nvPr/>
        </p:nvSpPr>
        <p:spPr>
          <a:xfrm>
            <a:off x="1051560" y="5010912"/>
            <a:ext cx="2834640" cy="274320"/>
          </a:xfrm>
          <a:prstGeom prst="rect">
            <a:avLst/>
          </a:prstGeom>
          <a:noFill/>
          <a:ln/>
        </p:spPr>
        <p:txBody>
          <a:bodyPr wrap="square" lIns="0" tIns="0" rIns="0" bIns="0" rtlCol="0" anchor="ctr"/>
          <a:lstStyle/>
          <a:p>
            <a:pPr indent="0" marL="0">
              <a:buNone/>
            </a:pPr>
            <a:r>
              <a:rPr lang="en-US" sz="1150" b="1" dirty="0">
                <a:solidFill>
                  <a:srgbClr val="0F172A"/>
                </a:solidFill>
                <a:latin typeface="Arial" pitchFamily="34" charset="0"/>
                <a:ea typeface="Arial" pitchFamily="34" charset="-122"/>
                <a:cs typeface="Arial" pitchFamily="34" charset="-120"/>
              </a:rPr>
              <a:t>Volunteers and NGOs</a:t>
            </a:r>
            <a:endParaRPr lang="en-US" sz="1150" dirty="0"/>
          </a:p>
        </p:txBody>
      </p:sp>
      <p:sp>
        <p:nvSpPr>
          <p:cNvPr id="31" name="Text 29"/>
          <p:cNvSpPr/>
          <p:nvPr/>
        </p:nvSpPr>
        <p:spPr>
          <a:xfrm>
            <a:off x="685800" y="5349240"/>
            <a:ext cx="3200400" cy="685800"/>
          </a:xfrm>
          <a:prstGeom prst="rect">
            <a:avLst/>
          </a:prstGeom>
          <a:noFill/>
          <a:ln/>
        </p:spPr>
        <p:txBody>
          <a:bodyPr wrap="square" lIns="0" tIns="0" rIns="0" bIns="0" rtlCol="0" anchor="ctr"/>
          <a:lstStyle/>
          <a:p>
            <a:pPr indent="0" marL="0">
              <a:lnSpc>
                <a:spcPts val="1200"/>
              </a:lnSpc>
              <a:buNone/>
            </a:pPr>
            <a:r>
              <a:rPr lang="en-US" sz="1000" dirty="0">
                <a:solidFill>
                  <a:srgbClr val="1E293B"/>
                </a:solidFill>
                <a:latin typeface="Calibri" pitchFamily="34" charset="0"/>
                <a:ea typeface="Calibri" pitchFamily="34" charset="-122"/>
                <a:cs typeface="Calibri" pitchFamily="34" charset="-120"/>
              </a:rPr>
              <a:t>Tasked by the same optimizer instead of duplicating relief in the same three accessible villages</a:t>
            </a:r>
            <a:endParaRPr lang="en-US" sz="1000" dirty="0"/>
          </a:p>
        </p:txBody>
      </p:sp>
      <p:sp>
        <p:nvSpPr>
          <p:cNvPr id="32" name="Shape 30"/>
          <p:cNvSpPr/>
          <p:nvPr/>
        </p:nvSpPr>
        <p:spPr>
          <a:xfrm>
            <a:off x="4315968" y="4892040"/>
            <a:ext cx="3566160" cy="1234440"/>
          </a:xfrm>
          <a:prstGeom prst="roundRect">
            <a:avLst>
              <a:gd name="adj" fmla="val 4444"/>
            </a:avLst>
          </a:prstGeom>
          <a:solidFill>
            <a:srgbClr val="FFFFFF"/>
          </a:solidFill>
          <a:ln w="12700">
            <a:solidFill>
              <a:srgbClr val="CBD5E1"/>
            </a:solidFill>
            <a:prstDash val="solid"/>
          </a:ln>
        </p:spPr>
      </p:sp>
      <p:sp>
        <p:nvSpPr>
          <p:cNvPr id="33" name="Shape 31"/>
          <p:cNvSpPr/>
          <p:nvPr/>
        </p:nvSpPr>
        <p:spPr>
          <a:xfrm>
            <a:off x="4498848" y="5029200"/>
            <a:ext cx="256032" cy="256032"/>
          </a:xfrm>
          <a:prstGeom prst="ellipse">
            <a:avLst/>
          </a:prstGeom>
          <a:solidFill>
            <a:srgbClr val="059669"/>
          </a:solidFill>
          <a:ln/>
        </p:spPr>
      </p:sp>
      <p:sp>
        <p:nvSpPr>
          <p:cNvPr id="34" name="Text 32"/>
          <p:cNvSpPr/>
          <p:nvPr/>
        </p:nvSpPr>
        <p:spPr>
          <a:xfrm>
            <a:off x="4864608" y="5010912"/>
            <a:ext cx="2834640" cy="274320"/>
          </a:xfrm>
          <a:prstGeom prst="rect">
            <a:avLst/>
          </a:prstGeom>
          <a:noFill/>
          <a:ln/>
        </p:spPr>
        <p:txBody>
          <a:bodyPr wrap="square" lIns="0" tIns="0" rIns="0" bIns="0" rtlCol="0" anchor="ctr"/>
          <a:lstStyle/>
          <a:p>
            <a:pPr indent="0" marL="0">
              <a:buNone/>
            </a:pPr>
            <a:r>
              <a:rPr lang="en-US" sz="1150" b="1" dirty="0">
                <a:solidFill>
                  <a:srgbClr val="0F172A"/>
                </a:solidFill>
                <a:latin typeface="Arial" pitchFamily="34" charset="0"/>
                <a:ea typeface="Arial" pitchFamily="34" charset="-122"/>
                <a:cs typeface="Arial" pitchFamily="34" charset="-120"/>
              </a:rPr>
              <a:t>Citizens</a:t>
            </a:r>
            <a:endParaRPr lang="en-US" sz="1150" dirty="0"/>
          </a:p>
        </p:txBody>
      </p:sp>
      <p:sp>
        <p:nvSpPr>
          <p:cNvPr id="35" name="Text 33"/>
          <p:cNvSpPr/>
          <p:nvPr/>
        </p:nvSpPr>
        <p:spPr>
          <a:xfrm>
            <a:off x="4498848" y="5349240"/>
            <a:ext cx="3200400" cy="685800"/>
          </a:xfrm>
          <a:prstGeom prst="rect">
            <a:avLst/>
          </a:prstGeom>
          <a:noFill/>
          <a:ln/>
        </p:spPr>
        <p:txBody>
          <a:bodyPr wrap="square" lIns="0" tIns="0" rIns="0" bIns="0" rtlCol="0" anchor="ctr"/>
          <a:lstStyle/>
          <a:p>
            <a:pPr indent="0" marL="0">
              <a:lnSpc>
                <a:spcPts val="1200"/>
              </a:lnSpc>
              <a:buNone/>
            </a:pPr>
            <a:r>
              <a:rPr lang="en-US" sz="1000" dirty="0">
                <a:solidFill>
                  <a:srgbClr val="1E293B"/>
                </a:solidFill>
                <a:latin typeface="Calibri" pitchFamily="34" charset="0"/>
                <a:ea typeface="Calibri" pitchFamily="34" charset="-122"/>
                <a:cs typeface="Calibri" pitchFamily="34" charset="-120"/>
              </a:rPr>
              <a:t>A specific instruction — shelter name, bearing, distance, ETA — instead of a generic broadcast</a:t>
            </a:r>
            <a:endParaRPr lang="en-US" sz="1000" dirty="0"/>
          </a:p>
        </p:txBody>
      </p:sp>
      <p:sp>
        <p:nvSpPr>
          <p:cNvPr id="36" name="Shape 34"/>
          <p:cNvSpPr/>
          <p:nvPr/>
        </p:nvSpPr>
        <p:spPr>
          <a:xfrm>
            <a:off x="8129016" y="4892040"/>
            <a:ext cx="3566160" cy="1234440"/>
          </a:xfrm>
          <a:prstGeom prst="roundRect">
            <a:avLst>
              <a:gd name="adj" fmla="val 4444"/>
            </a:avLst>
          </a:prstGeom>
          <a:solidFill>
            <a:srgbClr val="FFFFFF"/>
          </a:solidFill>
          <a:ln w="12700">
            <a:solidFill>
              <a:srgbClr val="CBD5E1"/>
            </a:solidFill>
            <a:prstDash val="solid"/>
          </a:ln>
        </p:spPr>
      </p:sp>
      <p:sp>
        <p:nvSpPr>
          <p:cNvPr id="37" name="Shape 35"/>
          <p:cNvSpPr/>
          <p:nvPr/>
        </p:nvSpPr>
        <p:spPr>
          <a:xfrm>
            <a:off x="8311896" y="5029200"/>
            <a:ext cx="256032" cy="256032"/>
          </a:xfrm>
          <a:prstGeom prst="ellipse">
            <a:avLst/>
          </a:prstGeom>
          <a:solidFill>
            <a:srgbClr val="059669"/>
          </a:solidFill>
          <a:ln/>
        </p:spPr>
      </p:sp>
      <p:sp>
        <p:nvSpPr>
          <p:cNvPr id="38" name="Text 36"/>
          <p:cNvSpPr/>
          <p:nvPr/>
        </p:nvSpPr>
        <p:spPr>
          <a:xfrm>
            <a:off x="8677656" y="5010912"/>
            <a:ext cx="2834640" cy="274320"/>
          </a:xfrm>
          <a:prstGeom prst="rect">
            <a:avLst/>
          </a:prstGeom>
          <a:noFill/>
          <a:ln/>
        </p:spPr>
        <p:txBody>
          <a:bodyPr wrap="square" lIns="0" tIns="0" rIns="0" bIns="0" rtlCol="0" anchor="ctr"/>
          <a:lstStyle/>
          <a:p>
            <a:pPr indent="0" marL="0">
              <a:buNone/>
            </a:pPr>
            <a:r>
              <a:rPr lang="en-US" sz="1150" b="1" dirty="0">
                <a:solidFill>
                  <a:srgbClr val="0F172A"/>
                </a:solidFill>
                <a:latin typeface="Arial" pitchFamily="34" charset="0"/>
                <a:ea typeface="Arial" pitchFamily="34" charset="-122"/>
                <a:cs typeface="Arial" pitchFamily="34" charset="-120"/>
              </a:rPr>
              <a:t>The district, afterwards</a:t>
            </a:r>
            <a:endParaRPr lang="en-US" sz="1150" dirty="0"/>
          </a:p>
        </p:txBody>
      </p:sp>
      <p:sp>
        <p:nvSpPr>
          <p:cNvPr id="39" name="Text 37"/>
          <p:cNvSpPr/>
          <p:nvPr/>
        </p:nvSpPr>
        <p:spPr>
          <a:xfrm>
            <a:off x="8311896" y="5349240"/>
            <a:ext cx="3200400" cy="685800"/>
          </a:xfrm>
          <a:prstGeom prst="rect">
            <a:avLst/>
          </a:prstGeom>
          <a:noFill/>
          <a:ln/>
        </p:spPr>
        <p:txBody>
          <a:bodyPr wrap="square" lIns="0" tIns="0" rIns="0" bIns="0" rtlCol="0" anchor="ctr"/>
          <a:lstStyle/>
          <a:p>
            <a:pPr indent="0" marL="0">
              <a:lnSpc>
                <a:spcPts val="1200"/>
              </a:lnSpc>
              <a:buNone/>
            </a:pPr>
            <a:r>
              <a:rPr lang="en-US" sz="1000" dirty="0">
                <a:solidFill>
                  <a:srgbClr val="1E293B"/>
                </a:solidFill>
                <a:latin typeface="Calibri" pitchFamily="34" charset="0"/>
                <a:ea typeface="Calibri" pitchFamily="34" charset="-122"/>
                <a:cs typeface="Calibri" pitchFamily="34" charset="-120"/>
              </a:rPr>
              <a:t>The audit log becomes the compensation and claims record, collapsing a months-long process</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02920" y="310896"/>
            <a:ext cx="640080" cy="457200"/>
          </a:xfrm>
          <a:prstGeom prst="rect">
            <a:avLst/>
          </a:prstGeom>
          <a:noFill/>
          <a:ln/>
        </p:spPr>
        <p:txBody>
          <a:bodyPr wrap="square" lIns="0" tIns="0" rIns="0" bIns="0" rtlCol="0" anchor="ctr"/>
          <a:lstStyle/>
          <a:p>
            <a:pPr algn="l" indent="0" marL="0">
              <a:buNone/>
            </a:pPr>
            <a:r>
              <a:rPr lang="en-US" sz="2600" b="1" dirty="0">
                <a:solidFill>
                  <a:srgbClr val="DC2626"/>
                </a:solidFill>
                <a:latin typeface="Arial" pitchFamily="34" charset="0"/>
                <a:ea typeface="Arial" pitchFamily="34" charset="-122"/>
                <a:cs typeface="Arial" pitchFamily="34" charset="-120"/>
              </a:rPr>
              <a:t>11</a:t>
            </a:r>
            <a:endParaRPr lang="en-US" sz="2600" dirty="0"/>
          </a:p>
        </p:txBody>
      </p:sp>
      <p:sp>
        <p:nvSpPr>
          <p:cNvPr id="3" name="Text 1"/>
          <p:cNvSpPr/>
          <p:nvPr/>
        </p:nvSpPr>
        <p:spPr>
          <a:xfrm>
            <a:off x="1143000" y="274320"/>
            <a:ext cx="8778240" cy="530352"/>
          </a:xfrm>
          <a:prstGeom prst="rect">
            <a:avLst/>
          </a:prstGeom>
          <a:noFill/>
          <a:ln/>
        </p:spPr>
        <p:txBody>
          <a:bodyPr wrap="square" lIns="0" tIns="0" rIns="0" bIns="0" rtlCol="0" anchor="ctr"/>
          <a:lstStyle/>
          <a:p>
            <a:pPr indent="0" marL="0">
              <a:buNone/>
            </a:pPr>
            <a:r>
              <a:rPr lang="en-US" sz="2800" b="1" dirty="0">
                <a:solidFill>
                  <a:srgbClr val="0F172A"/>
                </a:solidFill>
                <a:latin typeface="Arial" pitchFamily="34" charset="0"/>
                <a:ea typeface="Arial" pitchFamily="34" charset="-122"/>
                <a:cs typeface="Arial" pitchFamily="34" charset="-120"/>
              </a:rPr>
              <a:t>Scalability and sustainability</a:t>
            </a:r>
            <a:endParaRPr lang="en-US" sz="2800" dirty="0"/>
          </a:p>
        </p:txBody>
      </p:sp>
      <p:sp>
        <p:nvSpPr>
          <p:cNvPr id="4" name="Text 2"/>
          <p:cNvSpPr/>
          <p:nvPr/>
        </p:nvSpPr>
        <p:spPr>
          <a:xfrm>
            <a:off x="1161288" y="795528"/>
            <a:ext cx="10424160" cy="310896"/>
          </a:xfrm>
          <a:prstGeom prst="rect">
            <a:avLst/>
          </a:prstGeom>
          <a:noFill/>
          <a:ln/>
        </p:spPr>
        <p:txBody>
          <a:bodyPr wrap="square" lIns="0" tIns="0" rIns="0" bIns="0" rtlCol="0" anchor="t"/>
          <a:lstStyle/>
          <a:p>
            <a:pPr indent="0" marL="0">
              <a:buNone/>
            </a:pPr>
            <a:r>
              <a:rPr lang="en-US" sz="1300" i="1" dirty="0">
                <a:solidFill>
                  <a:srgbClr val="64748B"/>
                </a:solidFill>
                <a:latin typeface="Calibri" pitchFamily="34" charset="0"/>
                <a:ea typeface="Calibri" pitchFamily="34" charset="-122"/>
                <a:cs typeface="Calibri" pitchFamily="34" charset="-120"/>
              </a:rPr>
              <a:t>Two different questions: can it grow, and can it survive the 360 days a year with no disaster.</a:t>
            </a:r>
            <a:endParaRPr lang="en-US" sz="1300" dirty="0"/>
          </a:p>
        </p:txBody>
      </p:sp>
      <p:sp>
        <p:nvSpPr>
          <p:cNvPr id="5" name="Shape 3"/>
          <p:cNvSpPr/>
          <p:nvPr/>
        </p:nvSpPr>
        <p:spPr>
          <a:xfrm>
            <a:off x="502920" y="1298448"/>
            <a:ext cx="5486400" cy="2331720"/>
          </a:xfrm>
          <a:prstGeom prst="roundRect">
            <a:avLst>
              <a:gd name="adj" fmla="val 2353"/>
            </a:avLst>
          </a:prstGeom>
          <a:solidFill>
            <a:srgbClr val="FFFFFF"/>
          </a:solidFill>
          <a:ln w="12700">
            <a:solidFill>
              <a:srgbClr val="CBD5E1"/>
            </a:solidFill>
            <a:prstDash val="solid"/>
          </a:ln>
        </p:spPr>
      </p:sp>
      <p:sp>
        <p:nvSpPr>
          <p:cNvPr id="6" name="Text 4"/>
          <p:cNvSpPr/>
          <p:nvPr/>
        </p:nvSpPr>
        <p:spPr>
          <a:xfrm>
            <a:off x="731520" y="1444752"/>
            <a:ext cx="5029200" cy="274320"/>
          </a:xfrm>
          <a:prstGeom prst="rect">
            <a:avLst/>
          </a:prstGeom>
          <a:noFill/>
          <a:ln/>
        </p:spPr>
        <p:txBody>
          <a:bodyPr wrap="square" lIns="0" tIns="0" rIns="0" bIns="0" rtlCol="0" anchor="ctr"/>
          <a:lstStyle/>
          <a:p>
            <a:pPr indent="0" marL="0">
              <a:buNone/>
            </a:pPr>
            <a:r>
              <a:rPr lang="en-US" sz="1400" b="1" dirty="0">
                <a:solidFill>
                  <a:srgbClr val="0F172A"/>
                </a:solidFill>
                <a:latin typeface="Arial" pitchFamily="34" charset="0"/>
                <a:ea typeface="Arial" pitchFamily="34" charset="-122"/>
                <a:cs typeface="Arial" pitchFamily="34" charset="-120"/>
              </a:rPr>
              <a:t>Technical scalability</a:t>
            </a:r>
            <a:endParaRPr lang="en-US" sz="1400" dirty="0"/>
          </a:p>
        </p:txBody>
      </p:sp>
      <p:sp>
        <p:nvSpPr>
          <p:cNvPr id="7" name="Text 5"/>
          <p:cNvSpPr/>
          <p:nvPr/>
        </p:nvSpPr>
        <p:spPr>
          <a:xfrm>
            <a:off x="731520" y="1783080"/>
            <a:ext cx="5029200" cy="1737360"/>
          </a:xfrm>
          <a:prstGeom prst="rect">
            <a:avLst/>
          </a:prstGeom>
          <a:noFill/>
          <a:ln/>
        </p:spPr>
        <p:txBody>
          <a:bodyPr wrap="square" lIns="0" tIns="0" rIns="0" bIns="0" rtlCol="0" anchor="ctr"/>
          <a:lstStyle/>
          <a:p>
            <a:pPr marL="342900" indent="-342900">
              <a:lnSpc>
                <a:spcPts val="1400"/>
              </a:lnSpc>
              <a:spcAft>
                <a:spcPts val="700"/>
              </a:spcAft>
              <a:buSzPct val="100000"/>
              <a:buChar char="•"/>
            </a:pPr>
            <a:r>
              <a:rPr lang="en-US" sz="1100" dirty="0">
                <a:solidFill>
                  <a:srgbClr val="1E293B"/>
                </a:solidFill>
                <a:latin typeface="Calibri" pitchFamily="34" charset="0"/>
                <a:ea typeface="Calibri" pitchFamily="34" charset="-122"/>
                <a:cs typeface="Calibri" pitchFamily="34" charset="-120"/>
              </a:rPr>
              <a:t>Every table carries district_id — one deployment serves N districts.</a:t>
            </a:r>
            <a:endParaRPr lang="en-US" sz="1100" dirty="0"/>
          </a:p>
          <a:p>
            <a:pPr marL="342900" indent="-342900">
              <a:lnSpc>
                <a:spcPts val="1400"/>
              </a:lnSpc>
              <a:spcAft>
                <a:spcPts val="700"/>
              </a:spcAft>
              <a:buSzPct val="100000"/>
              <a:buChar char="•"/>
            </a:pPr>
            <a:r>
              <a:rPr lang="en-US" sz="1100" dirty="0">
                <a:solidFill>
                  <a:srgbClr val="1E293B"/>
                </a:solidFill>
                <a:latin typeface="Calibri" pitchFamily="34" charset="0"/>
                <a:ea typeface="Calibri" pitchFamily="34" charset="-122"/>
                <a:cs typeface="Calibri" pitchFamily="34" charset="-120"/>
              </a:rPr>
              <a:t>Onboarding a district = boundary polygon + shelter registry + resource roster. Days, not a rewrite.</a:t>
            </a:r>
            <a:endParaRPr lang="en-US" sz="1100" dirty="0"/>
          </a:p>
          <a:p>
            <a:pPr marL="342900" indent="-342900">
              <a:lnSpc>
                <a:spcPts val="1400"/>
              </a:lnSpc>
              <a:spcAft>
                <a:spcPts val="700"/>
              </a:spcAft>
              <a:buSzPct val="100000"/>
              <a:buChar char="•"/>
            </a:pPr>
            <a:r>
              <a:rPr lang="en-US" sz="1100" dirty="0">
                <a:solidFill>
                  <a:srgbClr val="1E293B"/>
                </a:solidFill>
                <a:latin typeface="Calibri" pitchFamily="34" charset="0"/>
                <a:ea typeface="Calibri" pitchFamily="34" charset="-122"/>
                <a:cs typeface="Calibri" pitchFamily="34" charset="-120"/>
              </a:rPr>
              <a:t>Stateless API behind a load balancer; the optimizer is per-district and parallelises trivially.</a:t>
            </a:r>
            <a:endParaRPr lang="en-US" sz="1100" dirty="0"/>
          </a:p>
          <a:p>
            <a:pPr marL="342900" indent="-342900">
              <a:lnSpc>
                <a:spcPts val="1400"/>
              </a:lnSpc>
              <a:spcAft>
                <a:spcPts val="700"/>
              </a:spcAft>
              <a:buSzPct val="100000"/>
              <a:buChar char="•"/>
            </a:pPr>
            <a:r>
              <a:rPr lang="en-US" sz="1100" dirty="0">
                <a:solidFill>
                  <a:srgbClr val="1E293B"/>
                </a:solidFill>
                <a:latin typeface="Calibri" pitchFamily="34" charset="0"/>
                <a:ea typeface="Calibri" pitchFamily="34" charset="-122"/>
                <a:cs typeface="Calibri" pitchFamily="34" charset="-120"/>
              </a:rPr>
              <a:t>Roughly Rs 15,000–25,000 per district per month; less on NIC or MeghRaj.</a:t>
            </a:r>
            <a:endParaRPr lang="en-US" sz="1100" dirty="0"/>
          </a:p>
        </p:txBody>
      </p:sp>
      <p:sp>
        <p:nvSpPr>
          <p:cNvPr id="8" name="Shape 6"/>
          <p:cNvSpPr/>
          <p:nvPr/>
        </p:nvSpPr>
        <p:spPr>
          <a:xfrm>
            <a:off x="6172200" y="1298448"/>
            <a:ext cx="5486400" cy="2331720"/>
          </a:xfrm>
          <a:prstGeom prst="roundRect">
            <a:avLst>
              <a:gd name="adj" fmla="val 2353"/>
            </a:avLst>
          </a:prstGeom>
          <a:solidFill>
            <a:srgbClr val="0F172A"/>
          </a:solidFill>
          <a:ln w="12700">
            <a:solidFill>
              <a:srgbClr val="0F172A"/>
            </a:solidFill>
            <a:prstDash val="solid"/>
          </a:ln>
        </p:spPr>
      </p:sp>
      <p:sp>
        <p:nvSpPr>
          <p:cNvPr id="9" name="Text 7"/>
          <p:cNvSpPr/>
          <p:nvPr/>
        </p:nvSpPr>
        <p:spPr>
          <a:xfrm>
            <a:off x="6400800" y="1444752"/>
            <a:ext cx="5029200" cy="274320"/>
          </a:xfrm>
          <a:prstGeom prst="rect">
            <a:avLst/>
          </a:prstGeom>
          <a:noFill/>
          <a:ln/>
        </p:spPr>
        <p:txBody>
          <a:bodyPr wrap="square" lIns="0" tIns="0" rIns="0" bIns="0" rtlCol="0" anchor="ctr"/>
          <a:lstStyle/>
          <a:p>
            <a:pPr indent="0" marL="0">
              <a:buNone/>
            </a:pPr>
            <a:r>
              <a:rPr lang="en-US" sz="1400" b="1" dirty="0">
                <a:solidFill>
                  <a:srgbClr val="F87171"/>
                </a:solidFill>
                <a:latin typeface="Arial" pitchFamily="34" charset="0"/>
                <a:ea typeface="Arial" pitchFamily="34" charset="-122"/>
                <a:cs typeface="Arial" pitchFamily="34" charset="-120"/>
              </a:rPr>
              <a:t>The key insight</a:t>
            </a:r>
            <a:endParaRPr lang="en-US" sz="1400" dirty="0"/>
          </a:p>
        </p:txBody>
      </p:sp>
      <p:sp>
        <p:nvSpPr>
          <p:cNvPr id="10" name="Text 8"/>
          <p:cNvSpPr/>
          <p:nvPr/>
        </p:nvSpPr>
        <p:spPr>
          <a:xfrm>
            <a:off x="6400800" y="1783080"/>
            <a:ext cx="5029200" cy="1691640"/>
          </a:xfrm>
          <a:prstGeom prst="rect">
            <a:avLst/>
          </a:prstGeom>
          <a:noFill/>
          <a:ln/>
        </p:spPr>
        <p:txBody>
          <a:bodyPr wrap="square" lIns="0" tIns="0" rIns="0" bIns="0" rtlCol="0" anchor="ctr"/>
          <a:lstStyle/>
          <a:p>
            <a:pPr indent="0" marL="0">
              <a:lnSpc>
                <a:spcPts val="1700"/>
              </a:lnSpc>
              <a:buNone/>
            </a:pPr>
            <a:r>
              <a:rPr lang="en-US" sz="1250" dirty="0">
                <a:solidFill>
                  <a:srgbClr val="E2E8F0"/>
                </a:solidFill>
                <a:latin typeface="Calibri" pitchFamily="34" charset="0"/>
                <a:ea typeface="Calibri" pitchFamily="34" charset="-122"/>
                <a:cs typeface="Calibri" pitchFamily="34" charset="-120"/>
              </a:rPr>
              <a:t>Disaster response is district-led by law. National scale is therefore 766 independent small problems — never one enormous one.</a:t>
            </a:r>
            <a:endParaRPr lang="en-US" sz="1250" dirty="0"/>
          </a:p>
          <a:p>
            <a:pPr indent="0" marL="0">
              <a:lnSpc>
                <a:spcPts val="1700"/>
              </a:lnSpc>
              <a:buNone/>
            </a:pPr>
            <a:endParaRPr lang="en-US" sz="1250" dirty="0"/>
          </a:p>
          <a:p>
            <a:pPr indent="0" marL="0">
              <a:lnSpc>
                <a:spcPts val="1700"/>
              </a:lnSpc>
              <a:buNone/>
            </a:pPr>
            <a:r>
              <a:rPr lang="en-US" sz="1250" dirty="0">
                <a:solidFill>
                  <a:srgbClr val="E2E8F0"/>
                </a:solidFill>
                <a:latin typeface="Calibri" pitchFamily="34" charset="0"/>
                <a:ea typeface="Calibri" pitchFamily="34" charset="-122"/>
                <a:cs typeface="Calibri" pitchFamily="34" charset="-120"/>
              </a:rPr>
              <a:t>The architecture never has to handle national-scale coordination, which is precisely why it can stay simple.</a:t>
            </a:r>
            <a:endParaRPr lang="en-US" sz="1250" dirty="0"/>
          </a:p>
        </p:txBody>
      </p:sp>
      <p:sp>
        <p:nvSpPr>
          <p:cNvPr id="11" name="Shape 9"/>
          <p:cNvSpPr/>
          <p:nvPr/>
        </p:nvSpPr>
        <p:spPr>
          <a:xfrm>
            <a:off x="502920" y="3840480"/>
            <a:ext cx="11155680" cy="658368"/>
          </a:xfrm>
          <a:prstGeom prst="roundRect">
            <a:avLst>
              <a:gd name="adj" fmla="val 8333"/>
            </a:avLst>
          </a:prstGeom>
          <a:solidFill>
            <a:srgbClr val="FFFBEB"/>
          </a:solidFill>
          <a:ln w="16510">
            <a:solidFill>
              <a:srgbClr val="D97706"/>
            </a:solidFill>
            <a:prstDash val="solid"/>
          </a:ln>
        </p:spPr>
      </p:sp>
      <p:sp>
        <p:nvSpPr>
          <p:cNvPr id="12" name="Text 10"/>
          <p:cNvSpPr/>
          <p:nvPr/>
        </p:nvSpPr>
        <p:spPr>
          <a:xfrm>
            <a:off x="731520" y="3950208"/>
            <a:ext cx="10698480" cy="457200"/>
          </a:xfrm>
          <a:prstGeom prst="rect">
            <a:avLst/>
          </a:prstGeom>
          <a:noFill/>
          <a:ln/>
        </p:spPr>
        <p:txBody>
          <a:bodyPr wrap="square" lIns="0" tIns="0" rIns="0" bIns="0" rtlCol="0" anchor="ctr"/>
          <a:lstStyle/>
          <a:p>
            <a:pPr indent="0" marL="0">
              <a:buNone/>
            </a:pPr>
            <a:r>
              <a:rPr lang="en-US" sz="1300" b="1" dirty="0">
                <a:solidFill>
                  <a:srgbClr val="92400E"/>
                </a:solidFill>
                <a:latin typeface="Calibri" pitchFamily="34" charset="0"/>
                <a:ea typeface="Calibri" pitchFamily="34" charset="-122"/>
                <a:cs typeface="Calibri" pitchFamily="34" charset="-120"/>
              </a:rPr>
              <a:t>“Who pays for this during the 360 days a year with no cyclone?”   —   SETU is not a disaster tool. It is a district resource-management tool that has a disaster mode.</a:t>
            </a:r>
            <a:endParaRPr lang="en-US" sz="1300" dirty="0"/>
          </a:p>
        </p:txBody>
      </p:sp>
      <p:sp>
        <p:nvSpPr>
          <p:cNvPr id="13" name="Shape 11"/>
          <p:cNvSpPr/>
          <p:nvPr/>
        </p:nvSpPr>
        <p:spPr>
          <a:xfrm>
            <a:off x="502920" y="4681728"/>
            <a:ext cx="2679192" cy="1463040"/>
          </a:xfrm>
          <a:prstGeom prst="roundRect">
            <a:avLst>
              <a:gd name="adj" fmla="val 3750"/>
            </a:avLst>
          </a:prstGeom>
          <a:solidFill>
            <a:srgbClr val="FFFFFF"/>
          </a:solidFill>
          <a:ln w="12700">
            <a:solidFill>
              <a:srgbClr val="CBD5E1"/>
            </a:solidFill>
            <a:prstDash val="solid"/>
          </a:ln>
        </p:spPr>
      </p:sp>
      <p:sp>
        <p:nvSpPr>
          <p:cNvPr id="14" name="Text 12"/>
          <p:cNvSpPr/>
          <p:nvPr/>
        </p:nvSpPr>
        <p:spPr>
          <a:xfrm>
            <a:off x="685800" y="4809744"/>
            <a:ext cx="2331720" cy="274320"/>
          </a:xfrm>
          <a:prstGeom prst="rect">
            <a:avLst/>
          </a:prstGeom>
          <a:noFill/>
          <a:ln/>
        </p:spPr>
        <p:txBody>
          <a:bodyPr wrap="square" lIns="0" tIns="0" rIns="0" bIns="0" rtlCol="0" anchor="ctr"/>
          <a:lstStyle/>
          <a:p>
            <a:pPr indent="0" marL="0">
              <a:buNone/>
            </a:pPr>
            <a:r>
              <a:rPr lang="en-US" sz="1200" b="1" dirty="0">
                <a:solidFill>
                  <a:srgbClr val="059669"/>
                </a:solidFill>
                <a:latin typeface="Arial" pitchFamily="34" charset="0"/>
                <a:ea typeface="Arial" pitchFamily="34" charset="-122"/>
                <a:cs typeface="Arial" pitchFamily="34" charset="-120"/>
              </a:rPr>
              <a:t>Live asset registry</a:t>
            </a:r>
            <a:endParaRPr lang="en-US" sz="1200" dirty="0"/>
          </a:p>
        </p:txBody>
      </p:sp>
      <p:sp>
        <p:nvSpPr>
          <p:cNvPr id="15" name="Text 13"/>
          <p:cNvSpPr/>
          <p:nvPr/>
        </p:nvSpPr>
        <p:spPr>
          <a:xfrm>
            <a:off x="685800" y="5120640"/>
            <a:ext cx="2331720" cy="914400"/>
          </a:xfrm>
          <a:prstGeom prst="rect">
            <a:avLst/>
          </a:prstGeom>
          <a:noFill/>
          <a:ln/>
        </p:spPr>
        <p:txBody>
          <a:bodyPr wrap="square" lIns="0" tIns="0" rIns="0" bIns="0" rtlCol="0" anchor="ctr"/>
          <a:lstStyle/>
          <a:p>
            <a:pPr indent="0" marL="0">
              <a:lnSpc>
                <a:spcPts val="1200"/>
              </a:lnSpc>
              <a:buNone/>
            </a:pPr>
            <a:r>
              <a:rPr lang="en-US" sz="980" dirty="0">
                <a:solidFill>
                  <a:srgbClr val="1E293B"/>
                </a:solidFill>
                <a:latin typeface="Calibri" pitchFamily="34" charset="0"/>
                <a:ea typeface="Calibri" pitchFamily="34" charset="-122"/>
                <a:cs typeface="Calibri" pitchFamily="34" charset="-120"/>
              </a:rPr>
              <a:t>Shelters, boats, ambulances, generators — with condition and last-inspection date. Today this is a stale spreadsheet.</a:t>
            </a:r>
            <a:endParaRPr lang="en-US" sz="980" dirty="0"/>
          </a:p>
        </p:txBody>
      </p:sp>
      <p:sp>
        <p:nvSpPr>
          <p:cNvPr id="16" name="Shape 14"/>
          <p:cNvSpPr/>
          <p:nvPr/>
        </p:nvSpPr>
        <p:spPr>
          <a:xfrm>
            <a:off x="3364992" y="4681728"/>
            <a:ext cx="2679192" cy="1463040"/>
          </a:xfrm>
          <a:prstGeom prst="roundRect">
            <a:avLst>
              <a:gd name="adj" fmla="val 3750"/>
            </a:avLst>
          </a:prstGeom>
          <a:solidFill>
            <a:srgbClr val="FFFFFF"/>
          </a:solidFill>
          <a:ln w="12700">
            <a:solidFill>
              <a:srgbClr val="CBD5E1"/>
            </a:solidFill>
            <a:prstDash val="solid"/>
          </a:ln>
        </p:spPr>
      </p:sp>
      <p:sp>
        <p:nvSpPr>
          <p:cNvPr id="17" name="Text 15"/>
          <p:cNvSpPr/>
          <p:nvPr/>
        </p:nvSpPr>
        <p:spPr>
          <a:xfrm>
            <a:off x="3547872" y="4809744"/>
            <a:ext cx="2331720" cy="274320"/>
          </a:xfrm>
          <a:prstGeom prst="rect">
            <a:avLst/>
          </a:prstGeom>
          <a:noFill/>
          <a:ln/>
        </p:spPr>
        <p:txBody>
          <a:bodyPr wrap="square" lIns="0" tIns="0" rIns="0" bIns="0" rtlCol="0" anchor="ctr"/>
          <a:lstStyle/>
          <a:p>
            <a:pPr indent="0" marL="0">
              <a:buNone/>
            </a:pPr>
            <a:r>
              <a:rPr lang="en-US" sz="1200" b="1" dirty="0">
                <a:solidFill>
                  <a:srgbClr val="059669"/>
                </a:solidFill>
                <a:latin typeface="Arial" pitchFamily="34" charset="0"/>
                <a:ea typeface="Arial" pitchFamily="34" charset="-122"/>
                <a:cs typeface="Arial" pitchFamily="34" charset="-120"/>
              </a:rPr>
              <a:t>Drill mode</a:t>
            </a:r>
            <a:endParaRPr lang="en-US" sz="1200" dirty="0"/>
          </a:p>
        </p:txBody>
      </p:sp>
      <p:sp>
        <p:nvSpPr>
          <p:cNvPr id="18" name="Text 16"/>
          <p:cNvSpPr/>
          <p:nvPr/>
        </p:nvSpPr>
        <p:spPr>
          <a:xfrm>
            <a:off x="3547872" y="5120640"/>
            <a:ext cx="2331720" cy="914400"/>
          </a:xfrm>
          <a:prstGeom prst="rect">
            <a:avLst/>
          </a:prstGeom>
          <a:noFill/>
          <a:ln/>
        </p:spPr>
        <p:txBody>
          <a:bodyPr wrap="square" lIns="0" tIns="0" rIns="0" bIns="0" rtlCol="0" anchor="ctr"/>
          <a:lstStyle/>
          <a:p>
            <a:pPr indent="0" marL="0">
              <a:lnSpc>
                <a:spcPts val="1200"/>
              </a:lnSpc>
              <a:buNone/>
            </a:pPr>
            <a:r>
              <a:rPr lang="en-US" sz="980" dirty="0">
                <a:solidFill>
                  <a:srgbClr val="1E293B"/>
                </a:solidFill>
                <a:latin typeface="Calibri" pitchFamily="34" charset="0"/>
                <a:ea typeface="Calibri" pitchFamily="34" charset="-122"/>
                <a:cs typeface="Calibri" pitchFamily="34" charset="-120"/>
              </a:rPr>
              <a:t>Run a simulated cyclone quarterly, measure real response times, produce a readiness score. A mandated NDMA activity with no tooling.</a:t>
            </a:r>
            <a:endParaRPr lang="en-US" sz="980" dirty="0"/>
          </a:p>
        </p:txBody>
      </p:sp>
      <p:sp>
        <p:nvSpPr>
          <p:cNvPr id="19" name="Shape 17"/>
          <p:cNvSpPr/>
          <p:nvPr/>
        </p:nvSpPr>
        <p:spPr>
          <a:xfrm>
            <a:off x="6227064" y="4681728"/>
            <a:ext cx="2679192" cy="1463040"/>
          </a:xfrm>
          <a:prstGeom prst="roundRect">
            <a:avLst>
              <a:gd name="adj" fmla="val 3750"/>
            </a:avLst>
          </a:prstGeom>
          <a:solidFill>
            <a:srgbClr val="FFFFFF"/>
          </a:solidFill>
          <a:ln w="12700">
            <a:solidFill>
              <a:srgbClr val="CBD5E1"/>
            </a:solidFill>
            <a:prstDash val="solid"/>
          </a:ln>
        </p:spPr>
      </p:sp>
      <p:sp>
        <p:nvSpPr>
          <p:cNvPr id="20" name="Text 18"/>
          <p:cNvSpPr/>
          <p:nvPr/>
        </p:nvSpPr>
        <p:spPr>
          <a:xfrm>
            <a:off x="6409944" y="4809744"/>
            <a:ext cx="2331720" cy="274320"/>
          </a:xfrm>
          <a:prstGeom prst="rect">
            <a:avLst/>
          </a:prstGeom>
          <a:noFill/>
          <a:ln/>
        </p:spPr>
        <p:txBody>
          <a:bodyPr wrap="square" lIns="0" tIns="0" rIns="0" bIns="0" rtlCol="0" anchor="ctr"/>
          <a:lstStyle/>
          <a:p>
            <a:pPr indent="0" marL="0">
              <a:buNone/>
            </a:pPr>
            <a:r>
              <a:rPr lang="en-US" sz="1200" b="1" dirty="0">
                <a:solidFill>
                  <a:srgbClr val="059669"/>
                </a:solidFill>
                <a:latin typeface="Arial" pitchFamily="34" charset="0"/>
                <a:ea typeface="Arial" pitchFamily="34" charset="-122"/>
                <a:cs typeface="Arial" pitchFamily="34" charset="-120"/>
              </a:rPr>
              <a:t>Readiness audit</a:t>
            </a:r>
            <a:endParaRPr lang="en-US" sz="1200" dirty="0"/>
          </a:p>
        </p:txBody>
      </p:sp>
      <p:sp>
        <p:nvSpPr>
          <p:cNvPr id="21" name="Text 19"/>
          <p:cNvSpPr/>
          <p:nvPr/>
        </p:nvSpPr>
        <p:spPr>
          <a:xfrm>
            <a:off x="6409944" y="5120640"/>
            <a:ext cx="2331720" cy="914400"/>
          </a:xfrm>
          <a:prstGeom prst="rect">
            <a:avLst/>
          </a:prstGeom>
          <a:noFill/>
          <a:ln/>
        </p:spPr>
        <p:txBody>
          <a:bodyPr wrap="square" lIns="0" tIns="0" rIns="0" bIns="0" rtlCol="0" anchor="ctr"/>
          <a:lstStyle/>
          <a:p>
            <a:pPr indent="0" marL="0">
              <a:lnSpc>
                <a:spcPts val="1200"/>
              </a:lnSpc>
              <a:buNone/>
            </a:pPr>
            <a:r>
              <a:rPr lang="en-US" sz="980" dirty="0">
                <a:solidFill>
                  <a:srgbClr val="1E293B"/>
                </a:solidFill>
                <a:latin typeface="Calibri" pitchFamily="34" charset="0"/>
                <a:ea typeface="Calibri" pitchFamily="34" charset="-122"/>
                <a:cs typeface="Calibri" pitchFamily="34" charset="-120"/>
              </a:rPr>
              <a:t>Automated pre-monsoon gap report: wards with no reachable unit within 30 minutes, units with no working contact.</a:t>
            </a:r>
            <a:endParaRPr lang="en-US" sz="980" dirty="0"/>
          </a:p>
        </p:txBody>
      </p:sp>
      <p:sp>
        <p:nvSpPr>
          <p:cNvPr id="22" name="Shape 20"/>
          <p:cNvSpPr/>
          <p:nvPr/>
        </p:nvSpPr>
        <p:spPr>
          <a:xfrm>
            <a:off x="9089136" y="4681728"/>
            <a:ext cx="2679192" cy="1463040"/>
          </a:xfrm>
          <a:prstGeom prst="roundRect">
            <a:avLst>
              <a:gd name="adj" fmla="val 3750"/>
            </a:avLst>
          </a:prstGeom>
          <a:solidFill>
            <a:srgbClr val="FFFFFF"/>
          </a:solidFill>
          <a:ln w="12700">
            <a:solidFill>
              <a:srgbClr val="CBD5E1"/>
            </a:solidFill>
            <a:prstDash val="solid"/>
          </a:ln>
        </p:spPr>
      </p:sp>
      <p:sp>
        <p:nvSpPr>
          <p:cNvPr id="23" name="Text 21"/>
          <p:cNvSpPr/>
          <p:nvPr/>
        </p:nvSpPr>
        <p:spPr>
          <a:xfrm>
            <a:off x="9272016" y="4809744"/>
            <a:ext cx="2331720" cy="274320"/>
          </a:xfrm>
          <a:prstGeom prst="rect">
            <a:avLst/>
          </a:prstGeom>
          <a:noFill/>
          <a:ln/>
        </p:spPr>
        <p:txBody>
          <a:bodyPr wrap="square" lIns="0" tIns="0" rIns="0" bIns="0" rtlCol="0" anchor="ctr"/>
          <a:lstStyle/>
          <a:p>
            <a:pPr indent="0" marL="0">
              <a:buNone/>
            </a:pPr>
            <a:r>
              <a:rPr lang="en-US" sz="1200" b="1" dirty="0">
                <a:solidFill>
                  <a:srgbClr val="059669"/>
                </a:solidFill>
                <a:latin typeface="Arial" pitchFamily="34" charset="0"/>
                <a:ea typeface="Arial" pitchFamily="34" charset="-122"/>
                <a:cs typeface="Arial" pitchFamily="34" charset="-120"/>
              </a:rPr>
              <a:t>Open core, paid support</a:t>
            </a:r>
            <a:endParaRPr lang="en-US" sz="1200" dirty="0"/>
          </a:p>
        </p:txBody>
      </p:sp>
      <p:sp>
        <p:nvSpPr>
          <p:cNvPr id="24" name="Text 22"/>
          <p:cNvSpPr/>
          <p:nvPr/>
        </p:nvSpPr>
        <p:spPr>
          <a:xfrm>
            <a:off x="9272016" y="5120640"/>
            <a:ext cx="2331720" cy="914400"/>
          </a:xfrm>
          <a:prstGeom prst="rect">
            <a:avLst/>
          </a:prstGeom>
          <a:noFill/>
          <a:ln/>
        </p:spPr>
        <p:txBody>
          <a:bodyPr wrap="square" lIns="0" tIns="0" rIns="0" bIns="0" rtlCol="0" anchor="ctr"/>
          <a:lstStyle/>
          <a:p>
            <a:pPr indent="0" marL="0">
              <a:lnSpc>
                <a:spcPts val="1200"/>
              </a:lnSpc>
              <a:buNone/>
            </a:pPr>
            <a:r>
              <a:rPr lang="en-US" sz="980" dirty="0">
                <a:solidFill>
                  <a:srgbClr val="1E293B"/>
                </a:solidFill>
                <a:latin typeface="Calibri" pitchFamily="34" charset="0"/>
                <a:ea typeface="Calibri" pitchFamily="34" charset="-122"/>
                <a:cs typeface="Calibri" pitchFamily="34" charset="-120"/>
              </a:rPr>
              <a:t>Open-source core for adoption and auditability; paid per-district deployment and integration. Buyers: SDMA funds, NDMA grants, CSR.</a:t>
            </a:r>
            <a:endParaRPr lang="en-US" sz="98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02920" y="310896"/>
            <a:ext cx="640080" cy="457200"/>
          </a:xfrm>
          <a:prstGeom prst="rect">
            <a:avLst/>
          </a:prstGeom>
          <a:noFill/>
          <a:ln/>
        </p:spPr>
        <p:txBody>
          <a:bodyPr wrap="square" lIns="0" tIns="0" rIns="0" bIns="0" rtlCol="0" anchor="ctr"/>
          <a:lstStyle/>
          <a:p>
            <a:pPr algn="l" indent="0" marL="0">
              <a:buNone/>
            </a:pPr>
            <a:r>
              <a:rPr lang="en-US" sz="2600" b="1" dirty="0">
                <a:solidFill>
                  <a:srgbClr val="DC2626"/>
                </a:solidFill>
                <a:latin typeface="Arial" pitchFamily="34" charset="0"/>
                <a:ea typeface="Arial" pitchFamily="34" charset="-122"/>
                <a:cs typeface="Arial" pitchFamily="34" charset="-120"/>
              </a:rPr>
              <a:t>12</a:t>
            </a:r>
            <a:endParaRPr lang="en-US" sz="2600" dirty="0"/>
          </a:p>
        </p:txBody>
      </p:sp>
      <p:sp>
        <p:nvSpPr>
          <p:cNvPr id="3" name="Text 1"/>
          <p:cNvSpPr/>
          <p:nvPr/>
        </p:nvSpPr>
        <p:spPr>
          <a:xfrm>
            <a:off x="1143000" y="274320"/>
            <a:ext cx="8778240" cy="530352"/>
          </a:xfrm>
          <a:prstGeom prst="rect">
            <a:avLst/>
          </a:prstGeom>
          <a:noFill/>
          <a:ln/>
        </p:spPr>
        <p:txBody>
          <a:bodyPr wrap="square" lIns="0" tIns="0" rIns="0" bIns="0" rtlCol="0" anchor="ctr"/>
          <a:lstStyle/>
          <a:p>
            <a:pPr indent="0" marL="0">
              <a:buNone/>
            </a:pPr>
            <a:r>
              <a:rPr lang="en-US" sz="2800" b="1" dirty="0">
                <a:solidFill>
                  <a:srgbClr val="0F172A"/>
                </a:solidFill>
                <a:latin typeface="Arial" pitchFamily="34" charset="0"/>
                <a:ea typeface="Arial" pitchFamily="34" charset="-122"/>
                <a:cs typeface="Arial" pitchFamily="34" charset="-120"/>
              </a:rPr>
              <a:t>Build plan and current status</a:t>
            </a:r>
            <a:endParaRPr lang="en-US" sz="2800" dirty="0"/>
          </a:p>
        </p:txBody>
      </p:sp>
      <p:sp>
        <p:nvSpPr>
          <p:cNvPr id="4" name="Text 2"/>
          <p:cNvSpPr/>
          <p:nvPr/>
        </p:nvSpPr>
        <p:spPr>
          <a:xfrm>
            <a:off x="1161288" y="795528"/>
            <a:ext cx="10424160" cy="310896"/>
          </a:xfrm>
          <a:prstGeom prst="rect">
            <a:avLst/>
          </a:prstGeom>
          <a:noFill/>
          <a:ln/>
        </p:spPr>
        <p:txBody>
          <a:bodyPr wrap="square" lIns="0" tIns="0" rIns="0" bIns="0" rtlCol="0" anchor="t"/>
          <a:lstStyle/>
          <a:p>
            <a:pPr indent="0" marL="0">
              <a:buNone/>
            </a:pPr>
            <a:r>
              <a:rPr lang="en-US" sz="1300" i="1" dirty="0">
                <a:solidFill>
                  <a:srgbClr val="64748B"/>
                </a:solidFill>
                <a:latin typeface="Calibri" pitchFamily="34" charset="0"/>
                <a:ea typeface="Calibri" pitchFamily="34" charset="-122"/>
                <a:cs typeface="Calibri" pitchFamily="34" charset="-120"/>
              </a:rPr>
              <a:t>Three phases with hard gates. Nothing proceeds until the previous gate passes.</a:t>
            </a:r>
            <a:endParaRPr lang="en-US" sz="1300" dirty="0"/>
          </a:p>
        </p:txBody>
      </p:sp>
      <p:sp>
        <p:nvSpPr>
          <p:cNvPr id="5" name="Shape 3"/>
          <p:cNvSpPr/>
          <p:nvPr/>
        </p:nvSpPr>
        <p:spPr>
          <a:xfrm>
            <a:off x="502920" y="1298448"/>
            <a:ext cx="3566160" cy="3703320"/>
          </a:xfrm>
          <a:prstGeom prst="roundRect">
            <a:avLst>
              <a:gd name="adj" fmla="val 1538"/>
            </a:avLst>
          </a:prstGeom>
          <a:solidFill>
            <a:srgbClr val="FFFFFF"/>
          </a:solidFill>
          <a:ln w="12700">
            <a:solidFill>
              <a:srgbClr val="CBD5E1"/>
            </a:solidFill>
            <a:prstDash val="solid"/>
          </a:ln>
        </p:spPr>
      </p:sp>
      <p:sp>
        <p:nvSpPr>
          <p:cNvPr id="6" name="Shape 4"/>
          <p:cNvSpPr/>
          <p:nvPr/>
        </p:nvSpPr>
        <p:spPr>
          <a:xfrm>
            <a:off x="685800" y="1463040"/>
            <a:ext cx="566928" cy="310896"/>
          </a:xfrm>
          <a:prstGeom prst="roundRect">
            <a:avLst>
              <a:gd name="adj" fmla="val 14706"/>
            </a:avLst>
          </a:prstGeom>
          <a:solidFill>
            <a:srgbClr val="DC2626"/>
          </a:solidFill>
          <a:ln w="12700">
            <a:solidFill>
              <a:srgbClr val="DC2626"/>
            </a:solidFill>
            <a:prstDash val="solid"/>
          </a:ln>
        </p:spPr>
      </p:sp>
      <p:sp>
        <p:nvSpPr>
          <p:cNvPr id="7" name="Text 5"/>
          <p:cNvSpPr/>
          <p:nvPr/>
        </p:nvSpPr>
        <p:spPr>
          <a:xfrm>
            <a:off x="685800" y="1490472"/>
            <a:ext cx="566928" cy="256032"/>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P0</a:t>
            </a:r>
            <a:endParaRPr lang="en-US" sz="1200" dirty="0"/>
          </a:p>
        </p:txBody>
      </p:sp>
      <p:sp>
        <p:nvSpPr>
          <p:cNvPr id="8" name="Text 6"/>
          <p:cNvSpPr/>
          <p:nvPr/>
        </p:nvSpPr>
        <p:spPr>
          <a:xfrm>
            <a:off x="1344168" y="1463040"/>
            <a:ext cx="1828800" cy="292608"/>
          </a:xfrm>
          <a:prstGeom prst="rect">
            <a:avLst/>
          </a:prstGeom>
          <a:noFill/>
          <a:ln/>
        </p:spPr>
        <p:txBody>
          <a:bodyPr wrap="square" lIns="0" tIns="0" rIns="0" bIns="0" rtlCol="0" anchor="ctr"/>
          <a:lstStyle/>
          <a:p>
            <a:pPr indent="0" marL="0">
              <a:buNone/>
            </a:pPr>
            <a:r>
              <a:rPr lang="en-US" sz="1500" b="1" dirty="0">
                <a:solidFill>
                  <a:srgbClr val="0F172A"/>
                </a:solidFill>
                <a:latin typeface="Arial" pitchFamily="34" charset="0"/>
                <a:ea typeface="Arial" pitchFamily="34" charset="-122"/>
                <a:cs typeface="Arial" pitchFamily="34" charset="-120"/>
              </a:rPr>
              <a:t>Skeleton</a:t>
            </a:r>
            <a:endParaRPr lang="en-US" sz="1500" dirty="0"/>
          </a:p>
        </p:txBody>
      </p:sp>
      <p:sp>
        <p:nvSpPr>
          <p:cNvPr id="9" name="Text 7"/>
          <p:cNvSpPr/>
          <p:nvPr/>
        </p:nvSpPr>
        <p:spPr>
          <a:xfrm>
            <a:off x="3154680" y="1490472"/>
            <a:ext cx="731520" cy="256032"/>
          </a:xfrm>
          <a:prstGeom prst="rect">
            <a:avLst/>
          </a:prstGeom>
          <a:noFill/>
          <a:ln/>
        </p:spPr>
        <p:txBody>
          <a:bodyPr wrap="square" lIns="0" tIns="0" rIns="0" bIns="0" rtlCol="0" anchor="ctr"/>
          <a:lstStyle/>
          <a:p>
            <a:pPr algn="r" indent="0" marL="0">
              <a:buNone/>
            </a:pPr>
            <a:r>
              <a:rPr lang="en-US" sz="1200" b="1" dirty="0">
                <a:solidFill>
                  <a:srgbClr val="64748B"/>
                </a:solidFill>
                <a:latin typeface="Arial" pitchFamily="34" charset="0"/>
                <a:ea typeface="Arial" pitchFamily="34" charset="-122"/>
                <a:cs typeface="Arial" pitchFamily="34" charset="-120"/>
              </a:rPr>
              <a:t>~20%</a:t>
            </a:r>
            <a:endParaRPr lang="en-US" sz="1200" dirty="0"/>
          </a:p>
        </p:txBody>
      </p:sp>
      <p:sp>
        <p:nvSpPr>
          <p:cNvPr id="10" name="Text 8"/>
          <p:cNvSpPr/>
          <p:nvPr/>
        </p:nvSpPr>
        <p:spPr>
          <a:xfrm>
            <a:off x="731520" y="1965960"/>
            <a:ext cx="3108960" cy="1920240"/>
          </a:xfrm>
          <a:prstGeom prst="rect">
            <a:avLst/>
          </a:prstGeom>
          <a:noFill/>
          <a:ln/>
        </p:spPr>
        <p:txBody>
          <a:bodyPr wrap="square" lIns="0" tIns="0" rIns="0" bIns="0" rtlCol="0" anchor="t"/>
          <a:lstStyle/>
          <a:p>
            <a:pPr marL="342900" indent="-342900">
              <a:lnSpc>
                <a:spcPts val="1300"/>
              </a:lnSpc>
              <a:spcAft>
                <a:spcPts val="800"/>
              </a:spcAft>
              <a:buSzPct val="100000"/>
              <a:buChar char="•"/>
            </a:pPr>
            <a:r>
              <a:rPr lang="en-US" sz="1080" dirty="0">
                <a:solidFill>
                  <a:srgbClr val="1E293B"/>
                </a:solidFill>
                <a:latin typeface="Calibri" pitchFamily="34" charset="0"/>
                <a:ea typeface="Calibri" pitchFamily="34" charset="-122"/>
                <a:cs typeface="Calibri" pitchFamily="34" charset="-120"/>
              </a:rPr>
              <a:t>PostGIS schema, FastAPI, seed data</a:t>
            </a:r>
            <a:endParaRPr lang="en-US" sz="1080" dirty="0"/>
          </a:p>
          <a:p>
            <a:pPr marL="342900" indent="-342900">
              <a:lnSpc>
                <a:spcPts val="1300"/>
              </a:lnSpc>
              <a:spcAft>
                <a:spcPts val="800"/>
              </a:spcAft>
              <a:buSzPct val="100000"/>
              <a:buChar char="•"/>
            </a:pPr>
            <a:r>
              <a:rPr lang="en-US" sz="1080" dirty="0">
                <a:solidFill>
                  <a:srgbClr val="1E293B"/>
                </a:solidFill>
                <a:latin typeface="Calibri" pitchFamily="34" charset="0"/>
                <a:ea typeface="Calibri" pitchFamily="34" charset="-122"/>
                <a:cs typeface="Calibri" pitchFamily="34" charset="-120"/>
              </a:rPr>
              <a:t>MapLibre dashboard + WebSocket</a:t>
            </a:r>
            <a:endParaRPr lang="en-US" sz="1080" dirty="0"/>
          </a:p>
          <a:p>
            <a:pPr marL="342900" indent="-342900">
              <a:lnSpc>
                <a:spcPts val="1300"/>
              </a:lnSpc>
              <a:spcAft>
                <a:spcPts val="800"/>
              </a:spcAft>
              <a:buSzPct val="100000"/>
              <a:buChar char="•"/>
            </a:pPr>
            <a:r>
              <a:rPr lang="en-US" sz="1080" dirty="0">
                <a:solidFill>
                  <a:srgbClr val="1E293B"/>
                </a:solidFill>
                <a:latin typeface="Calibri" pitchFamily="34" charset="0"/>
                <a:ea typeface="Calibri" pitchFamily="34" charset="-122"/>
                <a:cs typeface="Calibri" pitchFamily="34" charset="-120"/>
              </a:rPr>
              <a:t>CAP poller with ETag caching</a:t>
            </a:r>
            <a:endParaRPr lang="en-US" sz="1080" dirty="0"/>
          </a:p>
          <a:p>
            <a:pPr marL="342900" indent="-342900">
              <a:lnSpc>
                <a:spcPts val="1300"/>
              </a:lnSpc>
              <a:spcAft>
                <a:spcPts val="800"/>
              </a:spcAft>
              <a:buSzPct val="100000"/>
              <a:buChar char="•"/>
            </a:pPr>
            <a:r>
              <a:rPr lang="en-US" sz="1080" dirty="0">
                <a:solidFill>
                  <a:srgbClr val="1E293B"/>
                </a:solidFill>
                <a:latin typeface="Calibri" pitchFamily="34" charset="0"/>
                <a:ea typeface="Calibri" pitchFamily="34" charset="-122"/>
                <a:cs typeface="Calibri" pitchFamily="34" charset="-120"/>
              </a:rPr>
              <a:t>PWA report form with offline queue</a:t>
            </a:r>
            <a:endParaRPr lang="en-US" sz="1080" dirty="0"/>
          </a:p>
          <a:p>
            <a:pPr marL="342900" indent="-342900">
              <a:lnSpc>
                <a:spcPts val="1300"/>
              </a:lnSpc>
              <a:spcAft>
                <a:spcPts val="800"/>
              </a:spcAft>
              <a:buSzPct val="100000"/>
              <a:buChar char="•"/>
            </a:pPr>
            <a:r>
              <a:rPr lang="en-US" sz="1080" dirty="0">
                <a:solidFill>
                  <a:srgbClr val="1E293B"/>
                </a:solidFill>
                <a:latin typeface="Calibri" pitchFamily="34" charset="0"/>
                <a:ea typeface="Calibri" pitchFamily="34" charset="-122"/>
                <a:cs typeface="Calibri" pitchFamily="34" charset="-120"/>
              </a:rPr>
              <a:t>OSRM prepared for the state extract</a:t>
            </a:r>
            <a:endParaRPr lang="en-US" sz="1080" dirty="0"/>
          </a:p>
        </p:txBody>
      </p:sp>
      <p:sp>
        <p:nvSpPr>
          <p:cNvPr id="11" name="Shape 9"/>
          <p:cNvSpPr/>
          <p:nvPr/>
        </p:nvSpPr>
        <p:spPr>
          <a:xfrm>
            <a:off x="685800" y="3950208"/>
            <a:ext cx="3200400" cy="896112"/>
          </a:xfrm>
          <a:prstGeom prst="roundRect">
            <a:avLst>
              <a:gd name="adj" fmla="val 5102"/>
            </a:avLst>
          </a:prstGeom>
          <a:solidFill>
            <a:srgbClr val="0F172A"/>
          </a:solidFill>
          <a:ln w="12700">
            <a:solidFill>
              <a:srgbClr val="0F172A"/>
            </a:solidFill>
            <a:prstDash val="solid"/>
          </a:ln>
        </p:spPr>
      </p:sp>
      <p:sp>
        <p:nvSpPr>
          <p:cNvPr id="12" name="Text 10"/>
          <p:cNvSpPr/>
          <p:nvPr/>
        </p:nvSpPr>
        <p:spPr>
          <a:xfrm>
            <a:off x="822960" y="4059936"/>
            <a:ext cx="2926080" cy="694944"/>
          </a:xfrm>
          <a:prstGeom prst="rect">
            <a:avLst/>
          </a:prstGeom>
          <a:noFill/>
          <a:ln/>
        </p:spPr>
        <p:txBody>
          <a:bodyPr wrap="square" lIns="0" tIns="0" rIns="0" bIns="0" rtlCol="0" anchor="ctr"/>
          <a:lstStyle/>
          <a:p>
            <a:pPr indent="0" marL="0">
              <a:lnSpc>
                <a:spcPts val="1300"/>
              </a:lnSpc>
              <a:buNone/>
            </a:pPr>
            <a:r>
              <a:rPr lang="en-US" sz="1000" b="1" dirty="0">
                <a:solidFill>
                  <a:srgbClr val="E2E8F0"/>
                </a:solidFill>
                <a:latin typeface="Calibri" pitchFamily="34" charset="0"/>
                <a:ea typeface="Calibri" pitchFamily="34" charset="-122"/>
                <a:cs typeface="Calibri" pitchFamily="34" charset="-120"/>
              </a:rPr>
              <a:t>GATE: a report from a phone appears on the dashboard in under 2 seconds</a:t>
            </a:r>
            <a:endParaRPr lang="en-US" sz="1000" dirty="0"/>
          </a:p>
        </p:txBody>
      </p:sp>
      <p:sp>
        <p:nvSpPr>
          <p:cNvPr id="13" name="Shape 11"/>
          <p:cNvSpPr/>
          <p:nvPr/>
        </p:nvSpPr>
        <p:spPr>
          <a:xfrm>
            <a:off x="4315968" y="1298448"/>
            <a:ext cx="3566160" cy="3703320"/>
          </a:xfrm>
          <a:prstGeom prst="roundRect">
            <a:avLst>
              <a:gd name="adj" fmla="val 1538"/>
            </a:avLst>
          </a:prstGeom>
          <a:solidFill>
            <a:srgbClr val="FFFFFF"/>
          </a:solidFill>
          <a:ln w="12700">
            <a:solidFill>
              <a:srgbClr val="CBD5E1"/>
            </a:solidFill>
            <a:prstDash val="solid"/>
          </a:ln>
        </p:spPr>
      </p:sp>
      <p:sp>
        <p:nvSpPr>
          <p:cNvPr id="14" name="Shape 12"/>
          <p:cNvSpPr/>
          <p:nvPr/>
        </p:nvSpPr>
        <p:spPr>
          <a:xfrm>
            <a:off x="4498848" y="1463040"/>
            <a:ext cx="566928" cy="310896"/>
          </a:xfrm>
          <a:prstGeom prst="roundRect">
            <a:avLst>
              <a:gd name="adj" fmla="val 14706"/>
            </a:avLst>
          </a:prstGeom>
          <a:solidFill>
            <a:srgbClr val="D97706"/>
          </a:solidFill>
          <a:ln w="12700">
            <a:solidFill>
              <a:srgbClr val="D97706"/>
            </a:solidFill>
            <a:prstDash val="solid"/>
          </a:ln>
        </p:spPr>
      </p:sp>
      <p:sp>
        <p:nvSpPr>
          <p:cNvPr id="15" name="Text 13"/>
          <p:cNvSpPr/>
          <p:nvPr/>
        </p:nvSpPr>
        <p:spPr>
          <a:xfrm>
            <a:off x="4498848" y="1490472"/>
            <a:ext cx="566928" cy="256032"/>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P1</a:t>
            </a:r>
            <a:endParaRPr lang="en-US" sz="1200" dirty="0"/>
          </a:p>
        </p:txBody>
      </p:sp>
      <p:sp>
        <p:nvSpPr>
          <p:cNvPr id="16" name="Text 14"/>
          <p:cNvSpPr/>
          <p:nvPr/>
        </p:nvSpPr>
        <p:spPr>
          <a:xfrm>
            <a:off x="5157216" y="1463040"/>
            <a:ext cx="1828800" cy="292608"/>
          </a:xfrm>
          <a:prstGeom prst="rect">
            <a:avLst/>
          </a:prstGeom>
          <a:noFill/>
          <a:ln/>
        </p:spPr>
        <p:txBody>
          <a:bodyPr wrap="square" lIns="0" tIns="0" rIns="0" bIns="0" rtlCol="0" anchor="ctr"/>
          <a:lstStyle/>
          <a:p>
            <a:pPr indent="0" marL="0">
              <a:buNone/>
            </a:pPr>
            <a:r>
              <a:rPr lang="en-US" sz="1500" b="1" dirty="0">
                <a:solidFill>
                  <a:srgbClr val="0F172A"/>
                </a:solidFill>
                <a:latin typeface="Arial" pitchFamily="34" charset="0"/>
                <a:ea typeface="Arial" pitchFamily="34" charset="-122"/>
                <a:cs typeface="Arial" pitchFamily="34" charset="-120"/>
              </a:rPr>
              <a:t>The engine</a:t>
            </a:r>
            <a:endParaRPr lang="en-US" sz="1500" dirty="0"/>
          </a:p>
        </p:txBody>
      </p:sp>
      <p:sp>
        <p:nvSpPr>
          <p:cNvPr id="17" name="Text 15"/>
          <p:cNvSpPr/>
          <p:nvPr/>
        </p:nvSpPr>
        <p:spPr>
          <a:xfrm>
            <a:off x="6967728" y="1490472"/>
            <a:ext cx="731520" cy="256032"/>
          </a:xfrm>
          <a:prstGeom prst="rect">
            <a:avLst/>
          </a:prstGeom>
          <a:noFill/>
          <a:ln/>
        </p:spPr>
        <p:txBody>
          <a:bodyPr wrap="square" lIns="0" tIns="0" rIns="0" bIns="0" rtlCol="0" anchor="ctr"/>
          <a:lstStyle/>
          <a:p>
            <a:pPr algn="r" indent="0" marL="0">
              <a:buNone/>
            </a:pPr>
            <a:r>
              <a:rPr lang="en-US" sz="1200" b="1" dirty="0">
                <a:solidFill>
                  <a:srgbClr val="64748B"/>
                </a:solidFill>
                <a:latin typeface="Arial" pitchFamily="34" charset="0"/>
                <a:ea typeface="Arial" pitchFamily="34" charset="-122"/>
                <a:cs typeface="Arial" pitchFamily="34" charset="-120"/>
              </a:rPr>
              <a:t>~40%</a:t>
            </a:r>
            <a:endParaRPr lang="en-US" sz="1200" dirty="0"/>
          </a:p>
        </p:txBody>
      </p:sp>
      <p:sp>
        <p:nvSpPr>
          <p:cNvPr id="18" name="Text 16"/>
          <p:cNvSpPr/>
          <p:nvPr/>
        </p:nvSpPr>
        <p:spPr>
          <a:xfrm>
            <a:off x="4544568" y="1965960"/>
            <a:ext cx="3108960" cy="1920240"/>
          </a:xfrm>
          <a:prstGeom prst="rect">
            <a:avLst/>
          </a:prstGeom>
          <a:noFill/>
          <a:ln/>
        </p:spPr>
        <p:txBody>
          <a:bodyPr wrap="square" lIns="0" tIns="0" rIns="0" bIns="0" rtlCol="0" anchor="t"/>
          <a:lstStyle/>
          <a:p>
            <a:pPr marL="342900" indent="-342900">
              <a:lnSpc>
                <a:spcPts val="1300"/>
              </a:lnSpc>
              <a:spcAft>
                <a:spcPts val="800"/>
              </a:spcAft>
              <a:buSzPct val="100000"/>
              <a:buChar char="•"/>
            </a:pPr>
            <a:r>
              <a:rPr lang="en-US" sz="1080" dirty="0">
                <a:solidFill>
                  <a:srgbClr val="1E293B"/>
                </a:solidFill>
                <a:latin typeface="Calibri" pitchFamily="34" charset="0"/>
                <a:ea typeface="Calibri" pitchFamily="34" charset="-122"/>
                <a:cs typeface="Calibri" pitchFamily="34" charset="-120"/>
              </a:rPr>
              <a:t>DBSCAN clustering and incident merge</a:t>
            </a:r>
            <a:endParaRPr lang="en-US" sz="1080" dirty="0"/>
          </a:p>
          <a:p>
            <a:pPr marL="342900" indent="-342900">
              <a:lnSpc>
                <a:spcPts val="1300"/>
              </a:lnSpc>
              <a:spcAft>
                <a:spcPts val="800"/>
              </a:spcAft>
              <a:buSzPct val="100000"/>
              <a:buChar char="•"/>
            </a:pPr>
            <a:r>
              <a:rPr lang="en-US" sz="1080" dirty="0">
                <a:solidFill>
                  <a:srgbClr val="1E293B"/>
                </a:solidFill>
                <a:latin typeface="Calibri" pitchFamily="34" charset="0"/>
                <a:ea typeface="Calibri" pitchFamily="34" charset="-122"/>
                <a:cs typeface="Calibri" pitchFamily="34" charset="-120"/>
              </a:rPr>
              <a:t>Severity + trust scoring</a:t>
            </a:r>
            <a:endParaRPr lang="en-US" sz="1080" dirty="0"/>
          </a:p>
          <a:p>
            <a:pPr marL="342900" indent="-342900">
              <a:lnSpc>
                <a:spcPts val="1300"/>
              </a:lnSpc>
              <a:spcAft>
                <a:spcPts val="800"/>
              </a:spcAft>
              <a:buSzPct val="100000"/>
              <a:buChar char="•"/>
            </a:pPr>
            <a:r>
              <a:rPr lang="en-US" sz="1080" dirty="0">
                <a:solidFill>
                  <a:srgbClr val="1E293B"/>
                </a:solidFill>
                <a:latin typeface="Calibri" pitchFamily="34" charset="0"/>
                <a:ea typeface="Calibri" pitchFamily="34" charset="-122"/>
                <a:cs typeface="Calibri" pitchFamily="34" charset="-120"/>
              </a:rPr>
              <a:t>Hungarian assignment and greedy baseline</a:t>
            </a:r>
            <a:endParaRPr lang="en-US" sz="1080" dirty="0"/>
          </a:p>
          <a:p>
            <a:pPr marL="342900" indent="-342900">
              <a:lnSpc>
                <a:spcPts val="1300"/>
              </a:lnSpc>
              <a:spcAft>
                <a:spcPts val="800"/>
              </a:spcAft>
              <a:buSzPct val="100000"/>
              <a:buChar char="•"/>
            </a:pPr>
            <a:r>
              <a:rPr lang="en-US" sz="1080" dirty="0">
                <a:solidFill>
                  <a:srgbClr val="1E293B"/>
                </a:solidFill>
                <a:latin typeface="Calibri" pitchFamily="34" charset="0"/>
                <a:ea typeface="Calibri" pitchFamily="34" charset="-122"/>
                <a:cs typeface="Calibri" pitchFamily="34" charset="-120"/>
              </a:rPr>
              <a:t>Min-cost-flow shelter routing</a:t>
            </a:r>
            <a:endParaRPr lang="en-US" sz="1080" dirty="0"/>
          </a:p>
          <a:p>
            <a:pPr marL="342900" indent="-342900">
              <a:lnSpc>
                <a:spcPts val="1300"/>
              </a:lnSpc>
              <a:spcAft>
                <a:spcPts val="800"/>
              </a:spcAft>
              <a:buSzPct val="100000"/>
              <a:buChar char="•"/>
            </a:pPr>
            <a:r>
              <a:rPr lang="en-US" sz="1080" dirty="0">
                <a:solidFill>
                  <a:srgbClr val="1E293B"/>
                </a:solidFill>
                <a:latin typeface="Calibri" pitchFamily="34" charset="0"/>
                <a:ea typeface="Calibri" pitchFamily="34" charset="-122"/>
                <a:cs typeface="Calibri" pitchFamily="34" charset="-120"/>
              </a:rPr>
              <a:t>SMS and IVR endpoints</a:t>
            </a:r>
            <a:endParaRPr lang="en-US" sz="1080" dirty="0"/>
          </a:p>
        </p:txBody>
      </p:sp>
      <p:sp>
        <p:nvSpPr>
          <p:cNvPr id="19" name="Shape 17"/>
          <p:cNvSpPr/>
          <p:nvPr/>
        </p:nvSpPr>
        <p:spPr>
          <a:xfrm>
            <a:off x="4498848" y="3950208"/>
            <a:ext cx="3200400" cy="896112"/>
          </a:xfrm>
          <a:prstGeom prst="roundRect">
            <a:avLst>
              <a:gd name="adj" fmla="val 5102"/>
            </a:avLst>
          </a:prstGeom>
          <a:solidFill>
            <a:srgbClr val="0F172A"/>
          </a:solidFill>
          <a:ln w="12700">
            <a:solidFill>
              <a:srgbClr val="0F172A"/>
            </a:solidFill>
            <a:prstDash val="solid"/>
          </a:ln>
        </p:spPr>
      </p:sp>
      <p:sp>
        <p:nvSpPr>
          <p:cNvPr id="20" name="Text 18"/>
          <p:cNvSpPr/>
          <p:nvPr/>
        </p:nvSpPr>
        <p:spPr>
          <a:xfrm>
            <a:off x="4636008" y="4059936"/>
            <a:ext cx="2926080" cy="694944"/>
          </a:xfrm>
          <a:prstGeom prst="rect">
            <a:avLst/>
          </a:prstGeom>
          <a:noFill/>
          <a:ln/>
        </p:spPr>
        <p:txBody>
          <a:bodyPr wrap="square" lIns="0" tIns="0" rIns="0" bIns="0" rtlCol="0" anchor="ctr"/>
          <a:lstStyle/>
          <a:p>
            <a:pPr indent="0" marL="0">
              <a:lnSpc>
                <a:spcPts val="1300"/>
              </a:lnSpc>
              <a:buNone/>
            </a:pPr>
            <a:r>
              <a:rPr lang="en-US" sz="1000" b="1" dirty="0">
                <a:solidFill>
                  <a:srgbClr val="E2E8F0"/>
                </a:solidFill>
                <a:latin typeface="Calibri" pitchFamily="34" charset="0"/>
                <a:ea typeface="Calibri" pitchFamily="34" charset="-122"/>
                <a:cs typeface="Calibri" pitchFamily="34" charset="-120"/>
              </a:rPr>
              <a:t>GATE: the Greedy ↔ Optimized toggle yields a real, computed delta</a:t>
            </a:r>
            <a:endParaRPr lang="en-US" sz="1000" dirty="0"/>
          </a:p>
        </p:txBody>
      </p:sp>
      <p:sp>
        <p:nvSpPr>
          <p:cNvPr id="21" name="Shape 19"/>
          <p:cNvSpPr/>
          <p:nvPr/>
        </p:nvSpPr>
        <p:spPr>
          <a:xfrm>
            <a:off x="8129016" y="1298448"/>
            <a:ext cx="3566160" cy="3703320"/>
          </a:xfrm>
          <a:prstGeom prst="roundRect">
            <a:avLst>
              <a:gd name="adj" fmla="val 1538"/>
            </a:avLst>
          </a:prstGeom>
          <a:solidFill>
            <a:srgbClr val="FFFFFF"/>
          </a:solidFill>
          <a:ln w="12700">
            <a:solidFill>
              <a:srgbClr val="CBD5E1"/>
            </a:solidFill>
            <a:prstDash val="solid"/>
          </a:ln>
        </p:spPr>
      </p:sp>
      <p:sp>
        <p:nvSpPr>
          <p:cNvPr id="22" name="Shape 20"/>
          <p:cNvSpPr/>
          <p:nvPr/>
        </p:nvSpPr>
        <p:spPr>
          <a:xfrm>
            <a:off x="8311896" y="1463040"/>
            <a:ext cx="566928" cy="310896"/>
          </a:xfrm>
          <a:prstGeom prst="roundRect">
            <a:avLst>
              <a:gd name="adj" fmla="val 14706"/>
            </a:avLst>
          </a:prstGeom>
          <a:solidFill>
            <a:srgbClr val="059669"/>
          </a:solidFill>
          <a:ln w="12700">
            <a:solidFill>
              <a:srgbClr val="059669"/>
            </a:solidFill>
            <a:prstDash val="solid"/>
          </a:ln>
        </p:spPr>
      </p:sp>
      <p:sp>
        <p:nvSpPr>
          <p:cNvPr id="23" name="Text 21"/>
          <p:cNvSpPr/>
          <p:nvPr/>
        </p:nvSpPr>
        <p:spPr>
          <a:xfrm>
            <a:off x="8311896" y="1490472"/>
            <a:ext cx="566928" cy="256032"/>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P2</a:t>
            </a:r>
            <a:endParaRPr lang="en-US" sz="1200" dirty="0"/>
          </a:p>
        </p:txBody>
      </p:sp>
      <p:sp>
        <p:nvSpPr>
          <p:cNvPr id="24" name="Text 22"/>
          <p:cNvSpPr/>
          <p:nvPr/>
        </p:nvSpPr>
        <p:spPr>
          <a:xfrm>
            <a:off x="8970264" y="1463040"/>
            <a:ext cx="1828800" cy="292608"/>
          </a:xfrm>
          <a:prstGeom prst="rect">
            <a:avLst/>
          </a:prstGeom>
          <a:noFill/>
          <a:ln/>
        </p:spPr>
        <p:txBody>
          <a:bodyPr wrap="square" lIns="0" tIns="0" rIns="0" bIns="0" rtlCol="0" anchor="ctr"/>
          <a:lstStyle/>
          <a:p>
            <a:pPr indent="0" marL="0">
              <a:buNone/>
            </a:pPr>
            <a:r>
              <a:rPr lang="en-US" sz="1500" b="1" dirty="0">
                <a:solidFill>
                  <a:srgbClr val="0F172A"/>
                </a:solidFill>
                <a:latin typeface="Arial" pitchFamily="34" charset="0"/>
                <a:ea typeface="Arial" pitchFamily="34" charset="-122"/>
                <a:cs typeface="Arial" pitchFamily="34" charset="-120"/>
              </a:rPr>
              <a:t>What scores</a:t>
            </a:r>
            <a:endParaRPr lang="en-US" sz="1500" dirty="0"/>
          </a:p>
        </p:txBody>
      </p:sp>
      <p:sp>
        <p:nvSpPr>
          <p:cNvPr id="25" name="Text 23"/>
          <p:cNvSpPr/>
          <p:nvPr/>
        </p:nvSpPr>
        <p:spPr>
          <a:xfrm>
            <a:off x="10780776" y="1490472"/>
            <a:ext cx="731520" cy="256032"/>
          </a:xfrm>
          <a:prstGeom prst="rect">
            <a:avLst/>
          </a:prstGeom>
          <a:noFill/>
          <a:ln/>
        </p:spPr>
        <p:txBody>
          <a:bodyPr wrap="square" lIns="0" tIns="0" rIns="0" bIns="0" rtlCol="0" anchor="ctr"/>
          <a:lstStyle/>
          <a:p>
            <a:pPr algn="r" indent="0" marL="0">
              <a:buNone/>
            </a:pPr>
            <a:r>
              <a:rPr lang="en-US" sz="1200" b="1" dirty="0">
                <a:solidFill>
                  <a:srgbClr val="64748B"/>
                </a:solidFill>
                <a:latin typeface="Arial" pitchFamily="34" charset="0"/>
                <a:ea typeface="Arial" pitchFamily="34" charset="-122"/>
                <a:cs typeface="Arial" pitchFamily="34" charset="-120"/>
              </a:rPr>
              <a:t>~40%</a:t>
            </a:r>
            <a:endParaRPr lang="en-US" sz="1200" dirty="0"/>
          </a:p>
        </p:txBody>
      </p:sp>
      <p:sp>
        <p:nvSpPr>
          <p:cNvPr id="26" name="Text 24"/>
          <p:cNvSpPr/>
          <p:nvPr/>
        </p:nvSpPr>
        <p:spPr>
          <a:xfrm>
            <a:off x="8357616" y="1965960"/>
            <a:ext cx="3108960" cy="1920240"/>
          </a:xfrm>
          <a:prstGeom prst="rect">
            <a:avLst/>
          </a:prstGeom>
          <a:noFill/>
          <a:ln/>
        </p:spPr>
        <p:txBody>
          <a:bodyPr wrap="square" lIns="0" tIns="0" rIns="0" bIns="0" rtlCol="0" anchor="t"/>
          <a:lstStyle/>
          <a:p>
            <a:pPr marL="342900" indent="-342900">
              <a:lnSpc>
                <a:spcPts val="1300"/>
              </a:lnSpc>
              <a:spcAft>
                <a:spcPts val="800"/>
              </a:spcAft>
              <a:buSzPct val="100000"/>
              <a:buChar char="•"/>
            </a:pPr>
            <a:r>
              <a:rPr lang="en-US" sz="1080" dirty="0">
                <a:solidFill>
                  <a:srgbClr val="1E293B"/>
                </a:solidFill>
                <a:latin typeface="Calibri" pitchFamily="34" charset="0"/>
                <a:ea typeface="Calibri" pitchFamily="34" charset="-122"/>
                <a:cs typeface="Calibri" pitchFamily="34" charset="-120"/>
              </a:rPr>
              <a:t>Simulation mode — the demo backbone</a:t>
            </a:r>
            <a:endParaRPr lang="en-US" sz="1080" dirty="0"/>
          </a:p>
          <a:p>
            <a:pPr marL="342900" indent="-342900">
              <a:lnSpc>
                <a:spcPts val="1300"/>
              </a:lnSpc>
              <a:spcAft>
                <a:spcPts val="800"/>
              </a:spcAft>
              <a:buSzPct val="100000"/>
              <a:buChar char="•"/>
            </a:pPr>
            <a:r>
              <a:rPr lang="en-US" sz="1080" dirty="0">
                <a:solidFill>
                  <a:srgbClr val="1E293B"/>
                </a:solidFill>
                <a:latin typeface="Calibri" pitchFamily="34" charset="0"/>
                <a:ea typeface="Calibri" pitchFamily="34" charset="-122"/>
                <a:cs typeface="Calibri" pitchFamily="34" charset="-120"/>
              </a:rPr>
              <a:t>Predictive pre-positioning</a:t>
            </a:r>
            <a:endParaRPr lang="en-US" sz="1080" dirty="0"/>
          </a:p>
          <a:p>
            <a:pPr marL="342900" indent="-342900">
              <a:lnSpc>
                <a:spcPts val="1300"/>
              </a:lnSpc>
              <a:spcAft>
                <a:spcPts val="800"/>
              </a:spcAft>
              <a:buSzPct val="100000"/>
              <a:buChar char="•"/>
            </a:pPr>
            <a:r>
              <a:rPr lang="en-US" sz="1080" dirty="0">
                <a:solidFill>
                  <a:srgbClr val="1E293B"/>
                </a:solidFill>
                <a:latin typeface="Calibri" pitchFamily="34" charset="0"/>
                <a:ea typeface="Calibri" pitchFamily="34" charset="-122"/>
                <a:cs typeface="Calibri" pitchFamily="34" charset="-120"/>
              </a:rPr>
              <a:t>Live metrics strip and SLA timers</a:t>
            </a:r>
            <a:endParaRPr lang="en-US" sz="1080" dirty="0"/>
          </a:p>
          <a:p>
            <a:pPr marL="342900" indent="-342900">
              <a:lnSpc>
                <a:spcPts val="1300"/>
              </a:lnSpc>
              <a:spcAft>
                <a:spcPts val="800"/>
              </a:spcAft>
              <a:buSzPct val="100000"/>
              <a:buChar char="•"/>
            </a:pPr>
            <a:r>
              <a:rPr lang="en-US" sz="1080" dirty="0">
                <a:solidFill>
                  <a:srgbClr val="1E293B"/>
                </a:solidFill>
                <a:latin typeface="Calibri" pitchFamily="34" charset="0"/>
                <a:ea typeface="Calibri" pitchFamily="34" charset="-122"/>
                <a:cs typeface="Calibri" pitchFamily="34" charset="-120"/>
              </a:rPr>
              <a:t>Real shelter data from the state SRC list</a:t>
            </a:r>
            <a:endParaRPr lang="en-US" sz="1080" dirty="0"/>
          </a:p>
          <a:p>
            <a:pPr marL="342900" indent="-342900">
              <a:lnSpc>
                <a:spcPts val="1300"/>
              </a:lnSpc>
              <a:spcAft>
                <a:spcPts val="800"/>
              </a:spcAft>
              <a:buSzPct val="100000"/>
              <a:buChar char="•"/>
            </a:pPr>
            <a:r>
              <a:rPr lang="en-US" sz="1080" dirty="0">
                <a:solidFill>
                  <a:srgbClr val="1E293B"/>
                </a:solidFill>
                <a:latin typeface="Calibri" pitchFamily="34" charset="0"/>
                <a:ea typeface="Calibri" pitchFamily="34" charset="-122"/>
                <a:cs typeface="Calibri" pitchFamily="34" charset="-120"/>
              </a:rPr>
              <a:t>After-action report export, bilingual UI</a:t>
            </a:r>
            <a:endParaRPr lang="en-US" sz="1080" dirty="0"/>
          </a:p>
        </p:txBody>
      </p:sp>
      <p:sp>
        <p:nvSpPr>
          <p:cNvPr id="27" name="Shape 25"/>
          <p:cNvSpPr/>
          <p:nvPr/>
        </p:nvSpPr>
        <p:spPr>
          <a:xfrm>
            <a:off x="8311896" y="3950208"/>
            <a:ext cx="3200400" cy="896112"/>
          </a:xfrm>
          <a:prstGeom prst="roundRect">
            <a:avLst>
              <a:gd name="adj" fmla="val 5102"/>
            </a:avLst>
          </a:prstGeom>
          <a:solidFill>
            <a:srgbClr val="0F172A"/>
          </a:solidFill>
          <a:ln w="12700">
            <a:solidFill>
              <a:srgbClr val="0F172A"/>
            </a:solidFill>
            <a:prstDash val="solid"/>
          </a:ln>
        </p:spPr>
      </p:sp>
      <p:sp>
        <p:nvSpPr>
          <p:cNvPr id="28" name="Text 26"/>
          <p:cNvSpPr/>
          <p:nvPr/>
        </p:nvSpPr>
        <p:spPr>
          <a:xfrm>
            <a:off x="8449056" y="4059936"/>
            <a:ext cx="2926080" cy="694944"/>
          </a:xfrm>
          <a:prstGeom prst="rect">
            <a:avLst/>
          </a:prstGeom>
          <a:noFill/>
          <a:ln/>
        </p:spPr>
        <p:txBody>
          <a:bodyPr wrap="square" lIns="0" tIns="0" rIns="0" bIns="0" rtlCol="0" anchor="ctr"/>
          <a:lstStyle/>
          <a:p>
            <a:pPr indent="0" marL="0">
              <a:lnSpc>
                <a:spcPts val="1300"/>
              </a:lnSpc>
              <a:buNone/>
            </a:pPr>
            <a:r>
              <a:rPr lang="en-US" sz="1000" b="1" dirty="0">
                <a:solidFill>
                  <a:srgbClr val="E2E8F0"/>
                </a:solidFill>
                <a:latin typeface="Calibri" pitchFamily="34" charset="0"/>
                <a:ea typeface="Calibri" pitchFamily="34" charset="-122"/>
                <a:cs typeface="Calibri" pitchFamily="34" charset="-120"/>
              </a:rPr>
              <a:t>GATE: hard feature freeze at T−4h, then rehearse ten times</a:t>
            </a:r>
            <a:endParaRPr lang="en-US" sz="1000" dirty="0"/>
          </a:p>
        </p:txBody>
      </p:sp>
      <p:sp>
        <p:nvSpPr>
          <p:cNvPr id="29" name="Text 27"/>
          <p:cNvSpPr/>
          <p:nvPr/>
        </p:nvSpPr>
        <p:spPr>
          <a:xfrm>
            <a:off x="502920" y="5230368"/>
            <a:ext cx="11155680" cy="548640"/>
          </a:xfrm>
          <a:prstGeom prst="rect">
            <a:avLst/>
          </a:prstGeom>
          <a:noFill/>
          <a:ln/>
        </p:spPr>
        <p:txBody>
          <a:bodyPr wrap="square" lIns="0" tIns="0" rIns="0" bIns="0" rtlCol="0" anchor="ctr"/>
          <a:lstStyle/>
          <a:p>
            <a:pPr indent="0" marL="0">
              <a:lnSpc>
                <a:spcPts val="1400"/>
              </a:lnSpc>
              <a:buNone/>
            </a:pPr>
            <a:r>
              <a:rPr lang="en-US" sz="1100" dirty="0">
                <a:solidFill>
                  <a:srgbClr val="64748B"/>
                </a:solidFill>
                <a:latin typeface="Calibri" pitchFamily="34" charset="0"/>
                <a:ea typeface="Calibri" pitchFamily="34" charset="-122"/>
                <a:cs typeface="Calibri" pitchFamily="34" charset="-120"/>
              </a:rPr>
              <a:t>Deliberately out of scope: login and RBAC beyond a role switch · drone or satellite feeds · blockchain · a custom ML model · native mobile apps · Kubernetes.  Each is defensible later; none earns its cost now.</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822960" y="1051560"/>
            <a:ext cx="1371600" cy="54864"/>
          </a:xfrm>
          <a:prstGeom prst="rect">
            <a:avLst/>
          </a:prstGeom>
          <a:solidFill>
            <a:srgbClr val="DC2626"/>
          </a:solidFill>
          <a:ln/>
        </p:spPr>
      </p:sp>
      <p:sp>
        <p:nvSpPr>
          <p:cNvPr id="3" name="Text 1"/>
          <p:cNvSpPr/>
          <p:nvPr/>
        </p:nvSpPr>
        <p:spPr>
          <a:xfrm>
            <a:off x="777240" y="1280160"/>
            <a:ext cx="7315200" cy="685800"/>
          </a:xfrm>
          <a:prstGeom prst="rect">
            <a:avLst/>
          </a:prstGeom>
          <a:noFill/>
          <a:ln/>
        </p:spPr>
        <p:txBody>
          <a:bodyPr wrap="square" lIns="0" tIns="0" rIns="0" bIns="0" rtlCol="0" anchor="ctr"/>
          <a:lstStyle/>
          <a:p>
            <a:pPr indent="0" marL="0">
              <a:buNone/>
            </a:pPr>
            <a:r>
              <a:rPr lang="en-US" sz="4200" b="1" dirty="0">
                <a:solidFill>
                  <a:srgbClr val="FFFFFF"/>
                </a:solidFill>
                <a:latin typeface="Arial" pitchFamily="34" charset="0"/>
                <a:ea typeface="Arial" pitchFamily="34" charset="-122"/>
                <a:cs typeface="Arial" pitchFamily="34" charset="-120"/>
              </a:rPr>
              <a:t>Why this works</a:t>
            </a:r>
            <a:endParaRPr lang="en-US" sz="4200" dirty="0"/>
          </a:p>
        </p:txBody>
      </p:sp>
      <p:sp>
        <p:nvSpPr>
          <p:cNvPr id="4" name="Shape 2"/>
          <p:cNvSpPr/>
          <p:nvPr/>
        </p:nvSpPr>
        <p:spPr>
          <a:xfrm>
            <a:off x="804672" y="2240280"/>
            <a:ext cx="310896" cy="310896"/>
          </a:xfrm>
          <a:prstGeom prst="ellipse">
            <a:avLst/>
          </a:prstGeom>
          <a:solidFill>
            <a:srgbClr val="DC2626"/>
          </a:solidFill>
          <a:ln/>
        </p:spPr>
      </p:sp>
      <p:sp>
        <p:nvSpPr>
          <p:cNvPr id="5" name="Text 3"/>
          <p:cNvSpPr/>
          <p:nvPr/>
        </p:nvSpPr>
        <p:spPr>
          <a:xfrm>
            <a:off x="804672" y="2258568"/>
            <a:ext cx="310896"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1</a:t>
            </a:r>
            <a:endParaRPr lang="en-US" sz="1200" dirty="0"/>
          </a:p>
        </p:txBody>
      </p:sp>
      <p:sp>
        <p:nvSpPr>
          <p:cNvPr id="6" name="Text 4"/>
          <p:cNvSpPr/>
          <p:nvPr/>
        </p:nvSpPr>
        <p:spPr>
          <a:xfrm>
            <a:off x="1280160" y="2194560"/>
            <a:ext cx="3657600" cy="292608"/>
          </a:xfrm>
          <a:prstGeom prst="rect">
            <a:avLst/>
          </a:prstGeom>
          <a:noFill/>
          <a:ln/>
        </p:spPr>
        <p:txBody>
          <a:bodyPr wrap="square" lIns="0" tIns="0" rIns="0" bIns="0" rtlCol="0" anchor="t"/>
          <a:lstStyle/>
          <a:p>
            <a:pPr indent="0" marL="0">
              <a:buNone/>
            </a:pPr>
            <a:r>
              <a:rPr lang="en-US" sz="1500" b="1" dirty="0">
                <a:solidFill>
                  <a:srgbClr val="FFFFFF"/>
                </a:solidFill>
                <a:latin typeface="Arial" pitchFamily="34" charset="0"/>
                <a:ea typeface="Arial" pitchFamily="34" charset="-122"/>
                <a:cs typeface="Arial" pitchFamily="34" charset="-120"/>
              </a:rPr>
              <a:t>We solved the right problem</a:t>
            </a:r>
            <a:endParaRPr lang="en-US" sz="1500" dirty="0"/>
          </a:p>
        </p:txBody>
      </p:sp>
      <p:sp>
        <p:nvSpPr>
          <p:cNvPr id="7" name="Text 5"/>
          <p:cNvSpPr/>
          <p:nvPr/>
        </p:nvSpPr>
        <p:spPr>
          <a:xfrm>
            <a:off x="5029200" y="2176272"/>
            <a:ext cx="6537960" cy="822960"/>
          </a:xfrm>
          <a:prstGeom prst="rect">
            <a:avLst/>
          </a:prstGeom>
          <a:noFill/>
          <a:ln/>
        </p:spPr>
        <p:txBody>
          <a:bodyPr wrap="square" lIns="0" tIns="0" rIns="0" bIns="0" rtlCol="0" anchor="t"/>
          <a:lstStyle/>
          <a:p>
            <a:pPr indent="0" marL="0">
              <a:lnSpc>
                <a:spcPts val="1400"/>
              </a:lnSpc>
              <a:buNone/>
            </a:pPr>
            <a:r>
              <a:rPr lang="en-US" sz="1100" dirty="0">
                <a:solidFill>
                  <a:srgbClr val="94A3B8"/>
                </a:solidFill>
                <a:latin typeface="Calibri" pitchFamily="34" charset="0"/>
                <a:ea typeface="Calibri" pitchFamily="34" charset="-122"/>
                <a:cs typeface="Calibri" pitchFamily="34" charset="-120"/>
              </a:rPr>
              <a:t>Detection and dissemination are national capabilities already. We occupy the coordination and allocation gap that actually still kills people.</a:t>
            </a:r>
            <a:endParaRPr lang="en-US" sz="1100" dirty="0"/>
          </a:p>
        </p:txBody>
      </p:sp>
      <p:sp>
        <p:nvSpPr>
          <p:cNvPr id="8" name="Shape 6"/>
          <p:cNvSpPr/>
          <p:nvPr/>
        </p:nvSpPr>
        <p:spPr>
          <a:xfrm>
            <a:off x="804672" y="3227832"/>
            <a:ext cx="310896" cy="310896"/>
          </a:xfrm>
          <a:prstGeom prst="ellipse">
            <a:avLst/>
          </a:prstGeom>
          <a:solidFill>
            <a:srgbClr val="DC2626"/>
          </a:solidFill>
          <a:ln/>
        </p:spPr>
      </p:sp>
      <p:sp>
        <p:nvSpPr>
          <p:cNvPr id="9" name="Text 7"/>
          <p:cNvSpPr/>
          <p:nvPr/>
        </p:nvSpPr>
        <p:spPr>
          <a:xfrm>
            <a:off x="804672" y="3246120"/>
            <a:ext cx="310896"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2</a:t>
            </a:r>
            <a:endParaRPr lang="en-US" sz="1200" dirty="0"/>
          </a:p>
        </p:txBody>
      </p:sp>
      <p:sp>
        <p:nvSpPr>
          <p:cNvPr id="10" name="Text 8"/>
          <p:cNvSpPr/>
          <p:nvPr/>
        </p:nvSpPr>
        <p:spPr>
          <a:xfrm>
            <a:off x="1280160" y="3182112"/>
            <a:ext cx="3657600" cy="292608"/>
          </a:xfrm>
          <a:prstGeom prst="rect">
            <a:avLst/>
          </a:prstGeom>
          <a:noFill/>
          <a:ln/>
        </p:spPr>
        <p:txBody>
          <a:bodyPr wrap="square" lIns="0" tIns="0" rIns="0" bIns="0" rtlCol="0" anchor="t"/>
          <a:lstStyle/>
          <a:p>
            <a:pPr indent="0" marL="0">
              <a:buNone/>
            </a:pPr>
            <a:r>
              <a:rPr lang="en-US" sz="1500" b="1" dirty="0">
                <a:solidFill>
                  <a:srgbClr val="FFFFFF"/>
                </a:solidFill>
                <a:latin typeface="Arial" pitchFamily="34" charset="0"/>
                <a:ea typeface="Arial" pitchFamily="34" charset="-122"/>
                <a:cs typeface="Arial" pitchFamily="34" charset="-120"/>
              </a:rPr>
              <a:t>We built a solver, not a map</a:t>
            </a:r>
            <a:endParaRPr lang="en-US" sz="1500" dirty="0"/>
          </a:p>
        </p:txBody>
      </p:sp>
      <p:sp>
        <p:nvSpPr>
          <p:cNvPr id="11" name="Text 9"/>
          <p:cNvSpPr/>
          <p:nvPr/>
        </p:nvSpPr>
        <p:spPr>
          <a:xfrm>
            <a:off x="5029200" y="3163824"/>
            <a:ext cx="6537960" cy="822960"/>
          </a:xfrm>
          <a:prstGeom prst="rect">
            <a:avLst/>
          </a:prstGeom>
          <a:noFill/>
          <a:ln/>
        </p:spPr>
        <p:txBody>
          <a:bodyPr wrap="square" lIns="0" tIns="0" rIns="0" bIns="0" rtlCol="0" anchor="t"/>
          <a:lstStyle/>
          <a:p>
            <a:pPr indent="0" marL="0">
              <a:lnSpc>
                <a:spcPts val="1400"/>
              </a:lnSpc>
              <a:buNone/>
            </a:pPr>
            <a:r>
              <a:rPr lang="en-US" sz="1100" dirty="0">
                <a:solidFill>
                  <a:srgbClr val="94A3B8"/>
                </a:solidFill>
                <a:latin typeface="Calibri" pitchFamily="34" charset="0"/>
                <a:ea typeface="Calibri" pitchFamily="34" charset="-122"/>
                <a:cs typeface="Calibri" pitchFamily="34" charset="-120"/>
              </a:rPr>
              <a:t>Hungarian assignment, min-cost-flow shelters and predictive pre-positioning — measurable, explainable, and demonstrably better than nearest-first dispatch.</a:t>
            </a:r>
            <a:endParaRPr lang="en-US" sz="1100" dirty="0"/>
          </a:p>
        </p:txBody>
      </p:sp>
      <p:sp>
        <p:nvSpPr>
          <p:cNvPr id="12" name="Shape 10"/>
          <p:cNvSpPr/>
          <p:nvPr/>
        </p:nvSpPr>
        <p:spPr>
          <a:xfrm>
            <a:off x="804672" y="4215384"/>
            <a:ext cx="310896" cy="310896"/>
          </a:xfrm>
          <a:prstGeom prst="ellipse">
            <a:avLst/>
          </a:prstGeom>
          <a:solidFill>
            <a:srgbClr val="DC2626"/>
          </a:solidFill>
          <a:ln/>
        </p:spPr>
      </p:sp>
      <p:sp>
        <p:nvSpPr>
          <p:cNvPr id="13" name="Text 11"/>
          <p:cNvSpPr/>
          <p:nvPr/>
        </p:nvSpPr>
        <p:spPr>
          <a:xfrm>
            <a:off x="804672" y="4233672"/>
            <a:ext cx="310896"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3</a:t>
            </a:r>
            <a:endParaRPr lang="en-US" sz="1200" dirty="0"/>
          </a:p>
        </p:txBody>
      </p:sp>
      <p:sp>
        <p:nvSpPr>
          <p:cNvPr id="14" name="Text 12"/>
          <p:cNvSpPr/>
          <p:nvPr/>
        </p:nvSpPr>
        <p:spPr>
          <a:xfrm>
            <a:off x="1280160" y="4169664"/>
            <a:ext cx="3657600" cy="292608"/>
          </a:xfrm>
          <a:prstGeom prst="rect">
            <a:avLst/>
          </a:prstGeom>
          <a:noFill/>
          <a:ln/>
        </p:spPr>
        <p:txBody>
          <a:bodyPr wrap="square" lIns="0" tIns="0" rIns="0" bIns="0" rtlCol="0" anchor="t"/>
          <a:lstStyle/>
          <a:p>
            <a:pPr indent="0" marL="0">
              <a:buNone/>
            </a:pPr>
            <a:r>
              <a:rPr lang="en-US" sz="1500" b="1" dirty="0">
                <a:solidFill>
                  <a:srgbClr val="FFFFFF"/>
                </a:solidFill>
                <a:latin typeface="Arial" pitchFamily="34" charset="0"/>
                <a:ea typeface="Arial" pitchFamily="34" charset="-122"/>
                <a:cs typeface="Arial" pitchFamily="34" charset="-120"/>
              </a:rPr>
              <a:t>It survives contact with reality</a:t>
            </a:r>
            <a:endParaRPr lang="en-US" sz="1500" dirty="0"/>
          </a:p>
        </p:txBody>
      </p:sp>
      <p:sp>
        <p:nvSpPr>
          <p:cNvPr id="15" name="Text 13"/>
          <p:cNvSpPr/>
          <p:nvPr/>
        </p:nvSpPr>
        <p:spPr>
          <a:xfrm>
            <a:off x="5029200" y="4151376"/>
            <a:ext cx="6537960" cy="822960"/>
          </a:xfrm>
          <a:prstGeom prst="rect">
            <a:avLst/>
          </a:prstGeom>
          <a:noFill/>
          <a:ln/>
        </p:spPr>
        <p:txBody>
          <a:bodyPr wrap="square" lIns="0" tIns="0" rIns="0" bIns="0" rtlCol="0" anchor="t"/>
          <a:lstStyle/>
          <a:p>
            <a:pPr indent="0" marL="0">
              <a:lnSpc>
                <a:spcPts val="1400"/>
              </a:lnSpc>
              <a:buNone/>
            </a:pPr>
            <a:r>
              <a:rPr lang="en-US" sz="1100" dirty="0">
                <a:solidFill>
                  <a:srgbClr val="94A3B8"/>
                </a:solidFill>
                <a:latin typeface="Calibri" pitchFamily="34" charset="0"/>
                <a:ea typeface="Calibri" pitchFamily="34" charset="-122"/>
                <a:cs typeface="Calibri" pitchFamily="34" charset="-120"/>
              </a:rPr>
              <a:t>Four ingest channels degrading to radio relay, offline-first clients, real road ETAs, and a full stack that runs with the network unplugged.</a:t>
            </a:r>
            <a:endParaRPr lang="en-US" sz="1100" dirty="0"/>
          </a:p>
        </p:txBody>
      </p:sp>
      <p:sp>
        <p:nvSpPr>
          <p:cNvPr id="16" name="Shape 14"/>
          <p:cNvSpPr/>
          <p:nvPr/>
        </p:nvSpPr>
        <p:spPr>
          <a:xfrm>
            <a:off x="804672" y="5202936"/>
            <a:ext cx="310896" cy="310896"/>
          </a:xfrm>
          <a:prstGeom prst="ellipse">
            <a:avLst/>
          </a:prstGeom>
          <a:solidFill>
            <a:srgbClr val="DC2626"/>
          </a:solidFill>
          <a:ln/>
        </p:spPr>
      </p:sp>
      <p:sp>
        <p:nvSpPr>
          <p:cNvPr id="17" name="Text 15"/>
          <p:cNvSpPr/>
          <p:nvPr/>
        </p:nvSpPr>
        <p:spPr>
          <a:xfrm>
            <a:off x="804672" y="5221224"/>
            <a:ext cx="310896"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4</a:t>
            </a:r>
            <a:endParaRPr lang="en-US" sz="1200" dirty="0"/>
          </a:p>
        </p:txBody>
      </p:sp>
      <p:sp>
        <p:nvSpPr>
          <p:cNvPr id="18" name="Text 16"/>
          <p:cNvSpPr/>
          <p:nvPr/>
        </p:nvSpPr>
        <p:spPr>
          <a:xfrm>
            <a:off x="1280160" y="5157216"/>
            <a:ext cx="3657600" cy="292608"/>
          </a:xfrm>
          <a:prstGeom prst="rect">
            <a:avLst/>
          </a:prstGeom>
          <a:noFill/>
          <a:ln/>
        </p:spPr>
        <p:txBody>
          <a:bodyPr wrap="square" lIns="0" tIns="0" rIns="0" bIns="0" rtlCol="0" anchor="t"/>
          <a:lstStyle/>
          <a:p>
            <a:pPr indent="0" marL="0">
              <a:buNone/>
            </a:pPr>
            <a:r>
              <a:rPr lang="en-US" sz="1500" b="1" dirty="0">
                <a:solidFill>
                  <a:srgbClr val="FFFFFF"/>
                </a:solidFill>
                <a:latin typeface="Arial" pitchFamily="34" charset="0"/>
                <a:ea typeface="Arial" pitchFamily="34" charset="-122"/>
                <a:cs typeface="Arial" pitchFamily="34" charset="-120"/>
              </a:rPr>
              <a:t>It has a life after the cyclone</a:t>
            </a:r>
            <a:endParaRPr lang="en-US" sz="1500" dirty="0"/>
          </a:p>
        </p:txBody>
      </p:sp>
      <p:sp>
        <p:nvSpPr>
          <p:cNvPr id="19" name="Text 17"/>
          <p:cNvSpPr/>
          <p:nvPr/>
        </p:nvSpPr>
        <p:spPr>
          <a:xfrm>
            <a:off x="5029200" y="5138928"/>
            <a:ext cx="6537960" cy="822960"/>
          </a:xfrm>
          <a:prstGeom prst="rect">
            <a:avLst/>
          </a:prstGeom>
          <a:noFill/>
          <a:ln/>
        </p:spPr>
        <p:txBody>
          <a:bodyPr wrap="square" lIns="0" tIns="0" rIns="0" bIns="0" rtlCol="0" anchor="t"/>
          <a:lstStyle/>
          <a:p>
            <a:pPr indent="0" marL="0">
              <a:lnSpc>
                <a:spcPts val="1400"/>
              </a:lnSpc>
              <a:buNone/>
            </a:pPr>
            <a:r>
              <a:rPr lang="en-US" sz="1100" dirty="0">
                <a:solidFill>
                  <a:srgbClr val="94A3B8"/>
                </a:solidFill>
                <a:latin typeface="Calibri" pitchFamily="34" charset="0"/>
                <a:ea typeface="Calibri" pitchFamily="34" charset="-122"/>
                <a:cs typeface="Calibri" pitchFamily="34" charset="-120"/>
              </a:rPr>
              <a:t>A district asset registry and drill platform on the 360 quiet days — which is what makes it adoptable rather than admirable.</a:t>
            </a:r>
            <a:endParaRPr lang="en-US" sz="1100" dirty="0"/>
          </a:p>
        </p:txBody>
      </p:sp>
      <p:sp>
        <p:nvSpPr>
          <p:cNvPr id="20" name="Shape 18"/>
          <p:cNvSpPr/>
          <p:nvPr/>
        </p:nvSpPr>
        <p:spPr>
          <a:xfrm>
            <a:off x="804672" y="6080760"/>
            <a:ext cx="45720" cy="457200"/>
          </a:xfrm>
          <a:prstGeom prst="rect">
            <a:avLst/>
          </a:prstGeom>
          <a:solidFill>
            <a:srgbClr val="DC2626"/>
          </a:solidFill>
          <a:ln/>
        </p:spPr>
      </p:sp>
      <p:sp>
        <p:nvSpPr>
          <p:cNvPr id="21" name="Text 19"/>
          <p:cNvSpPr/>
          <p:nvPr/>
        </p:nvSpPr>
        <p:spPr>
          <a:xfrm>
            <a:off x="1051560" y="6080760"/>
            <a:ext cx="10424160" cy="457200"/>
          </a:xfrm>
          <a:prstGeom prst="rect">
            <a:avLst/>
          </a:prstGeom>
          <a:noFill/>
          <a:ln/>
        </p:spPr>
        <p:txBody>
          <a:bodyPr wrap="square" lIns="0" tIns="0" rIns="0" bIns="0" rtlCol="0" anchor="ctr"/>
          <a:lstStyle/>
          <a:p>
            <a:pPr indent="0" marL="0">
              <a:buNone/>
            </a:pPr>
            <a:r>
              <a:rPr lang="en-US" sz="1500" i="1" dirty="0">
                <a:solidFill>
                  <a:srgbClr val="E2E8F0"/>
                </a:solidFill>
                <a:latin typeface="Calibri" pitchFamily="34" charset="0"/>
                <a:ea typeface="Calibri" pitchFamily="34" charset="-122"/>
                <a:cs typeface="Calibri" pitchFamily="34" charset="-120"/>
              </a:rPr>
              <a:t>“India’s warning system already works. What breaks is the six hours after the warning.”</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SETU - Disaster Coordination Platform</dc:title>
  <dc:subject>PptxGenJS Presentation</dc:subject>
  <dc:creator>SETU Team</dc:creator>
  <cp:lastModifiedBy>SETU Team</cp:lastModifiedBy>
  <cp:revision>1</cp:revision>
  <dcterms:created xsi:type="dcterms:W3CDTF">2026-08-20T18:34:47Z</dcterms:created>
  <dcterms:modified xsi:type="dcterms:W3CDTF">2026-08-20T18:34:47Z</dcterms:modified>
</cp:coreProperties>
</file>