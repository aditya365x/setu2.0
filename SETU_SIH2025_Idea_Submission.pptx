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SMART INDIA HACKATHON 2025</a:t>
            </a:r>
          </a:p>
          <a:p>
            <a:pPr algn="ctr">
              <a:spcAft>
                <a:spcPts val="0"/>
              </a:spcAft>
            </a:pPr>
            <a:r>
              <a:rPr sz="1300" b="0">
                <a:solidFill>
                  <a:srgbClr val="C7D9F5"/>
                </a:solidFill>
                <a:latin typeface="Calibri"/>
              </a:rPr>
              <a:t>Idea Submission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4600" b="1">
                <a:solidFill>
                  <a:srgbClr val="1F3A93"/>
                </a:solidFill>
                <a:latin typeface="Calibri"/>
              </a:rPr>
              <a:t>SETU</a:t>
            </a:r>
          </a:p>
          <a:p>
            <a:pPr algn="ctr">
              <a:spcAft>
                <a:spcPts val="0"/>
              </a:spcAft>
            </a:pPr>
            <a:r>
              <a:rPr sz="1500" b="0">
                <a:solidFill>
                  <a:srgbClr val="5B6B7D"/>
                </a:solidFill>
                <a:latin typeface="Calibri"/>
              </a:rPr>
              <a:t>The allocation layer between the warning and the rescue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34440" y="2880360"/>
            <a:ext cx="9692640" cy="502920"/>
          </a:xfrm>
          <a:prstGeom prst="roundRect">
            <a:avLst>
              <a:gd name="adj" fmla="val 4000"/>
            </a:avLst>
          </a:prstGeom>
          <a:solidFill>
            <a:srgbClr val="EFF4FB"/>
          </a:solidFill>
          <a:ln w="9525">
            <a:solidFill>
              <a:srgbClr val="C7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/>
          <a:lstStyle/>
          <a:p>
            <a:pPr algn="ctr"/>
            <a:r>
              <a:rPr sz="1250" b="1">
                <a:solidFill>
                  <a:srgbClr val="1F3A93"/>
                </a:solidFill>
                <a:latin typeface="Calibri"/>
              </a:rPr>
              <a:t>Problem Statement ID  —  </a:t>
            </a:r>
            <a:r>
              <a:rPr sz="1250">
                <a:solidFill>
                  <a:srgbClr val="1F2937"/>
                </a:solidFill>
                <a:latin typeface="Calibri"/>
              </a:rPr>
              <a:t>[PS ID from portal]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34440" y="3429000"/>
            <a:ext cx="9692640" cy="502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C7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/>
          <a:lstStyle/>
          <a:p>
            <a:pPr algn="ctr"/>
            <a:r>
              <a:rPr sz="1250" b="1">
                <a:solidFill>
                  <a:srgbClr val="1F3A93"/>
                </a:solidFill>
                <a:latin typeface="Calibri"/>
              </a:rPr>
              <a:t>Problem Statement Title  —  </a:t>
            </a:r>
            <a:r>
              <a:rPr sz="1250">
                <a:solidFill>
                  <a:srgbClr val="1F2937"/>
                </a:solidFill>
                <a:latin typeface="Calibri"/>
              </a:rPr>
              <a:t>Real-Time Disaster Early-Warning &amp; Resource Coordination Platform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34440" y="3977640"/>
            <a:ext cx="9692640" cy="502920"/>
          </a:xfrm>
          <a:prstGeom prst="roundRect">
            <a:avLst>
              <a:gd name="adj" fmla="val 4000"/>
            </a:avLst>
          </a:prstGeom>
          <a:solidFill>
            <a:srgbClr val="EFF4FB"/>
          </a:solidFill>
          <a:ln w="9525">
            <a:solidFill>
              <a:srgbClr val="C7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/>
          <a:lstStyle/>
          <a:p>
            <a:pPr algn="ctr"/>
            <a:r>
              <a:rPr sz="1250" b="1">
                <a:solidFill>
                  <a:srgbClr val="1F3A93"/>
                </a:solidFill>
                <a:latin typeface="Calibri"/>
              </a:rPr>
              <a:t>Theme  —  </a:t>
            </a:r>
            <a:r>
              <a:rPr sz="1250">
                <a:solidFill>
                  <a:srgbClr val="1F2937"/>
                </a:solidFill>
                <a:latin typeface="Calibri"/>
              </a:rPr>
              <a:t>Disaster Management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34440" y="4526280"/>
            <a:ext cx="9692640" cy="502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C7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/>
          <a:lstStyle/>
          <a:p>
            <a:pPr algn="ctr"/>
            <a:r>
              <a:rPr sz="1250" b="1">
                <a:solidFill>
                  <a:srgbClr val="1F3A93"/>
                </a:solidFill>
                <a:latin typeface="Calibri"/>
              </a:rPr>
              <a:t>PS Category  —  </a:t>
            </a:r>
            <a:r>
              <a:rPr sz="1250">
                <a:solidFill>
                  <a:srgbClr val="1F2937"/>
                </a:solidFill>
                <a:latin typeface="Calibri"/>
              </a:rPr>
              <a:t>Software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34440" y="5074920"/>
            <a:ext cx="9692640" cy="502920"/>
          </a:xfrm>
          <a:prstGeom prst="roundRect">
            <a:avLst>
              <a:gd name="adj" fmla="val 4000"/>
            </a:avLst>
          </a:prstGeom>
          <a:solidFill>
            <a:srgbClr val="EFF4FB"/>
          </a:solidFill>
          <a:ln w="9525">
            <a:solidFill>
              <a:srgbClr val="C7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/>
          <a:lstStyle/>
          <a:p>
            <a:pPr algn="ctr"/>
            <a:r>
              <a:rPr sz="1250" b="1">
                <a:solidFill>
                  <a:srgbClr val="1F3A93"/>
                </a:solidFill>
                <a:latin typeface="Calibri"/>
              </a:rPr>
              <a:t>Team ID  —  </a:t>
            </a:r>
            <a:r>
              <a:rPr sz="1250">
                <a:solidFill>
                  <a:srgbClr val="1F2937"/>
                </a:solidFill>
                <a:latin typeface="Calibri"/>
              </a:rPr>
              <a:t>[Team ID from portal]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34440" y="5623560"/>
            <a:ext cx="9692640" cy="502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C7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/>
          <a:lstStyle/>
          <a:p>
            <a:pPr algn="ctr"/>
            <a:r>
              <a:rPr sz="1250" b="1">
                <a:solidFill>
                  <a:srgbClr val="1F3A93"/>
                </a:solidFill>
                <a:latin typeface="Calibri"/>
              </a:rPr>
              <a:t>Team Name (Registered on portal)  —  </a:t>
            </a:r>
            <a:r>
              <a:rPr sz="1250">
                <a:solidFill>
                  <a:srgbClr val="1F2937"/>
                </a:solidFill>
                <a:latin typeface="Calibri"/>
              </a:rPr>
              <a:t>[Team Name]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55664"/>
            <a:ext cx="12191695" cy="402336"/>
          </a:xfrm>
          <a:prstGeom prst="rect">
            <a:avLst/>
          </a:prstGeom>
          <a:solidFill>
            <a:srgbClr val="0E6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FFFFF"/>
                </a:solidFill>
                <a:latin typeface="Calibri"/>
              </a:rPr>
              <a:t>@SIH Idea submission- Template                  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56032" y="164592"/>
            <a:ext cx="1143000" cy="566928"/>
          </a:xfrm>
          <a:prstGeom prst="ellipse">
            <a:avLst/>
          </a:prstGeom>
          <a:noFill/>
          <a:ln w="15875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900">
                <a:solidFill>
                  <a:srgbClr val="111827"/>
                </a:solidFill>
                <a:latin typeface="Calibri"/>
              </a:rPr>
              <a:t>[Team Name]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54480" y="146304"/>
            <a:ext cx="7863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3000" b="1">
                <a:solidFill>
                  <a:srgbClr val="111827"/>
                </a:solidFill>
                <a:latin typeface="Calibri"/>
              </a:rPr>
              <a:t>IDEA 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146304"/>
            <a:ext cx="2286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1F3A93"/>
                </a:solidFill>
                <a:latin typeface="Calibri"/>
              </a:rPr>
              <a:t>SMART INDIA</a:t>
            </a:r>
          </a:p>
          <a:p>
            <a:pPr algn="r">
              <a:spcAft>
                <a:spcPts val="0"/>
              </a:spcAft>
            </a:pPr>
            <a:r>
              <a:rPr sz="1200" b="1">
                <a:solidFill>
                  <a:srgbClr val="15803D"/>
                </a:solidFill>
                <a:latin typeface="Calibri"/>
              </a:rPr>
              <a:t>HACKATHON 2025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55664"/>
            <a:ext cx="12191695" cy="402336"/>
          </a:xfrm>
          <a:prstGeom prst="rect">
            <a:avLst/>
          </a:prstGeom>
          <a:solidFill>
            <a:srgbClr val="0E6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/>
            <a:r>
              <a:rPr sz="1000">
                <a:solidFill>
                  <a:srgbClr val="FFFFFF"/>
                </a:solidFill>
                <a:latin typeface="Calibri"/>
              </a:rPr>
              <a:t>@SIH Idea submission- Template                   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F3A93"/>
                </a:solidFill>
                <a:latin typeface="Calibri"/>
              </a:rPr>
              <a:t>Proposed Solution — SETU: a district disaster-coordination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98448"/>
            <a:ext cx="55778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111827"/>
                </a:solidFill>
                <a:latin typeface="Calibri"/>
              </a:rPr>
              <a:t>What it does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1F2937"/>
                </a:solidFill>
                <a:latin typeface="Calibri"/>
              </a:rPr>
              <a:t>▸ Detection and dissemination are solved nationally (IMD, SACHET). Coordination is not — it runs on phone calls and paper.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1F2937"/>
                </a:solidFill>
                <a:latin typeface="Calibri"/>
              </a:rPr>
              <a:t>▸ SETU takes citizen reports on 4 channels, deduplicates them into incidents, and solves the allocation problem optimally.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1F2937"/>
                </a:solidFill>
                <a:latin typeface="Calibri"/>
              </a:rPr>
              <a:t>▸ One map-based DEOC dashboard: incoming reports and available resources on the same picture, with live dispatch lines.</a:t>
            </a:r>
          </a:p>
          <a:p>
            <a:pPr algn="l">
              <a:spcAft>
                <a:spcPts val="500"/>
              </a:spcAft>
            </a:pPr>
            <a:r>
              <a:rPr sz="1300" b="1">
                <a:solidFill>
                  <a:srgbClr val="111827"/>
                </a:solidFill>
                <a:latin typeface="Calibri"/>
              </a:rPr>
              <a:t>How it addresses the problem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1F2937"/>
                </a:solidFill>
                <a:latin typeface="Calibri"/>
              </a:rPr>
              <a:t>▸ 200 reports collapse into 28 real incidents — the DEOC stops dispatching against duplicate noise.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1F2937"/>
                </a:solidFill>
                <a:latin typeface="Calibri"/>
              </a:rPr>
              <a:t>▸ Every incident is scored on 5 explainable terms, including a population equity term so relief does not follow phone density.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1F2937"/>
                </a:solidFill>
                <a:latin typeface="Calibri"/>
              </a:rPr>
              <a:t>▸ Rescue teams AND relief supplies are both allocated, live.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1298448"/>
            <a:ext cx="53492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111827"/>
                </a:solidFill>
                <a:latin typeface="Calibri"/>
              </a:rPr>
              <a:t>Innovation and uniqueness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1F2937"/>
                </a:solidFill>
                <a:latin typeface="Calibri"/>
              </a:rPr>
              <a:t>▸ Every team demos a map with pins. SETU demos a solver — and proves it against the baseline, live on screen.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1F2937"/>
                </a:solidFill>
                <a:latin typeface="Calibri"/>
              </a:rPr>
              <a:t>▸ Two different solvers because they are two different problems: Hungarian assignment for rescue (1-to-1), min-cost flow for shelters and relief supplies (capacitated, many-to-many).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1F2937"/>
                </a:solidFill>
                <a:latin typeface="Calibri"/>
              </a:rPr>
              <a:t>▸ Operations research, not ML: deterministic, explainable and auditable — the correct choice for a life-safety system.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1F2937"/>
                </a:solidFill>
                <a:latin typeface="Calibri"/>
              </a:rPr>
              <a:t>▸ Offline by design. The whole stack, including a 48 MB vector basemap, runs with the network unplugged.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3977639"/>
            <a:ext cx="1298448" cy="84124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/>
          <a:lstStyle/>
          <a:p>
            <a:pPr algn="ctr"/>
            <a:r>
              <a:rPr sz="1900" b="1">
                <a:solidFill>
                  <a:srgbClr val="15803D"/>
                </a:solidFill>
                <a:latin typeface="Calibri"/>
              </a:rPr>
              <a:t>14%</a:t>
            </a:r>
          </a:p>
          <a:p>
            <a:pPr algn="ctr"/>
            <a:r>
              <a:rPr sz="950">
                <a:solidFill>
                  <a:srgbClr val="5B6B7D"/>
                </a:solidFill>
                <a:latin typeface="Calibri"/>
              </a:rPr>
              <a:t>faster response*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30552" y="3977639"/>
            <a:ext cx="1298448" cy="84124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/>
          <a:lstStyle/>
          <a:p>
            <a:pPr algn="ctr"/>
            <a:r>
              <a:rPr sz="1900" b="1">
                <a:solidFill>
                  <a:srgbClr val="15803D"/>
                </a:solidFill>
                <a:latin typeface="Calibri"/>
              </a:rPr>
              <a:t>+3</a:t>
            </a:r>
          </a:p>
          <a:p>
            <a:pPr algn="ctr"/>
            <a:r>
              <a:rPr sz="950">
                <a:solidFill>
                  <a:srgbClr val="5B6B7D"/>
                </a:solidFill>
                <a:latin typeface="Calibri"/>
              </a:rPr>
              <a:t>more incidents served*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58184" y="3977639"/>
            <a:ext cx="1298448" cy="84124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/>
          <a:lstStyle/>
          <a:p>
            <a:pPr algn="ctr"/>
            <a:r>
              <a:rPr sz="1900" b="1">
                <a:solidFill>
                  <a:srgbClr val="1D4ED8"/>
                </a:solidFill>
                <a:latin typeface="Calibri"/>
              </a:rPr>
              <a:t>16</a:t>
            </a:r>
          </a:p>
          <a:p>
            <a:pPr algn="ctr"/>
            <a:r>
              <a:rPr sz="950">
                <a:solidFill>
                  <a:srgbClr val="5B6B7D"/>
                </a:solidFill>
                <a:latin typeface="Calibri"/>
              </a:rPr>
              <a:t>districts covered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85816" y="3977639"/>
            <a:ext cx="1298448" cy="84124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/>
          <a:lstStyle/>
          <a:p>
            <a:pPr algn="ctr"/>
            <a:r>
              <a:rPr sz="1900" b="1">
                <a:solidFill>
                  <a:srgbClr val="1D4ED8"/>
                </a:solidFill>
                <a:latin typeface="Calibri"/>
              </a:rPr>
              <a:t>1,100 km</a:t>
            </a:r>
          </a:p>
          <a:p>
            <a:pPr algn="ctr"/>
            <a:r>
              <a:rPr sz="950">
                <a:solidFill>
                  <a:srgbClr val="5B6B7D"/>
                </a:solidFill>
                <a:latin typeface="Calibri"/>
              </a:rPr>
              <a:t>coastline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13448" y="3977639"/>
            <a:ext cx="1298448" cy="84124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E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/>
          <a:lstStyle/>
          <a:p>
            <a:pPr algn="ctr"/>
            <a:r>
              <a:rPr sz="1900" b="1">
                <a:solidFill>
                  <a:srgbClr val="0E7490"/>
                </a:solidFill>
                <a:latin typeface="Calibri"/>
              </a:rPr>
              <a:t>4</a:t>
            </a:r>
          </a:p>
          <a:p>
            <a:pPr algn="ctr"/>
            <a:r>
              <a:rPr sz="950">
                <a:solidFill>
                  <a:srgbClr val="5B6B7D"/>
                </a:solidFill>
                <a:latin typeface="Calibri"/>
              </a:rPr>
              <a:t>ingest channels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41080" y="3977639"/>
            <a:ext cx="1298448" cy="84124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E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/>
          <a:lstStyle/>
          <a:p>
            <a:pPr algn="ctr"/>
            <a:r>
              <a:rPr sz="1900" b="1">
                <a:solidFill>
                  <a:srgbClr val="0E7490"/>
                </a:solidFill>
                <a:latin typeface="Calibri"/>
              </a:rPr>
              <a:t>110 ms</a:t>
            </a:r>
          </a:p>
          <a:p>
            <a:pPr algn="ctr"/>
            <a:r>
              <a:rPr sz="950">
                <a:solidFill>
                  <a:srgbClr val="5B6B7D"/>
                </a:solidFill>
                <a:latin typeface="Calibri"/>
              </a:rPr>
              <a:t>solver cycle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268712" y="3977639"/>
            <a:ext cx="1298448" cy="84124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E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/>
          <a:lstStyle/>
          <a:p>
            <a:pPr algn="ctr"/>
            <a:r>
              <a:rPr sz="1900" b="1">
                <a:solidFill>
                  <a:srgbClr val="0E7490"/>
                </a:solidFill>
                <a:latin typeface="Calibri"/>
              </a:rPr>
              <a:t>42 ms</a:t>
            </a:r>
          </a:p>
          <a:p>
            <a:pPr algn="ctr"/>
            <a:r>
              <a:rPr sz="950">
                <a:solidFill>
                  <a:srgbClr val="5B6B7D"/>
                </a:solidFill>
                <a:latin typeface="Calibri"/>
              </a:rPr>
              <a:t>ingest latency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98348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B6B7D"/>
                </a:solidFill>
                <a:latin typeface="Calibri"/>
              </a:rPr>
              <a:t>* measured on the running prototype, like-for-like over the incidents both strategies serve (28 incidents / 40 units, Ganjam cyclone scenario)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56032" y="164592"/>
            <a:ext cx="1143000" cy="566928"/>
          </a:xfrm>
          <a:prstGeom prst="ellipse">
            <a:avLst/>
          </a:prstGeom>
          <a:noFill/>
          <a:ln w="15875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900">
                <a:solidFill>
                  <a:srgbClr val="111827"/>
                </a:solidFill>
                <a:latin typeface="Calibri"/>
              </a:rPr>
              <a:t>[Team Name]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54480" y="146304"/>
            <a:ext cx="7863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3000" b="1">
                <a:solidFill>
                  <a:srgbClr val="111827"/>
                </a:solidFill>
                <a:latin typeface="Calibri"/>
              </a:rPr>
              <a:t>TECHNICAL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146304"/>
            <a:ext cx="2286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1F3A93"/>
                </a:solidFill>
                <a:latin typeface="Calibri"/>
              </a:rPr>
              <a:t>SMART INDIA</a:t>
            </a:r>
          </a:p>
          <a:p>
            <a:pPr algn="r">
              <a:spcAft>
                <a:spcPts val="0"/>
              </a:spcAft>
            </a:pPr>
            <a:r>
              <a:rPr sz="1200" b="1">
                <a:solidFill>
                  <a:srgbClr val="15803D"/>
                </a:solidFill>
                <a:latin typeface="Calibri"/>
              </a:rPr>
              <a:t>HACKATHON 2025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55664"/>
            <a:ext cx="12191695" cy="402336"/>
          </a:xfrm>
          <a:prstGeom prst="rect">
            <a:avLst/>
          </a:prstGeom>
          <a:solidFill>
            <a:srgbClr val="0E6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/>
            <a:r>
              <a:rPr sz="1000">
                <a:solidFill>
                  <a:srgbClr val="FFFFFF"/>
                </a:solidFill>
                <a:latin typeface="Calibri"/>
              </a:rPr>
              <a:t>@SIH Idea submission- Template                  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F3A93"/>
                </a:solidFill>
                <a:latin typeface="Calibri"/>
              </a:rPr>
              <a:t>Technologies used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07008"/>
            <a:ext cx="11201400" cy="40233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C7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/>
            <a:r>
              <a:rPr sz="1100" b="1">
                <a:solidFill>
                  <a:srgbClr val="1D4ED8"/>
                </a:solidFill>
                <a:latin typeface="Calibri"/>
              </a:rPr>
              <a:t>Frontend   </a:t>
            </a:r>
            <a:r>
              <a:rPr sz="1100">
                <a:solidFill>
                  <a:srgbClr val="1F2937"/>
                </a:solidFill>
                <a:latin typeface="Calibri"/>
              </a:rPr>
              <a:t>React · Vite · MapLibre GL · Zustand · PWA (Workbox, IndexedDB)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664208"/>
            <a:ext cx="11201400" cy="40233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C7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/>
            <a:r>
              <a:rPr sz="1100" b="1">
                <a:solidFill>
                  <a:srgbClr val="0E7490"/>
                </a:solidFill>
                <a:latin typeface="Calibri"/>
              </a:rPr>
              <a:t>Backend   </a:t>
            </a:r>
            <a:r>
              <a:rPr sz="1100">
                <a:solidFill>
                  <a:srgbClr val="1F2937"/>
                </a:solidFill>
                <a:latin typeface="Calibri"/>
              </a:rPr>
              <a:t>Python · FastAPI · SQLAlchemy (async) · WebSockets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121408"/>
            <a:ext cx="11201400" cy="40233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C7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/>
            <a:r>
              <a:rPr sz="1100" b="1">
                <a:solidFill>
                  <a:srgbClr val="1F3A93"/>
                </a:solidFill>
                <a:latin typeface="Calibri"/>
              </a:rPr>
              <a:t>Data   </a:t>
            </a:r>
            <a:r>
              <a:rPr sz="1100">
                <a:solidFill>
                  <a:srgbClr val="1F2937"/>
                </a:solidFill>
                <a:latin typeface="Calibri"/>
              </a:rPr>
              <a:t>PostgreSQL 16 + PostGIS · Redis (queue, pub/sub, cache)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578608"/>
            <a:ext cx="11201400" cy="40233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C7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/>
            <a:r>
              <a:rPr sz="1100" b="1">
                <a:solidFill>
                  <a:srgbClr val="15803D"/>
                </a:solidFill>
                <a:latin typeface="Calibri"/>
              </a:rPr>
              <a:t>Intelligence   </a:t>
            </a:r>
            <a:r>
              <a:rPr sz="1100">
                <a:solidFill>
                  <a:srgbClr val="1F2937"/>
                </a:solidFill>
                <a:latin typeface="Calibri"/>
              </a:rPr>
              <a:t>SciPy linear_sum_assignment (Hungarian) · NetworkX max-flow-min-cost · ST_ClusterDBSCAN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035808"/>
            <a:ext cx="11201400" cy="40233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C7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/>
            <a:r>
              <a:rPr sz="1100" b="1">
                <a:solidFill>
                  <a:srgbClr val="B45309"/>
                </a:solidFill>
                <a:latin typeface="Calibri"/>
              </a:rPr>
              <a:t>Maps / Infra   </a:t>
            </a:r>
            <a:r>
              <a:rPr sz="1100">
                <a:solidFill>
                  <a:srgbClr val="1F2937"/>
                </a:solidFill>
                <a:latin typeface="Calibri"/>
              </a:rPr>
              <a:t>Protomaps PMTiles (offline basemap) · OpenStreetMap · Docker Compose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61188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F3A93"/>
                </a:solidFill>
                <a:latin typeface="Calibri"/>
              </a:rPr>
              <a:t>Methodology — one pipeline, from a phone to a dispatched boat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4041648"/>
            <a:ext cx="1280160" cy="749808"/>
          </a:xfrm>
          <a:prstGeom prst="roundRect">
            <a:avLst>
              <a:gd name="adj" fmla="val 4000"/>
            </a:avLst>
          </a:prstGeom>
          <a:solidFill>
            <a:srgbClr val="EFF4FB"/>
          </a:solidFill>
          <a:ln w="9525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950" b="1">
                <a:solidFill>
                  <a:srgbClr val="111827"/>
                </a:solidFill>
                <a:latin typeface="Calibri"/>
              </a:rPr>
              <a:t>App · SMS
IVR · Field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1787652" y="4334256"/>
            <a:ext cx="132588" cy="164592"/>
          </a:xfrm>
          <a:prstGeom prst="rightArrow">
            <a:avLst/>
          </a:prstGeom>
          <a:solidFill>
            <a:srgbClr val="C7D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924812" y="4041648"/>
            <a:ext cx="1280160" cy="749808"/>
          </a:xfrm>
          <a:prstGeom prst="roundRect">
            <a:avLst>
              <a:gd name="adj" fmla="val 4000"/>
            </a:avLst>
          </a:prstGeom>
          <a:solidFill>
            <a:srgbClr val="EFF4FB"/>
          </a:solidFill>
          <a:ln w="9525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950" b="1">
                <a:solidFill>
                  <a:srgbClr val="111827"/>
                </a:solidFill>
                <a:latin typeface="Calibri"/>
              </a:rPr>
              <a:t>Ingest
202 in 42 ms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3209544" y="4334256"/>
            <a:ext cx="132588" cy="164592"/>
          </a:xfrm>
          <a:prstGeom prst="rightArrow">
            <a:avLst/>
          </a:prstGeom>
          <a:solidFill>
            <a:srgbClr val="C7D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346704" y="4041648"/>
            <a:ext cx="1280160" cy="749808"/>
          </a:xfrm>
          <a:prstGeom prst="roundRect">
            <a:avLst>
              <a:gd name="adj" fmla="val 4000"/>
            </a:avLst>
          </a:prstGeom>
          <a:solidFill>
            <a:srgbClr val="EFF4FB"/>
          </a:solidFill>
          <a:ln w="9525">
            <a:solidFill>
              <a:srgbClr val="0E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950" b="1">
                <a:solidFill>
                  <a:srgbClr val="111827"/>
                </a:solidFill>
                <a:latin typeface="Calibri"/>
              </a:rPr>
              <a:t>Trust score
quarantine &lt;0.35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4631436" y="4334256"/>
            <a:ext cx="132588" cy="164592"/>
          </a:xfrm>
          <a:prstGeom prst="rightArrow">
            <a:avLst/>
          </a:prstGeom>
          <a:solidFill>
            <a:srgbClr val="C7D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768596" y="4041648"/>
            <a:ext cx="1280160" cy="749808"/>
          </a:xfrm>
          <a:prstGeom prst="roundRect">
            <a:avLst>
              <a:gd name="adj" fmla="val 4000"/>
            </a:avLst>
          </a:prstGeom>
          <a:solidFill>
            <a:srgbClr val="EFF4FB"/>
          </a:solidFill>
          <a:ln w="9525">
            <a:solidFill>
              <a:srgbClr val="0E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950" b="1">
                <a:solidFill>
                  <a:srgbClr val="111827"/>
                </a:solidFill>
                <a:latin typeface="Calibri"/>
              </a:rPr>
              <a:t>DBSCAN cluster
300 m, by hazard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6053328" y="4334256"/>
            <a:ext cx="132588" cy="164592"/>
          </a:xfrm>
          <a:prstGeom prst="rightArrow">
            <a:avLst/>
          </a:prstGeom>
          <a:solidFill>
            <a:srgbClr val="C7D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190488" y="4041648"/>
            <a:ext cx="1280160" cy="749808"/>
          </a:xfrm>
          <a:prstGeom prst="roundRect">
            <a:avLst>
              <a:gd name="adj" fmla="val 4000"/>
            </a:avLst>
          </a:prstGeom>
          <a:solidFill>
            <a:srgbClr val="EFF4FB"/>
          </a:solidFill>
          <a:ln w="9525">
            <a:solidFill>
              <a:srgbClr val="1F3A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950" b="1">
                <a:solidFill>
                  <a:srgbClr val="111827"/>
                </a:solidFill>
                <a:latin typeface="Calibri"/>
              </a:rPr>
              <a:t>Severity
5 weighted terms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7475220" y="4334256"/>
            <a:ext cx="132588" cy="164592"/>
          </a:xfrm>
          <a:prstGeom prst="rightArrow">
            <a:avLst/>
          </a:prstGeom>
          <a:solidFill>
            <a:srgbClr val="C7D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612380" y="4041648"/>
            <a:ext cx="1280160" cy="749808"/>
          </a:xfrm>
          <a:prstGeom prst="roundRect">
            <a:avLst>
              <a:gd name="adj" fmla="val 4000"/>
            </a:avLst>
          </a:prstGeom>
          <a:solidFill>
            <a:srgbClr val="DCFCE7"/>
          </a:solidFill>
          <a:ln w="9525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950" b="1">
                <a:solidFill>
                  <a:srgbClr val="111827"/>
                </a:solidFill>
                <a:latin typeface="Calibri"/>
              </a:rPr>
              <a:t>Hungarian
rescue assign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8897112" y="4334256"/>
            <a:ext cx="132588" cy="164592"/>
          </a:xfrm>
          <a:prstGeom prst="rightArrow">
            <a:avLst/>
          </a:prstGeom>
          <a:solidFill>
            <a:srgbClr val="C7D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034272" y="4041648"/>
            <a:ext cx="1280160" cy="749808"/>
          </a:xfrm>
          <a:prstGeom prst="roundRect">
            <a:avLst>
              <a:gd name="adj" fmla="val 4000"/>
            </a:avLst>
          </a:prstGeom>
          <a:solidFill>
            <a:srgbClr val="DCFCE7"/>
          </a:solidFill>
          <a:ln w="9525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950" b="1">
                <a:solidFill>
                  <a:srgbClr val="111827"/>
                </a:solidFill>
                <a:latin typeface="Calibri"/>
              </a:rPr>
              <a:t>Min-cost flow
shelter + supply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10319004" y="4334256"/>
            <a:ext cx="132588" cy="164592"/>
          </a:xfrm>
          <a:prstGeom prst="rightArrow">
            <a:avLst/>
          </a:prstGeom>
          <a:solidFill>
            <a:srgbClr val="C7D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456164" y="4041648"/>
            <a:ext cx="1280160" cy="749808"/>
          </a:xfrm>
          <a:prstGeom prst="roundRect">
            <a:avLst>
              <a:gd name="adj" fmla="val 4000"/>
            </a:avLst>
          </a:prstGeom>
          <a:solidFill>
            <a:srgbClr val="EFF4FB"/>
          </a:solidFill>
          <a:ln w="952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950" b="1">
                <a:solidFill>
                  <a:srgbClr val="111827"/>
                </a:solidFill>
                <a:latin typeface="Calibri"/>
              </a:rPr>
              <a:t>DEOC map
WebSocket live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4983480"/>
            <a:ext cx="11155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1F2937"/>
                </a:solidFill>
                <a:latin typeface="Calibri"/>
              </a:rPr>
              <a:t>▸ Debounced 2 s optimisation loop, per-district Redis lock, commitment locking so a committed unit is never reassigned (anti-thrash).</a:t>
            </a: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1F2937"/>
                </a:solidFill>
                <a:latin typeface="Calibri"/>
              </a:rPr>
              <a:t>▸ Hard constraints (capability, availability) enforced twice — in SQL and re-asserted in the solver. Capacity is a preference, never a veto: a smaller boat is worse than a bigger one, never worse than nobody.</a:t>
            </a: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1F2937"/>
                </a:solidFill>
                <a:latin typeface="Calibri"/>
              </a:rPr>
              <a:t>▸ Degradation is designed, not accidental: OSRM → haversine ETAs, live CAP → cached last-good, GPS → typed place name → PIN code, online → IndexedDB outbox.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56032" y="164592"/>
            <a:ext cx="1143000" cy="566928"/>
          </a:xfrm>
          <a:prstGeom prst="ellipse">
            <a:avLst/>
          </a:prstGeom>
          <a:noFill/>
          <a:ln w="15875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900">
                <a:solidFill>
                  <a:srgbClr val="111827"/>
                </a:solidFill>
                <a:latin typeface="Calibri"/>
              </a:rPr>
              <a:t>[Team Name]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54480" y="146304"/>
            <a:ext cx="7863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3000" b="1">
                <a:solidFill>
                  <a:srgbClr val="111827"/>
                </a:solidFill>
                <a:latin typeface="Calibri"/>
              </a:rPr>
              <a:t>FEASIBILITY AND VIABILITY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146304"/>
            <a:ext cx="2286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1F3A93"/>
                </a:solidFill>
                <a:latin typeface="Calibri"/>
              </a:rPr>
              <a:t>SMART INDIA</a:t>
            </a:r>
          </a:p>
          <a:p>
            <a:pPr algn="r">
              <a:spcAft>
                <a:spcPts val="0"/>
              </a:spcAft>
            </a:pPr>
            <a:r>
              <a:rPr sz="1200" b="1">
                <a:solidFill>
                  <a:srgbClr val="15803D"/>
                </a:solidFill>
                <a:latin typeface="Calibri"/>
              </a:rPr>
              <a:t>HACKATHON 2025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55664"/>
            <a:ext cx="12191695" cy="402336"/>
          </a:xfrm>
          <a:prstGeom prst="rect">
            <a:avLst/>
          </a:prstGeom>
          <a:solidFill>
            <a:srgbClr val="0E6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/>
            <a:r>
              <a:rPr sz="1000">
                <a:solidFill>
                  <a:srgbClr val="FFFFFF"/>
                </a:solidFill>
                <a:latin typeface="Calibri"/>
              </a:rPr>
              <a:t>@SIH Idea submission- Template                  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5532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1F3A93"/>
                </a:solidFill>
                <a:latin typeface="Calibri"/>
              </a:rPr>
              <a:t>Feasibility — already built and measured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1F2937"/>
                </a:solidFill>
                <a:latin typeface="Calibri"/>
              </a:rPr>
              <a:t>▸ Working prototype, not a concept: 6 services, one `docker compose up`, 36 automated tests passing.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1F2937"/>
                </a:solidFill>
                <a:latin typeface="Calibri"/>
              </a:rPr>
              <a:t>▸ Full optimisation cycle 110–170 ms against 28 incidents and 40 units — three orders of magnitude inside the 1.5 s target.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1F2937"/>
                </a:solidFill>
                <a:latin typeface="Calibri"/>
              </a:rPr>
              <a:t>▸ Seeded across 16 coastal districts: 381 shelters, 326 units, 73,664 seed rows, in 3 seconds.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1F2937"/>
                </a:solidFill>
                <a:latin typeface="Calibri"/>
              </a:rPr>
              <a:t>▸ No new hardware. Runs on one laptop; a district needs a mid-range VM.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5080" y="868680"/>
            <a:ext cx="53492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B91C1C"/>
                </a:solidFill>
                <a:latin typeface="Calibri"/>
              </a:rPr>
              <a:t>Challenges and risks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1F2937"/>
                </a:solidFill>
                <a:latin typeface="Calibri"/>
              </a:rPr>
              <a:t>▸ No connectivity in the disaster zone — the exact moment the system is needed.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1F2937"/>
                </a:solidFill>
                <a:latin typeface="Calibri"/>
              </a:rPr>
              <a:t>▸ Report flooding and panic-forwarding skewing triage.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1F2937"/>
                </a:solidFill>
                <a:latin typeface="Calibri"/>
              </a:rPr>
              <a:t>▸ False or duplicated reports wasting scarce units.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1F2937"/>
                </a:solidFill>
                <a:latin typeface="Calibri"/>
              </a:rPr>
              <a:t>▸ Adoption: an authority will not depend on a black box it cannot justify.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1F2937"/>
                </a:solidFill>
                <a:latin typeface="Calibri"/>
              </a:rPr>
              <a:t>▸ Data gaps — no public NDRF/ODRAF asset register exists.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246120"/>
            <a:ext cx="11201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5803D"/>
                </a:solidFill>
                <a:latin typeface="Calibri"/>
              </a:rPr>
              <a:t>Strategies for overcoming them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3611880"/>
            <a:ext cx="11201400" cy="502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C7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/>
            <a:r>
              <a:rPr sz="1050" b="1">
                <a:solidFill>
                  <a:srgbClr val="15803D"/>
                </a:solidFill>
                <a:latin typeface="Calibri"/>
              </a:rPr>
              <a:t>Connectivity   </a:t>
            </a:r>
            <a:r>
              <a:rPr sz="1050">
                <a:solidFill>
                  <a:srgbClr val="1F2937"/>
                </a:solidFill>
                <a:latin typeface="Calibri"/>
              </a:rPr>
              <a:t>4-rung degradation ladder: app → SMS → IVR → field unit. All four produce the same record; the solver never learns which.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169664"/>
            <a:ext cx="11201400" cy="502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C7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/>
            <a:r>
              <a:rPr sz="1050" b="1">
                <a:solidFill>
                  <a:srgbClr val="15803D"/>
                </a:solidFill>
                <a:latin typeface="Calibri"/>
              </a:rPr>
              <a:t>Report flooding   </a:t>
            </a:r>
            <a:r>
              <a:rPr sz="1050">
                <a:solidFill>
                  <a:srgbClr val="1F2937"/>
                </a:solidFill>
                <a:latin typeface="Calibri"/>
              </a:rPr>
              <a:t>Corroboration is log-scaled and capped — 200 forwarded messages cannot outweigh one genuine report.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4727448"/>
            <a:ext cx="11201400" cy="502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C7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/>
            <a:r>
              <a:rPr sz="1050" b="1">
                <a:solidFill>
                  <a:srgbClr val="15803D"/>
                </a:solidFill>
                <a:latin typeface="Calibri"/>
              </a:rPr>
              <a:t>False reports   </a:t>
            </a:r>
            <a:r>
              <a:rPr sz="1050">
                <a:solidFill>
                  <a:srgbClr val="1F2937"/>
                </a:solidFill>
                <a:latin typeface="Calibri"/>
              </a:rPr>
              <a:t>Trust scoring gates a visible quarantine queue at 0.35. Low-trust reports are never auto-dispatched and never dropped.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5285232"/>
            <a:ext cx="11201400" cy="502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C7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/>
            <a:r>
              <a:rPr sz="1050" b="1">
                <a:solidFill>
                  <a:srgbClr val="15803D"/>
                </a:solidFill>
                <a:latin typeface="Calibri"/>
              </a:rPr>
              <a:t>Adoption   </a:t>
            </a:r>
            <a:r>
              <a:rPr sz="1050">
                <a:solidFill>
                  <a:srgbClr val="1F2937"/>
                </a:solidFill>
                <a:latin typeface="Calibri"/>
              </a:rPr>
              <a:t>Every score ships its 5-term breakdown; every commit and override is written to an append-only audit log.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5843016"/>
            <a:ext cx="11201400" cy="502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C7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/>
            <a:r>
              <a:rPr sz="1050" b="1">
                <a:solidFill>
                  <a:srgbClr val="15803D"/>
                </a:solidFill>
                <a:latin typeface="Calibri"/>
              </a:rPr>
              <a:t>Data gaps   </a:t>
            </a:r>
            <a:r>
              <a:rPr sz="1050">
                <a:solidFill>
                  <a:srgbClr val="1F2937"/>
                </a:solidFill>
                <a:latin typeface="Calibri"/>
              </a:rPr>
              <a:t>Real place names and coordinates; synthetic rosters labelled as such. Real registers swap in as data, not code.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56032" y="164592"/>
            <a:ext cx="1143000" cy="566928"/>
          </a:xfrm>
          <a:prstGeom prst="ellipse">
            <a:avLst/>
          </a:prstGeom>
          <a:noFill/>
          <a:ln w="15875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900">
                <a:solidFill>
                  <a:srgbClr val="111827"/>
                </a:solidFill>
                <a:latin typeface="Calibri"/>
              </a:rPr>
              <a:t>[Team Name]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54480" y="146304"/>
            <a:ext cx="7863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3000" b="1">
                <a:solidFill>
                  <a:srgbClr val="111827"/>
                </a:solidFill>
                <a:latin typeface="Calibri"/>
              </a:rPr>
              <a:t>IMPACT AND BENEFITS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146304"/>
            <a:ext cx="2286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1F3A93"/>
                </a:solidFill>
                <a:latin typeface="Calibri"/>
              </a:rPr>
              <a:t>SMART INDIA</a:t>
            </a:r>
          </a:p>
          <a:p>
            <a:pPr algn="r">
              <a:spcAft>
                <a:spcPts val="0"/>
              </a:spcAft>
            </a:pPr>
            <a:r>
              <a:rPr sz="1200" b="1">
                <a:solidFill>
                  <a:srgbClr val="15803D"/>
                </a:solidFill>
                <a:latin typeface="Calibri"/>
              </a:rPr>
              <a:t>HACKATHON 2025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55664"/>
            <a:ext cx="12191695" cy="402336"/>
          </a:xfrm>
          <a:prstGeom prst="rect">
            <a:avLst/>
          </a:prstGeom>
          <a:solidFill>
            <a:srgbClr val="0E6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/>
            <a:r>
              <a:rPr sz="1000">
                <a:solidFill>
                  <a:srgbClr val="FFFFFF"/>
                </a:solidFill>
                <a:latin typeface="Calibri"/>
              </a:rPr>
              <a:t>@SIH Idea submission- Template                   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F3A93"/>
                </a:solidFill>
                <a:latin typeface="Calibri"/>
              </a:rPr>
              <a:t>Potential impact on the target audience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07008"/>
            <a:ext cx="11201400" cy="5669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/>
            <a:r>
              <a:rPr sz="1150" b="1">
                <a:solidFill>
                  <a:srgbClr val="1D4ED8"/>
                </a:solidFill>
                <a:latin typeface="Calibri"/>
              </a:rPr>
              <a:t>Citizens   </a:t>
            </a:r>
            <a:r>
              <a:rPr sz="1100">
                <a:solidFill>
                  <a:srgbClr val="1F2937"/>
                </a:solidFill>
                <a:latin typeface="Calibri"/>
              </a:rPr>
              <a:t>A return channel that works with no internet. A reference code, a tracked status, and the nearest shelter with free beds.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847088"/>
            <a:ext cx="11201400" cy="5669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1F3A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/>
            <a:r>
              <a:rPr sz="1150" b="1">
                <a:solidFill>
                  <a:srgbClr val="1F3A93"/>
                </a:solidFill>
                <a:latin typeface="Calibri"/>
              </a:rPr>
              <a:t>DEOC / Collector   </a:t>
            </a:r>
            <a:r>
              <a:rPr sz="1100">
                <a:solidFill>
                  <a:srgbClr val="1F2937"/>
                </a:solidFill>
                <a:latin typeface="Calibri"/>
              </a:rPr>
              <a:t>One operating picture instead of WhatsApp and a paper register. Every dispatch justified by a visible score.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487168"/>
            <a:ext cx="11201400" cy="5669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E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/>
            <a:r>
              <a:rPr sz="1150" b="1">
                <a:solidFill>
                  <a:srgbClr val="0E7490"/>
                </a:solidFill>
                <a:latin typeface="Calibri"/>
              </a:rPr>
              <a:t>NDRF / ODRAF   </a:t>
            </a:r>
            <a:r>
              <a:rPr sz="1100">
                <a:solidFill>
                  <a:srgbClr val="1F2937"/>
                </a:solidFill>
                <a:latin typeface="Calibri"/>
              </a:rPr>
              <a:t>Units sent where they do the most good, not where the loudest call came from. No unit double-tasked.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127248"/>
            <a:ext cx="11201400" cy="5669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/>
            <a:r>
              <a:rPr sz="1150" b="1">
                <a:solidFill>
                  <a:srgbClr val="B45309"/>
                </a:solidFill>
                <a:latin typeface="Calibri"/>
              </a:rPr>
              <a:t>SDMA / State   </a:t>
            </a:r>
            <a:r>
              <a:rPr sz="1100">
                <a:solidFill>
                  <a:srgbClr val="1F2937"/>
                </a:solidFill>
                <a:latin typeface="Calibri"/>
              </a:rPr>
              <a:t>Shelter and relief shortfall surfaced as a live number — an escalation signal no existing system produces.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840480"/>
            <a:ext cx="55321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1F3A93"/>
                </a:solidFill>
                <a:latin typeface="Calibri"/>
              </a:rPr>
              <a:t>Benefits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1F2937"/>
                </a:solidFill>
                <a:latin typeface="Calibri"/>
              </a:rPr>
              <a:t>▸ Social — the golden hours between warning and rescue are where deaths occur. Faster, fairer allocation converts directly into lives.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1F2937"/>
                </a:solidFill>
                <a:latin typeface="Calibri"/>
              </a:rPr>
              <a:t>▸ Equity — report volume tracks phone density, not need. A population term stops relief concentrating in connected wards.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1F2937"/>
                </a:solidFill>
                <a:latin typeface="Calibri"/>
              </a:rPr>
              <a:t>▸ Economic — no new hardware, open-source stack, no per-map licence.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3840480"/>
            <a:ext cx="53492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1F3A93"/>
                </a:solidFill>
                <a:latin typeface="Calibri"/>
              </a:rPr>
              <a:t>Scale and sustainability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1F2937"/>
                </a:solidFill>
                <a:latin typeface="Calibri"/>
              </a:rPr>
              <a:t>▸ Multi-tenant from day one — 10 tables keyed by district, one solver loop each. A new district is a seed file, not a rewrite.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1F2937"/>
                </a:solidFill>
                <a:latin typeface="Calibri"/>
              </a:rPr>
              <a:t>▸ 16 districts across 3 states already running: Odisha, Andhra Pradesh, West Bengal — the full cyclone landfall corridor.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1F2937"/>
                </a:solidFill>
                <a:latin typeface="Calibri"/>
              </a:rPr>
              <a:t>▸ Auditable by construction: an append-only log turns the event into a compensation and claims record afterwards.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56032" y="164592"/>
            <a:ext cx="1143000" cy="566928"/>
          </a:xfrm>
          <a:prstGeom prst="ellipse">
            <a:avLst/>
          </a:prstGeom>
          <a:noFill/>
          <a:ln w="15875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900">
                <a:solidFill>
                  <a:srgbClr val="111827"/>
                </a:solidFill>
                <a:latin typeface="Calibri"/>
              </a:rPr>
              <a:t>[Team Name]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54480" y="146304"/>
            <a:ext cx="7863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3000" b="1">
                <a:solidFill>
                  <a:srgbClr val="111827"/>
                </a:solidFill>
                <a:latin typeface="Calibri"/>
              </a:rPr>
              <a:t>RESEARCH AND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146304"/>
            <a:ext cx="2286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1F3A93"/>
                </a:solidFill>
                <a:latin typeface="Calibri"/>
              </a:rPr>
              <a:t>SMART INDIA</a:t>
            </a:r>
          </a:p>
          <a:p>
            <a:pPr algn="r">
              <a:spcAft>
                <a:spcPts val="0"/>
              </a:spcAft>
            </a:pPr>
            <a:r>
              <a:rPr sz="1200" b="1">
                <a:solidFill>
                  <a:srgbClr val="15803D"/>
                </a:solidFill>
                <a:latin typeface="Calibri"/>
              </a:rPr>
              <a:t>HACKATHON 2025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55664"/>
            <a:ext cx="12191695" cy="402336"/>
          </a:xfrm>
          <a:prstGeom prst="rect">
            <a:avLst/>
          </a:prstGeom>
          <a:solidFill>
            <a:srgbClr val="0E6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/>
            <a:r>
              <a:rPr sz="1000">
                <a:solidFill>
                  <a:srgbClr val="FFFFFF"/>
                </a:solidFill>
                <a:latin typeface="Calibri"/>
              </a:rPr>
              <a:t>@SIH Idea submission- Template                   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14400"/>
            <a:ext cx="11201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F3A93"/>
                </a:solidFill>
                <a:latin typeface="Calibri"/>
              </a:rPr>
              <a:t>Standards and official sources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225296"/>
            <a:ext cx="11018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1F2937"/>
                </a:solidFill>
                <a:latin typeface="Calibri"/>
              </a:rPr>
              <a:t>▸ NDMA SACHET — Common Alerting Protocol (CAP 1.2) public feed  ·  sachet.ndma.gov.in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1F2937"/>
                </a:solidFill>
                <a:latin typeface="Calibri"/>
              </a:rPr>
              <a:t>▸ India Meteorological Department — rainfall classes and wind (gale/storm) scales, used for the hazard outlook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1F2937"/>
                </a:solidFill>
                <a:latin typeface="Calibri"/>
              </a:rPr>
              <a:t>▸ Sphere Handbook — Minimum Standards in Humanitarian Response: 15 L water and 0.5 kg ration per person per day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1F2937"/>
                </a:solidFill>
                <a:latin typeface="Calibri"/>
              </a:rPr>
              <a:t>▸ OSDMA — Odisha multipurpose cyclone shelter programme, capacities and siting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523744"/>
            <a:ext cx="11201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5803D"/>
                </a:solidFill>
                <a:latin typeface="Calibri"/>
              </a:rPr>
              <a:t>Methods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834640"/>
            <a:ext cx="1101852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1F2937"/>
                </a:solidFill>
                <a:latin typeface="Calibri"/>
              </a:rPr>
              <a:t>▸ Kuhn (1955), The Hungarian method for the assignment problem — optimal 1-to-1 dispatch, O(n³)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1F2937"/>
                </a:solidFill>
                <a:latin typeface="Calibri"/>
              </a:rPr>
              <a:t>▸ Ester et al. (1996), DBSCAN — density-based clustering; applied via PostGIS ST_ClusterDBSCAN, eps 300 m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1F2937"/>
                </a:solidFill>
                <a:latin typeface="Calibri"/>
              </a:rPr>
              <a:t>▸ Min-cost flow (Busacker–Gowen / network simplex) — capacitated shelter evacuation and relief distribution, via NetworkX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858768"/>
            <a:ext cx="11201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0E7490"/>
                </a:solidFill>
                <a:latin typeface="Calibri"/>
              </a:rPr>
              <a:t>Data and technology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169664"/>
            <a:ext cx="1101852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1F2937"/>
                </a:solidFill>
                <a:latin typeface="Calibri"/>
              </a:rPr>
              <a:t>▸ OpenStreetMap (ODbL) via Protomaps PMTiles — offline vector basemap, 47.6 MB for the corridor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1F2937"/>
                </a:solidFill>
                <a:latin typeface="Calibri"/>
              </a:rPr>
              <a:t>▸ PostGIS 3.4 — all spatial work in SQL; SciPy linear_sum_assignment; MapLibre GL JS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1F2937"/>
                </a:solidFill>
                <a:latin typeface="Calibri"/>
              </a:rPr>
              <a:t>▸ Historical landfalls informing the corridor: 1999 Odisha Super Cyclone, Phailin 2013, Hudhud 2014, Fani 2019, Amphan 2020, Yaas 2021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5623560"/>
            <a:ext cx="11201400" cy="658368"/>
          </a:xfrm>
          <a:prstGeom prst="roundRect">
            <a:avLst>
              <a:gd name="adj" fmla="val 4000"/>
            </a:avLst>
          </a:prstGeom>
          <a:solidFill>
            <a:srgbClr val="EFF4FB"/>
          </a:solidFill>
          <a:ln w="9525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ctr"/>
            <a:r>
              <a:rPr sz="1100" b="1">
                <a:solidFill>
                  <a:srgbClr val="1F3A93"/>
                </a:solidFill>
                <a:latin typeface="Calibri"/>
              </a:rPr>
              <a:t>Working prototype  ·  </a:t>
            </a:r>
            <a:r>
              <a:rPr sz="1100">
                <a:solidFill>
                  <a:srgbClr val="1F2937"/>
                </a:solidFill>
                <a:latin typeface="Calibri"/>
              </a:rPr>
              <a:t>github.com/Aditya365x/setu2.0   —   6 services, 36 passing tests, 16 districts seeded, runs offline via docker compose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